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25199975" cy="35999738"/>
  <p:notesSz cx="6858000" cy="9144000"/>
  <p:defaultTextStyle>
    <a:defPPr>
      <a:defRPr lang="he-IL"/>
    </a:defPPr>
    <a:lvl1pPr marL="0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1pPr>
    <a:lvl2pPr marL="1748523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2pPr>
    <a:lvl3pPr marL="3497045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3pPr>
    <a:lvl4pPr marL="5245568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4pPr>
    <a:lvl5pPr marL="6994090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5pPr>
    <a:lvl6pPr marL="8742613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6pPr>
    <a:lvl7pPr marL="10491135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7pPr>
    <a:lvl8pPr marL="12239658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8pPr>
    <a:lvl9pPr marL="13988180" algn="r" defTabSz="3497045" rtl="1" eaLnBrk="1" latinLnBrk="0" hangingPunct="1">
      <a:defRPr sz="689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9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6D9"/>
    <a:srgbClr val="996633"/>
    <a:srgbClr val="4472C4"/>
    <a:srgbClr val="EDE9E1"/>
    <a:srgbClr val="8EB4E3"/>
    <a:srgbClr val="D9D0FE"/>
    <a:srgbClr val="CCFFFF"/>
    <a:srgbClr val="DEF40C"/>
    <a:srgbClr val="28D5F8"/>
    <a:srgbClr val="F61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 horzBarState="maximized">
    <p:restoredLeft sz="84381" autoAdjust="0"/>
    <p:restoredTop sz="94624" autoAdjust="0"/>
  </p:normalViewPr>
  <p:slideViewPr>
    <p:cSldViewPr>
      <p:cViewPr>
        <p:scale>
          <a:sx n="30" d="100"/>
          <a:sy n="30" d="100"/>
        </p:scale>
        <p:origin x="1512" y="48"/>
      </p:cViewPr>
      <p:guideLst>
        <p:guide orient="horz" pos="11339"/>
        <p:guide pos="79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889998" y="11183259"/>
            <a:ext cx="21419979" cy="7716609"/>
          </a:xfrm>
        </p:spPr>
        <p:txBody>
          <a:bodyPr/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3779996" y="20399852"/>
            <a:ext cx="17639983" cy="91999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20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240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860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480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100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720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340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960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6880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10354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990625" y="23133166"/>
            <a:ext cx="21419979" cy="7149948"/>
          </a:xfrm>
        </p:spPr>
        <p:txBody>
          <a:bodyPr anchor="t"/>
          <a:lstStyle>
            <a:lvl1pPr algn="r">
              <a:defRPr sz="14173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990625" y="15258230"/>
            <a:ext cx="21419979" cy="7874938"/>
          </a:xfrm>
        </p:spPr>
        <p:txBody>
          <a:bodyPr anchor="b"/>
          <a:lstStyle>
            <a:lvl1pPr marL="0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1pPr>
            <a:lvl2pPr marL="1620017" indent="0">
              <a:buNone/>
              <a:defRPr sz="6387">
                <a:solidFill>
                  <a:schemeClr val="tx1">
                    <a:tint val="75000"/>
                  </a:schemeClr>
                </a:solidFill>
              </a:defRPr>
            </a:lvl2pPr>
            <a:lvl3pPr marL="3240035" indent="0">
              <a:buNone/>
              <a:defRPr sz="5687">
                <a:solidFill>
                  <a:schemeClr val="tx1">
                    <a:tint val="75000"/>
                  </a:schemeClr>
                </a:solidFill>
              </a:defRPr>
            </a:lvl3pPr>
            <a:lvl4pPr marL="4860052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4pPr>
            <a:lvl5pPr marL="6480069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5pPr>
            <a:lvl6pPr marL="8100087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6pPr>
            <a:lvl7pPr marL="9720104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7pPr>
            <a:lvl8pPr marL="11340121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8pPr>
            <a:lvl9pPr marL="12960139" indent="0">
              <a:buNone/>
              <a:defRPr sz="49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852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259999" y="8399945"/>
            <a:ext cx="11129989" cy="23758161"/>
          </a:xfrm>
        </p:spPr>
        <p:txBody>
          <a:bodyPr/>
          <a:lstStyle>
            <a:lvl1pPr>
              <a:defRPr sz="9886"/>
            </a:lvl1pPr>
            <a:lvl2pPr>
              <a:defRPr sz="8487"/>
            </a:lvl2pPr>
            <a:lvl3pPr>
              <a:defRPr sz="7087"/>
            </a:lvl3pPr>
            <a:lvl4pPr>
              <a:defRPr sz="6387"/>
            </a:lvl4pPr>
            <a:lvl5pPr>
              <a:defRPr sz="6387"/>
            </a:lvl5pPr>
            <a:lvl6pPr>
              <a:defRPr sz="6387"/>
            </a:lvl6pPr>
            <a:lvl7pPr>
              <a:defRPr sz="6387"/>
            </a:lvl7pPr>
            <a:lvl8pPr>
              <a:defRPr sz="6387"/>
            </a:lvl8pPr>
            <a:lvl9pPr>
              <a:defRPr sz="63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2809987" y="8399945"/>
            <a:ext cx="11129989" cy="23758161"/>
          </a:xfrm>
        </p:spPr>
        <p:txBody>
          <a:bodyPr/>
          <a:lstStyle>
            <a:lvl1pPr>
              <a:defRPr sz="9886"/>
            </a:lvl1pPr>
            <a:lvl2pPr>
              <a:defRPr sz="8487"/>
            </a:lvl2pPr>
            <a:lvl3pPr>
              <a:defRPr sz="7087"/>
            </a:lvl3pPr>
            <a:lvl4pPr>
              <a:defRPr sz="6387"/>
            </a:lvl4pPr>
            <a:lvl5pPr>
              <a:defRPr sz="6387"/>
            </a:lvl5pPr>
            <a:lvl6pPr>
              <a:defRPr sz="6387"/>
            </a:lvl6pPr>
            <a:lvl7pPr>
              <a:defRPr sz="6387"/>
            </a:lvl7pPr>
            <a:lvl8pPr>
              <a:defRPr sz="6387"/>
            </a:lvl8pPr>
            <a:lvl9pPr>
              <a:defRPr sz="63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817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60001" y="8058276"/>
            <a:ext cx="11134365" cy="3358307"/>
          </a:xfrm>
        </p:spPr>
        <p:txBody>
          <a:bodyPr anchor="b"/>
          <a:lstStyle>
            <a:lvl1pPr marL="0" indent="0">
              <a:buNone/>
              <a:defRPr sz="8487" b="1"/>
            </a:lvl1pPr>
            <a:lvl2pPr marL="1620017" indent="0">
              <a:buNone/>
              <a:defRPr sz="7087" b="1"/>
            </a:lvl2pPr>
            <a:lvl3pPr marL="3240035" indent="0">
              <a:buNone/>
              <a:defRPr sz="6387" b="1"/>
            </a:lvl3pPr>
            <a:lvl4pPr marL="4860052" indent="0">
              <a:buNone/>
              <a:defRPr sz="5687" b="1"/>
            </a:lvl4pPr>
            <a:lvl5pPr marL="6480069" indent="0">
              <a:buNone/>
              <a:defRPr sz="5687" b="1"/>
            </a:lvl5pPr>
            <a:lvl6pPr marL="8100087" indent="0">
              <a:buNone/>
              <a:defRPr sz="5687" b="1"/>
            </a:lvl6pPr>
            <a:lvl7pPr marL="9720104" indent="0">
              <a:buNone/>
              <a:defRPr sz="5687" b="1"/>
            </a:lvl7pPr>
            <a:lvl8pPr marL="11340121" indent="0">
              <a:buNone/>
              <a:defRPr sz="5687" b="1"/>
            </a:lvl8pPr>
            <a:lvl9pPr marL="12960139" indent="0">
              <a:buNone/>
              <a:defRPr sz="5687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260001" y="11416582"/>
            <a:ext cx="11134365" cy="20741518"/>
          </a:xfrm>
        </p:spPr>
        <p:txBody>
          <a:bodyPr/>
          <a:lstStyle>
            <a:lvl1pPr>
              <a:defRPr sz="8487"/>
            </a:lvl1pPr>
            <a:lvl2pPr>
              <a:defRPr sz="7087"/>
            </a:lvl2pPr>
            <a:lvl3pPr>
              <a:defRPr sz="6387"/>
            </a:lvl3pPr>
            <a:lvl4pPr>
              <a:defRPr sz="5687"/>
            </a:lvl4pPr>
            <a:lvl5pPr>
              <a:defRPr sz="5687"/>
            </a:lvl5pPr>
            <a:lvl6pPr>
              <a:defRPr sz="5687"/>
            </a:lvl6pPr>
            <a:lvl7pPr>
              <a:defRPr sz="5687"/>
            </a:lvl7pPr>
            <a:lvl8pPr>
              <a:defRPr sz="5687"/>
            </a:lvl8pPr>
            <a:lvl9pPr>
              <a:defRPr sz="56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2801240" y="8058276"/>
            <a:ext cx="11138738" cy="3358307"/>
          </a:xfrm>
        </p:spPr>
        <p:txBody>
          <a:bodyPr anchor="b"/>
          <a:lstStyle>
            <a:lvl1pPr marL="0" indent="0">
              <a:buNone/>
              <a:defRPr sz="8487" b="1"/>
            </a:lvl1pPr>
            <a:lvl2pPr marL="1620017" indent="0">
              <a:buNone/>
              <a:defRPr sz="7087" b="1"/>
            </a:lvl2pPr>
            <a:lvl3pPr marL="3240035" indent="0">
              <a:buNone/>
              <a:defRPr sz="6387" b="1"/>
            </a:lvl3pPr>
            <a:lvl4pPr marL="4860052" indent="0">
              <a:buNone/>
              <a:defRPr sz="5687" b="1"/>
            </a:lvl4pPr>
            <a:lvl5pPr marL="6480069" indent="0">
              <a:buNone/>
              <a:defRPr sz="5687" b="1"/>
            </a:lvl5pPr>
            <a:lvl6pPr marL="8100087" indent="0">
              <a:buNone/>
              <a:defRPr sz="5687" b="1"/>
            </a:lvl6pPr>
            <a:lvl7pPr marL="9720104" indent="0">
              <a:buNone/>
              <a:defRPr sz="5687" b="1"/>
            </a:lvl7pPr>
            <a:lvl8pPr marL="11340121" indent="0">
              <a:buNone/>
              <a:defRPr sz="5687" b="1"/>
            </a:lvl8pPr>
            <a:lvl9pPr marL="12960139" indent="0">
              <a:buNone/>
              <a:defRPr sz="5687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2801240" y="11416582"/>
            <a:ext cx="11138738" cy="20741518"/>
          </a:xfrm>
        </p:spPr>
        <p:txBody>
          <a:bodyPr/>
          <a:lstStyle>
            <a:lvl1pPr>
              <a:defRPr sz="8487"/>
            </a:lvl1pPr>
            <a:lvl2pPr>
              <a:defRPr sz="7087"/>
            </a:lvl2pPr>
            <a:lvl3pPr>
              <a:defRPr sz="6387"/>
            </a:lvl3pPr>
            <a:lvl4pPr>
              <a:defRPr sz="5687"/>
            </a:lvl4pPr>
            <a:lvl5pPr>
              <a:defRPr sz="5687"/>
            </a:lvl5pPr>
            <a:lvl6pPr>
              <a:defRPr sz="5687"/>
            </a:lvl6pPr>
            <a:lvl7pPr>
              <a:defRPr sz="5687"/>
            </a:lvl7pPr>
            <a:lvl8pPr>
              <a:defRPr sz="5687"/>
            </a:lvl8pPr>
            <a:lvl9pPr>
              <a:defRPr sz="56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2859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8981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620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60001" y="1433325"/>
            <a:ext cx="8290619" cy="6099956"/>
          </a:xfrm>
        </p:spPr>
        <p:txBody>
          <a:bodyPr anchor="b"/>
          <a:lstStyle>
            <a:lvl1pPr algn="r">
              <a:defRPr sz="7087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9852490" y="1433327"/>
            <a:ext cx="14087488" cy="30724781"/>
          </a:xfrm>
        </p:spPr>
        <p:txBody>
          <a:bodyPr/>
          <a:lstStyle>
            <a:lvl1pPr>
              <a:defRPr sz="11374"/>
            </a:lvl1pPr>
            <a:lvl2pPr>
              <a:defRPr sz="9886"/>
            </a:lvl2pPr>
            <a:lvl3pPr>
              <a:defRPr sz="8487"/>
            </a:lvl3pPr>
            <a:lvl4pPr>
              <a:defRPr sz="7087"/>
            </a:lvl4pPr>
            <a:lvl5pPr>
              <a:defRPr sz="7087"/>
            </a:lvl5pPr>
            <a:lvl6pPr>
              <a:defRPr sz="7087"/>
            </a:lvl6pPr>
            <a:lvl7pPr>
              <a:defRPr sz="7087"/>
            </a:lvl7pPr>
            <a:lvl8pPr>
              <a:defRPr sz="7087"/>
            </a:lvl8pPr>
            <a:lvl9pPr>
              <a:defRPr sz="708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260001" y="7533281"/>
            <a:ext cx="8290619" cy="24624825"/>
          </a:xfrm>
        </p:spPr>
        <p:txBody>
          <a:bodyPr/>
          <a:lstStyle>
            <a:lvl1pPr marL="0" indent="0">
              <a:buNone/>
              <a:defRPr sz="4987"/>
            </a:lvl1pPr>
            <a:lvl2pPr marL="1620017" indent="0">
              <a:buNone/>
              <a:defRPr sz="4287"/>
            </a:lvl2pPr>
            <a:lvl3pPr marL="3240035" indent="0">
              <a:buNone/>
              <a:defRPr sz="3587"/>
            </a:lvl3pPr>
            <a:lvl4pPr marL="4860052" indent="0">
              <a:buNone/>
              <a:defRPr sz="3150"/>
            </a:lvl4pPr>
            <a:lvl5pPr marL="6480069" indent="0">
              <a:buNone/>
              <a:defRPr sz="3150"/>
            </a:lvl5pPr>
            <a:lvl6pPr marL="8100087" indent="0">
              <a:buNone/>
              <a:defRPr sz="3150"/>
            </a:lvl6pPr>
            <a:lvl7pPr marL="9720104" indent="0">
              <a:buNone/>
              <a:defRPr sz="3150"/>
            </a:lvl7pPr>
            <a:lvl8pPr marL="11340121" indent="0">
              <a:buNone/>
              <a:defRPr sz="3150"/>
            </a:lvl8pPr>
            <a:lvl9pPr marL="12960139" indent="0">
              <a:buNone/>
              <a:defRPr sz="31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797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939371" y="25199819"/>
            <a:ext cx="15119985" cy="2974982"/>
          </a:xfrm>
        </p:spPr>
        <p:txBody>
          <a:bodyPr anchor="b"/>
          <a:lstStyle>
            <a:lvl1pPr algn="r">
              <a:defRPr sz="7087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4939371" y="3216641"/>
            <a:ext cx="15119985" cy="21599843"/>
          </a:xfrm>
        </p:spPr>
        <p:txBody>
          <a:bodyPr/>
          <a:lstStyle>
            <a:lvl1pPr marL="0" indent="0">
              <a:buNone/>
              <a:defRPr sz="11374"/>
            </a:lvl1pPr>
            <a:lvl2pPr marL="1620017" indent="0">
              <a:buNone/>
              <a:defRPr sz="9886"/>
            </a:lvl2pPr>
            <a:lvl3pPr marL="3240035" indent="0">
              <a:buNone/>
              <a:defRPr sz="8487"/>
            </a:lvl3pPr>
            <a:lvl4pPr marL="4860052" indent="0">
              <a:buNone/>
              <a:defRPr sz="7087"/>
            </a:lvl4pPr>
            <a:lvl5pPr marL="6480069" indent="0">
              <a:buNone/>
              <a:defRPr sz="7087"/>
            </a:lvl5pPr>
            <a:lvl6pPr marL="8100087" indent="0">
              <a:buNone/>
              <a:defRPr sz="7087"/>
            </a:lvl6pPr>
            <a:lvl7pPr marL="9720104" indent="0">
              <a:buNone/>
              <a:defRPr sz="7087"/>
            </a:lvl7pPr>
            <a:lvl8pPr marL="11340121" indent="0">
              <a:buNone/>
              <a:defRPr sz="7087"/>
            </a:lvl8pPr>
            <a:lvl9pPr marL="12960139" indent="0">
              <a:buNone/>
              <a:defRPr sz="7087"/>
            </a:lvl9pPr>
          </a:lstStyle>
          <a:p>
            <a:endParaRPr lang="he-IL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939371" y="28174801"/>
            <a:ext cx="15119985" cy="4224965"/>
          </a:xfrm>
        </p:spPr>
        <p:txBody>
          <a:bodyPr/>
          <a:lstStyle>
            <a:lvl1pPr marL="0" indent="0">
              <a:buNone/>
              <a:defRPr sz="4987"/>
            </a:lvl1pPr>
            <a:lvl2pPr marL="1620017" indent="0">
              <a:buNone/>
              <a:defRPr sz="4287"/>
            </a:lvl2pPr>
            <a:lvl3pPr marL="3240035" indent="0">
              <a:buNone/>
              <a:defRPr sz="3587"/>
            </a:lvl3pPr>
            <a:lvl4pPr marL="4860052" indent="0">
              <a:buNone/>
              <a:defRPr sz="3150"/>
            </a:lvl4pPr>
            <a:lvl5pPr marL="6480069" indent="0">
              <a:buNone/>
              <a:defRPr sz="3150"/>
            </a:lvl5pPr>
            <a:lvl6pPr marL="8100087" indent="0">
              <a:buNone/>
              <a:defRPr sz="3150"/>
            </a:lvl6pPr>
            <a:lvl7pPr marL="9720104" indent="0">
              <a:buNone/>
              <a:defRPr sz="3150"/>
            </a:lvl7pPr>
            <a:lvl8pPr marL="11340121" indent="0">
              <a:buNone/>
              <a:defRPr sz="3150"/>
            </a:lvl8pPr>
            <a:lvl9pPr marL="12960139" indent="0">
              <a:buNone/>
              <a:defRPr sz="31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1536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1660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8269982" y="1441665"/>
            <a:ext cx="5669994" cy="3071644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259999" y="1441665"/>
            <a:ext cx="16589984" cy="3071644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6505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1259999" y="1441658"/>
            <a:ext cx="22679978" cy="5999956"/>
          </a:xfrm>
          <a:prstGeom prst="rect">
            <a:avLst/>
          </a:prstGeom>
        </p:spPr>
        <p:txBody>
          <a:bodyPr vert="horz" lIns="370332" tIns="185166" rIns="370332" bIns="185166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59999" y="8399945"/>
            <a:ext cx="22679978" cy="23758161"/>
          </a:xfrm>
          <a:prstGeom prst="rect">
            <a:avLst/>
          </a:prstGeom>
        </p:spPr>
        <p:txBody>
          <a:bodyPr vert="horz" lIns="370332" tIns="185166" rIns="370332" bIns="185166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8059982" y="33366429"/>
            <a:ext cx="5879994" cy="1916651"/>
          </a:xfrm>
          <a:prstGeom prst="rect">
            <a:avLst/>
          </a:prstGeom>
        </p:spPr>
        <p:txBody>
          <a:bodyPr vert="horz" lIns="370332" tIns="185166" rIns="370332" bIns="185166" rtlCol="1" anchor="ctr"/>
          <a:lstStyle>
            <a:lvl1pPr algn="r">
              <a:defRPr sz="4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45555-7EBD-4131-B7FE-5E9F95D81A30}" type="datetimeFigureOut">
              <a:rPr lang="he-IL" smtClean="0"/>
              <a:pPr/>
              <a:t>י'/סיון/תשפ"ד</a:t>
            </a:fld>
            <a:endParaRPr lang="he-IL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8609992" y="33366429"/>
            <a:ext cx="7979992" cy="1916651"/>
          </a:xfrm>
          <a:prstGeom prst="rect">
            <a:avLst/>
          </a:prstGeom>
        </p:spPr>
        <p:txBody>
          <a:bodyPr vert="horz" lIns="370332" tIns="185166" rIns="370332" bIns="185166" rtlCol="1" anchor="ctr"/>
          <a:lstStyle>
            <a:lvl1pPr algn="ctr">
              <a:defRPr sz="4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1259999" y="33366429"/>
            <a:ext cx="5879994" cy="1916651"/>
          </a:xfrm>
          <a:prstGeom prst="rect">
            <a:avLst/>
          </a:prstGeom>
        </p:spPr>
        <p:txBody>
          <a:bodyPr vert="horz" lIns="370332" tIns="185166" rIns="370332" bIns="185166" rtlCol="1" anchor="ctr"/>
          <a:lstStyle>
            <a:lvl1pPr algn="l">
              <a:defRPr sz="4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66C2F-A585-4C3F-A802-6A83E5B72CF6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2724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240035" rtl="1" eaLnBrk="1" latinLnBrk="0" hangingPunct="1">
        <a:spcBef>
          <a:spcPct val="0"/>
        </a:spcBef>
        <a:buNone/>
        <a:defRPr sz="155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5013" indent="-1215013" algn="r" defTabSz="3240035" rtl="1" eaLnBrk="1" latinLnBrk="0" hangingPunct="1">
        <a:spcBef>
          <a:spcPct val="20000"/>
        </a:spcBef>
        <a:buFont typeface="Arial" pitchFamily="34" charset="0"/>
        <a:buChar char="•"/>
        <a:defRPr sz="11374" kern="1200">
          <a:solidFill>
            <a:schemeClr val="tx1"/>
          </a:solidFill>
          <a:latin typeface="+mn-lt"/>
          <a:ea typeface="+mn-ea"/>
          <a:cs typeface="+mn-cs"/>
        </a:defRPr>
      </a:lvl1pPr>
      <a:lvl2pPr marL="2632529" indent="-1012511" algn="r" defTabSz="3240035" rtl="1" eaLnBrk="1" latinLnBrk="0" hangingPunct="1">
        <a:spcBef>
          <a:spcPct val="20000"/>
        </a:spcBef>
        <a:buFont typeface="Arial" pitchFamily="34" charset="0"/>
        <a:buChar char="–"/>
        <a:defRPr sz="9886" kern="1200">
          <a:solidFill>
            <a:schemeClr val="tx1"/>
          </a:solidFill>
          <a:latin typeface="+mn-lt"/>
          <a:ea typeface="+mn-ea"/>
          <a:cs typeface="+mn-cs"/>
        </a:defRPr>
      </a:lvl2pPr>
      <a:lvl3pPr marL="4050043" indent="-810009" algn="r" defTabSz="3240035" rtl="1" eaLnBrk="1" latinLnBrk="0" hangingPunct="1">
        <a:spcBef>
          <a:spcPct val="20000"/>
        </a:spcBef>
        <a:buFont typeface="Arial" pitchFamily="34" charset="0"/>
        <a:buChar char="•"/>
        <a:defRPr sz="8487" kern="1200">
          <a:solidFill>
            <a:schemeClr val="tx1"/>
          </a:solidFill>
          <a:latin typeface="+mn-lt"/>
          <a:ea typeface="+mn-ea"/>
          <a:cs typeface="+mn-cs"/>
        </a:defRPr>
      </a:lvl3pPr>
      <a:lvl4pPr marL="5670061" indent="-810009" algn="r" defTabSz="3240035" rtl="1" eaLnBrk="1" latinLnBrk="0" hangingPunct="1">
        <a:spcBef>
          <a:spcPct val="20000"/>
        </a:spcBef>
        <a:buFont typeface="Arial" pitchFamily="34" charset="0"/>
        <a:buChar char="–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290078" indent="-810009" algn="r" defTabSz="3240035" rtl="1" eaLnBrk="1" latinLnBrk="0" hangingPunct="1">
        <a:spcBef>
          <a:spcPct val="20000"/>
        </a:spcBef>
        <a:buFont typeface="Arial" pitchFamily="34" charset="0"/>
        <a:buChar char="»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10095" indent="-810009" algn="r" defTabSz="3240035" rtl="1" eaLnBrk="1" latinLnBrk="0" hangingPunct="1">
        <a:spcBef>
          <a:spcPct val="20000"/>
        </a:spcBef>
        <a:buFont typeface="Arial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530113" indent="-810009" algn="r" defTabSz="3240035" rtl="1" eaLnBrk="1" latinLnBrk="0" hangingPunct="1">
        <a:spcBef>
          <a:spcPct val="20000"/>
        </a:spcBef>
        <a:buFont typeface="Arial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150130" indent="-810009" algn="r" defTabSz="3240035" rtl="1" eaLnBrk="1" latinLnBrk="0" hangingPunct="1">
        <a:spcBef>
          <a:spcPct val="20000"/>
        </a:spcBef>
        <a:buFont typeface="Arial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3770147" indent="-810009" algn="r" defTabSz="3240035" rtl="1" eaLnBrk="1" latinLnBrk="0" hangingPunct="1">
        <a:spcBef>
          <a:spcPct val="20000"/>
        </a:spcBef>
        <a:buFont typeface="Arial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1pPr>
      <a:lvl2pPr marL="1620017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2pPr>
      <a:lvl3pPr marL="3240035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3pPr>
      <a:lvl4pPr marL="4860052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4pPr>
      <a:lvl5pPr marL="6480069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5pPr>
      <a:lvl6pPr marL="8100087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6pPr>
      <a:lvl7pPr marL="9720104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7pPr>
      <a:lvl8pPr marL="11340121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8pPr>
      <a:lvl9pPr marL="12960139" algn="r" defTabSz="3240035" rtl="1" eaLnBrk="1" latinLnBrk="0" hangingPunct="1">
        <a:defRPr sz="63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13" Type="http://schemas.openxmlformats.org/officeDocument/2006/relationships/image" Target="../media/image12.tmp"/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12" Type="http://schemas.openxmlformats.org/officeDocument/2006/relationships/image" Target="../media/image11.tmp"/><Relationship Id="rId17" Type="http://schemas.openxmlformats.org/officeDocument/2006/relationships/image" Target="../media/image16.tmp"/><Relationship Id="rId2" Type="http://schemas.openxmlformats.org/officeDocument/2006/relationships/image" Target="../media/image1.png"/><Relationship Id="rId16" Type="http://schemas.openxmlformats.org/officeDocument/2006/relationships/image" Target="../media/image15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11" Type="http://schemas.openxmlformats.org/officeDocument/2006/relationships/image" Target="../media/image10.tmp"/><Relationship Id="rId5" Type="http://schemas.openxmlformats.org/officeDocument/2006/relationships/image" Target="../media/image4.tmp"/><Relationship Id="rId15" Type="http://schemas.openxmlformats.org/officeDocument/2006/relationships/image" Target="../media/image14.tmp"/><Relationship Id="rId10" Type="http://schemas.openxmlformats.org/officeDocument/2006/relationships/image" Target="../media/image9.tmp"/><Relationship Id="rId4" Type="http://schemas.openxmlformats.org/officeDocument/2006/relationships/image" Target="../media/image3.tmp"/><Relationship Id="rId9" Type="http://schemas.openxmlformats.org/officeDocument/2006/relationships/image" Target="../media/image8.tmp"/><Relationship Id="rId14" Type="http://schemas.openxmlformats.org/officeDocument/2006/relationships/image" Target="../media/image1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6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מלבן 15"/>
          <p:cNvSpPr/>
          <p:nvPr/>
        </p:nvSpPr>
        <p:spPr>
          <a:xfrm>
            <a:off x="-1" y="24123"/>
            <a:ext cx="25199975" cy="3528166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31">
              <a:solidFill>
                <a:schemeClr val="tx1"/>
              </a:solidFill>
            </a:endParaRPr>
          </a:p>
        </p:txBody>
      </p:sp>
      <p:sp>
        <p:nvSpPr>
          <p:cNvPr id="18" name="Text Box 527"/>
          <p:cNvSpPr txBox="1">
            <a:spLocks noChangeArrowheads="1"/>
          </p:cNvSpPr>
          <p:nvPr/>
        </p:nvSpPr>
        <p:spPr bwMode="auto">
          <a:xfrm>
            <a:off x="174" y="27626"/>
            <a:ext cx="2808000" cy="630942"/>
          </a:xfrm>
          <a:prstGeom prst="rect">
            <a:avLst/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801398"/>
            <a:r>
              <a:rPr lang="en-US" sz="3500" b="1" dirty="0">
                <a:latin typeface="Arial" pitchFamily="34" charset="0"/>
                <a:cs typeface="Arial" pitchFamily="34" charset="0"/>
              </a:rPr>
              <a:t>13</a:t>
            </a:r>
            <a:r>
              <a:rPr lang="ru-RU" sz="3500" b="1" dirty="0">
                <a:latin typeface="Arial" pitchFamily="34" charset="0"/>
                <a:cs typeface="Arial" pitchFamily="34" charset="0"/>
              </a:rPr>
              <a:t>-2</a:t>
            </a:r>
            <a:r>
              <a:rPr lang="en-US" sz="3500" b="1" dirty="0">
                <a:latin typeface="Arial" pitchFamily="34" charset="0"/>
                <a:cs typeface="Arial" pitchFamily="34" charset="0"/>
              </a:rPr>
              <a:t>024</a:t>
            </a:r>
            <a:endParaRPr lang="en-US" sz="3500" b="1" dirty="0">
              <a:latin typeface="Times New Roman" pitchFamily="18" charset="0"/>
            </a:endParaRPr>
          </a:p>
        </p:txBody>
      </p:sp>
      <p:sp>
        <p:nvSpPr>
          <p:cNvPr id="19" name="מלבן 18"/>
          <p:cNvSpPr/>
          <p:nvPr/>
        </p:nvSpPr>
        <p:spPr>
          <a:xfrm>
            <a:off x="14436030" y="1257978"/>
            <a:ext cx="8029053" cy="2308324"/>
          </a:xfrm>
          <a:prstGeom prst="rect">
            <a:avLst/>
          </a:prstGeom>
          <a:solidFill>
            <a:srgbClr val="F3E6D9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sz="3600" b="1" dirty="0" err="1"/>
              <a:t>סוהילה</a:t>
            </a:r>
            <a:r>
              <a:rPr lang="he-IL" sz="3600" b="1" dirty="0"/>
              <a:t> </a:t>
            </a:r>
            <a:r>
              <a:rPr lang="he-IL" sz="3600" b="1" dirty="0" err="1"/>
              <a:t>מסעודיין</a:t>
            </a:r>
            <a:r>
              <a:rPr lang="he-IL" sz="3600" b="1" dirty="0"/>
              <a:t>- ניהול תעשייתי/מע' מידע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sz="3600" b="1" dirty="0"/>
              <a:t>מרים אבו כף- ניהול תעשייתי/מע' מידע</a:t>
            </a:r>
          </a:p>
          <a:p>
            <a:pPr algn="r" rtl="1">
              <a:spcBef>
                <a:spcPct val="50000"/>
              </a:spcBef>
            </a:pPr>
            <a:r>
              <a:rPr lang="he-IL" sz="3600" b="1" dirty="0" err="1"/>
              <a:t>אסיא</a:t>
            </a:r>
            <a:r>
              <a:rPr lang="he-IL" sz="3600" b="1" dirty="0"/>
              <a:t> </a:t>
            </a:r>
            <a:r>
              <a:rPr lang="he-IL" sz="3600" b="1" dirty="0" err="1"/>
              <a:t>אלסייד</a:t>
            </a:r>
            <a:r>
              <a:rPr lang="he-IL" sz="3600" b="1" dirty="0"/>
              <a:t>- ניהול תעשייתי/מע' מידע</a:t>
            </a:r>
          </a:p>
        </p:txBody>
      </p:sp>
      <p:sp>
        <p:nvSpPr>
          <p:cNvPr id="20" name="מלבן 19"/>
          <p:cNvSpPr/>
          <p:nvPr/>
        </p:nvSpPr>
        <p:spPr>
          <a:xfrm>
            <a:off x="3022923" y="86839"/>
            <a:ext cx="19080000" cy="1015663"/>
          </a:xfrm>
          <a:prstGeom prst="rect">
            <a:avLst/>
          </a:prstGeom>
          <a:solidFill>
            <a:srgbClr val="F3E6D9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he-IL" sz="6000" b="1" dirty="0">
                <a:solidFill>
                  <a:schemeClr val="tx1"/>
                </a:solidFill>
              </a:rPr>
              <a:t>אתר אינטרנט לאימהות חדשות במגזר הבדואי</a:t>
            </a:r>
          </a:p>
        </p:txBody>
      </p:sp>
      <p:sp>
        <p:nvSpPr>
          <p:cNvPr id="21" name="מלבן 20"/>
          <p:cNvSpPr/>
          <p:nvPr/>
        </p:nvSpPr>
        <p:spPr>
          <a:xfrm>
            <a:off x="3078448" y="2273640"/>
            <a:ext cx="7200000" cy="1169551"/>
          </a:xfrm>
          <a:prstGeom prst="rect">
            <a:avLst/>
          </a:prstGeom>
          <a:solidFill>
            <a:srgbClr val="F3E6D9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he-IL" sz="3500" b="1" dirty="0">
                <a:latin typeface="Arial" pitchFamily="34" charset="0"/>
                <a:cs typeface="Arial" pitchFamily="34" charset="0"/>
              </a:rPr>
              <a:t>מנחה אקדמי : נבון תמר</a:t>
            </a:r>
          </a:p>
          <a:p>
            <a:r>
              <a:rPr lang="he-IL" sz="3500" b="1" dirty="0">
                <a:latin typeface="Arial" pitchFamily="34" charset="0"/>
                <a:cs typeface="Arial" pitchFamily="34" charset="0"/>
              </a:rPr>
              <a:t>מנחה מקצועי: נבון תמר</a:t>
            </a:r>
          </a:p>
        </p:txBody>
      </p:sp>
      <p:sp>
        <p:nvSpPr>
          <p:cNvPr id="22" name="מלבן 21"/>
          <p:cNvSpPr/>
          <p:nvPr/>
        </p:nvSpPr>
        <p:spPr>
          <a:xfrm>
            <a:off x="10594561" y="2538361"/>
            <a:ext cx="3600000" cy="646331"/>
          </a:xfrm>
          <a:prstGeom prst="rect">
            <a:avLst/>
          </a:prstGeom>
          <a:solidFill>
            <a:srgbClr val="F3E6D9"/>
          </a:solidFill>
          <a:ln>
            <a:noFill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he-IL" sz="3600" b="1" dirty="0">
                <a:latin typeface="Arial" pitchFamily="34" charset="0"/>
                <a:cs typeface="Arial" pitchFamily="34" charset="0"/>
              </a:rPr>
              <a:t>תשפ"ד – מחזור 1</a:t>
            </a:r>
            <a:endParaRPr lang="ru-RU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2" r="9672"/>
          <a:stretch/>
        </p:blipFill>
        <p:spPr>
          <a:xfrm>
            <a:off x="174" y="687115"/>
            <a:ext cx="2808000" cy="2808000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03C02704-1FC0-2876-859F-DE74C260B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2417" y="941561"/>
            <a:ext cx="2807868" cy="3448796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FDD8E89-CFEE-4323-510F-81735E556188}"/>
              </a:ext>
            </a:extLst>
          </p:cNvPr>
          <p:cNvSpPr txBox="1"/>
          <p:nvPr/>
        </p:nvSpPr>
        <p:spPr>
          <a:xfrm>
            <a:off x="16195067" y="4836008"/>
            <a:ext cx="8849126" cy="430573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66% מהאוכלוסייה מהמגזר הבדואי הינם בקבוצת גיל 0-19</a:t>
            </a:r>
            <a:r>
              <a:rPr lang="en-US" sz="2000" b="1" dirty="0"/>
              <a:t>.</a:t>
            </a:r>
            <a:endParaRPr lang="he-IL" sz="2000" b="1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חלק גדול מהאימהות החדשות במגזר הבדואי הן קטינות</a:t>
            </a:r>
            <a:r>
              <a:rPr lang="en-US" sz="2000" b="1" dirty="0"/>
              <a:t>.</a:t>
            </a:r>
            <a:endParaRPr lang="he-IL" sz="2000" b="1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בדרך כלל </a:t>
            </a:r>
            <a:r>
              <a:rPr lang="he-IL" sz="2000" b="1" dirty="0" err="1"/>
              <a:t>ההריון</a:t>
            </a:r>
            <a:r>
              <a:rPr lang="he-IL" sz="2000" b="1" dirty="0"/>
              <a:t> הראשון מגיע בשנתיים הראשונות לנישואין ובגיל צעיר במיוחד. 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בכפרים הלא מוכרים, אין כמעט מבני ציבור כמו מרפאות, וזה משפיע על קבלת מידע רפואי לאימהות במיוחד אימהות צעירות.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ברוב היישובים קיימת נגישות לאינטרנט ורשתות סלולר.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he-IL" sz="2000" b="1" dirty="0"/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0A4FE511-6DF2-1A0A-538B-6B1119DEFCF2}"/>
              </a:ext>
            </a:extLst>
          </p:cNvPr>
          <p:cNvSpPr txBox="1"/>
          <p:nvPr/>
        </p:nvSpPr>
        <p:spPr>
          <a:xfrm>
            <a:off x="7091552" y="4843293"/>
            <a:ext cx="8849127" cy="43057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 אוכלוסיית הנשואים במגזר הבדואי כוללת 300 אלף איש ואישה, מהם כ-20% בנות בגיל 18- 25.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 בשנים האחרונות יש ירידה במספר הקטינות שיולדות, ומדווחות על כך לביטוח לאומי.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 5% מקרב הילודים הבדואים במחוז הדרום נולדו לאימהות מתחת לגיל 20.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 חלק גדול מהאימהות חדשות הן בעלות השכלה חטיבת ביניים ותיכון.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000" b="1" dirty="0"/>
              <a:t>לפעמים נשים בהריון ולאחר לידה חוות עצב ,פחד ,כעס או תסכול.</a:t>
            </a:r>
          </a:p>
        </p:txBody>
      </p:sp>
      <p:pic>
        <p:nvPicPr>
          <p:cNvPr id="40" name="תמונה 39" descr="תמונה שמכילה טקסט, מספר, גופן, צילום מסך&#10;&#10;התיאור נוצר באופן אוטומטי">
            <a:extLst>
              <a:ext uri="{FF2B5EF4-FFF2-40B4-BE49-F238E27FC236}">
                <a16:creationId xmlns:a16="http://schemas.microsoft.com/office/drawing/2014/main" id="{B0C0CBC0-E392-08A2-15D5-B0B4BBB80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2" y="4836008"/>
            <a:ext cx="6927180" cy="4307980"/>
          </a:xfrm>
          <a:prstGeom prst="rect">
            <a:avLst/>
          </a:prstGeom>
        </p:spPr>
      </p:pic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7986C19B-D389-B639-6E1E-FDBD90089AB8}"/>
              </a:ext>
            </a:extLst>
          </p:cNvPr>
          <p:cNvSpPr txBox="1"/>
          <p:nvPr/>
        </p:nvSpPr>
        <p:spPr>
          <a:xfrm>
            <a:off x="16195068" y="4196962"/>
            <a:ext cx="8849126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2. מצב קיים 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57EB0C4-0309-DF0C-2B47-9ACFCC8C414B}"/>
              </a:ext>
            </a:extLst>
          </p:cNvPr>
          <p:cNvSpPr txBox="1"/>
          <p:nvPr/>
        </p:nvSpPr>
        <p:spPr>
          <a:xfrm>
            <a:off x="155781" y="4183803"/>
            <a:ext cx="15776307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2. מצב קיים </a:t>
            </a: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B3ADE9E1-5F3F-C102-290A-BDAB6580C608}"/>
              </a:ext>
            </a:extLst>
          </p:cNvPr>
          <p:cNvSpPr txBox="1"/>
          <p:nvPr/>
        </p:nvSpPr>
        <p:spPr>
          <a:xfrm>
            <a:off x="155781" y="9136714"/>
            <a:ext cx="24890262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3. הצורך באתר אינטרנט</a:t>
            </a:r>
          </a:p>
        </p:txBody>
      </p:sp>
      <p:sp>
        <p:nvSpPr>
          <p:cNvPr id="58" name="משולש שווה-שוקיים 57">
            <a:extLst>
              <a:ext uri="{FF2B5EF4-FFF2-40B4-BE49-F238E27FC236}">
                <a16:creationId xmlns:a16="http://schemas.microsoft.com/office/drawing/2014/main" id="{F0DDB80D-CA1D-27D8-76A9-79DCB4EA16A4}"/>
              </a:ext>
            </a:extLst>
          </p:cNvPr>
          <p:cNvSpPr/>
          <p:nvPr/>
        </p:nvSpPr>
        <p:spPr>
          <a:xfrm rot="5400000" flipV="1">
            <a:off x="16796172" y="10288768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59" name="חץ: מחומש 58">
            <a:extLst>
              <a:ext uri="{FF2B5EF4-FFF2-40B4-BE49-F238E27FC236}">
                <a16:creationId xmlns:a16="http://schemas.microsoft.com/office/drawing/2014/main" id="{B3720168-17E5-C005-C2A2-1CE84FAE169E}"/>
              </a:ext>
            </a:extLst>
          </p:cNvPr>
          <p:cNvSpPr/>
          <p:nvPr/>
        </p:nvSpPr>
        <p:spPr>
          <a:xfrm rot="10800000" flipV="1">
            <a:off x="17310230" y="9972120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26% מהאימהות מתביישות או חוששות לשאול שאלות.</a:t>
            </a:r>
          </a:p>
        </p:txBody>
      </p:sp>
      <p:sp>
        <p:nvSpPr>
          <p:cNvPr id="60" name="משולש שווה-שוקיים 59">
            <a:extLst>
              <a:ext uri="{FF2B5EF4-FFF2-40B4-BE49-F238E27FC236}">
                <a16:creationId xmlns:a16="http://schemas.microsoft.com/office/drawing/2014/main" id="{1555AA15-CD65-0A26-2D05-BCB590A56471}"/>
              </a:ext>
            </a:extLst>
          </p:cNvPr>
          <p:cNvSpPr/>
          <p:nvPr/>
        </p:nvSpPr>
        <p:spPr>
          <a:xfrm rot="5400000" flipV="1">
            <a:off x="20705921" y="10288766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61" name="חץ: מחומש 60">
            <a:extLst>
              <a:ext uri="{FF2B5EF4-FFF2-40B4-BE49-F238E27FC236}">
                <a16:creationId xmlns:a16="http://schemas.microsoft.com/office/drawing/2014/main" id="{31405414-CCB9-CBEF-AB4B-209CD78D235B}"/>
              </a:ext>
            </a:extLst>
          </p:cNvPr>
          <p:cNvSpPr/>
          <p:nvPr/>
        </p:nvSpPr>
        <p:spPr>
          <a:xfrm rot="10800000" flipV="1">
            <a:off x="21198617" y="9972120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32% מהאימהות בקבוצת גיל 18-25 נשואות פחות משנה.</a:t>
            </a:r>
          </a:p>
        </p:txBody>
      </p:sp>
      <p:sp>
        <p:nvSpPr>
          <p:cNvPr id="72" name="משולש שווה-שוקיים 71">
            <a:extLst>
              <a:ext uri="{FF2B5EF4-FFF2-40B4-BE49-F238E27FC236}">
                <a16:creationId xmlns:a16="http://schemas.microsoft.com/office/drawing/2014/main" id="{9D687814-CED1-4344-FC79-5F7156CF02D4}"/>
              </a:ext>
            </a:extLst>
          </p:cNvPr>
          <p:cNvSpPr/>
          <p:nvPr/>
        </p:nvSpPr>
        <p:spPr>
          <a:xfrm rot="5400000" flipV="1">
            <a:off x="8836537" y="10288768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3" name="חץ: מחומש 72">
            <a:extLst>
              <a:ext uri="{FF2B5EF4-FFF2-40B4-BE49-F238E27FC236}">
                <a16:creationId xmlns:a16="http://schemas.microsoft.com/office/drawing/2014/main" id="{D8F86C65-6F64-13FA-FEB7-EE9F36FA7FAE}"/>
              </a:ext>
            </a:extLst>
          </p:cNvPr>
          <p:cNvSpPr/>
          <p:nvPr/>
        </p:nvSpPr>
        <p:spPr>
          <a:xfrm rot="10800000" flipV="1">
            <a:off x="9350595" y="9972120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89% מהאימהות מתקשות להתמודד עם התינוק בלי עזרה.</a:t>
            </a:r>
          </a:p>
        </p:txBody>
      </p:sp>
      <p:sp>
        <p:nvSpPr>
          <p:cNvPr id="74" name="משולש שווה-שוקיים 73">
            <a:extLst>
              <a:ext uri="{FF2B5EF4-FFF2-40B4-BE49-F238E27FC236}">
                <a16:creationId xmlns:a16="http://schemas.microsoft.com/office/drawing/2014/main" id="{DEA5E91B-7C33-EA72-B81E-89F0DF88B455}"/>
              </a:ext>
            </a:extLst>
          </p:cNvPr>
          <p:cNvSpPr/>
          <p:nvPr/>
        </p:nvSpPr>
        <p:spPr>
          <a:xfrm rot="5400000" flipV="1">
            <a:off x="12750653" y="10288766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5" name="חץ: מחומש 74">
            <a:extLst>
              <a:ext uri="{FF2B5EF4-FFF2-40B4-BE49-F238E27FC236}">
                <a16:creationId xmlns:a16="http://schemas.microsoft.com/office/drawing/2014/main" id="{71081BEB-F757-BE74-CFDB-207094B2E7D0}"/>
              </a:ext>
            </a:extLst>
          </p:cNvPr>
          <p:cNvSpPr/>
          <p:nvPr/>
        </p:nvSpPr>
        <p:spPr>
          <a:xfrm rot="10800000" flipV="1">
            <a:off x="13243349" y="9972120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39% מהאימהות אין להן ניסיון בגידול תינוקות.</a:t>
            </a:r>
          </a:p>
        </p:txBody>
      </p:sp>
      <p:sp>
        <p:nvSpPr>
          <p:cNvPr id="77" name="משולש שווה-שוקיים 76">
            <a:extLst>
              <a:ext uri="{FF2B5EF4-FFF2-40B4-BE49-F238E27FC236}">
                <a16:creationId xmlns:a16="http://schemas.microsoft.com/office/drawing/2014/main" id="{003757A3-9567-4CCE-07D6-CEBDC59A157E}"/>
              </a:ext>
            </a:extLst>
          </p:cNvPr>
          <p:cNvSpPr/>
          <p:nvPr/>
        </p:nvSpPr>
        <p:spPr>
          <a:xfrm rot="5400000" flipV="1">
            <a:off x="746670" y="10265123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8" name="חץ: מחומש 77">
            <a:extLst>
              <a:ext uri="{FF2B5EF4-FFF2-40B4-BE49-F238E27FC236}">
                <a16:creationId xmlns:a16="http://schemas.microsoft.com/office/drawing/2014/main" id="{F5F9CC3D-FAB8-03EA-9098-1D6BFF605604}"/>
              </a:ext>
            </a:extLst>
          </p:cNvPr>
          <p:cNvSpPr/>
          <p:nvPr/>
        </p:nvSpPr>
        <p:spPr>
          <a:xfrm rot="10800000" flipV="1">
            <a:off x="1260728" y="9948475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94% מהנשאלות השיבו כי אתר ייעודי יכול לסייע להן.</a:t>
            </a:r>
            <a:endParaRPr lang="he-IL" sz="2800" b="1" dirty="0">
              <a:solidFill>
                <a:schemeClr val="tx1"/>
              </a:solidFill>
            </a:endParaRPr>
          </a:p>
        </p:txBody>
      </p:sp>
      <p:sp>
        <p:nvSpPr>
          <p:cNvPr id="79" name="משולש שווה-שוקיים 78">
            <a:extLst>
              <a:ext uri="{FF2B5EF4-FFF2-40B4-BE49-F238E27FC236}">
                <a16:creationId xmlns:a16="http://schemas.microsoft.com/office/drawing/2014/main" id="{CC655BDA-D129-3882-61DD-66FA216D58BF}"/>
              </a:ext>
            </a:extLst>
          </p:cNvPr>
          <p:cNvSpPr/>
          <p:nvPr/>
        </p:nvSpPr>
        <p:spPr>
          <a:xfrm rot="5400000" flipV="1">
            <a:off x="4791017" y="10265121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80" name="חץ: מחומש 79">
            <a:extLst>
              <a:ext uri="{FF2B5EF4-FFF2-40B4-BE49-F238E27FC236}">
                <a16:creationId xmlns:a16="http://schemas.microsoft.com/office/drawing/2014/main" id="{EC590FC3-C7C4-0239-CB2E-8E194DFF0DCA}"/>
              </a:ext>
            </a:extLst>
          </p:cNvPr>
          <p:cNvSpPr/>
          <p:nvPr/>
        </p:nvSpPr>
        <p:spPr>
          <a:xfrm rot="10800000" flipV="1">
            <a:off x="5283713" y="9948475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>
                <a:solidFill>
                  <a:schemeClr val="tx1"/>
                </a:solidFill>
              </a:rPr>
              <a:t>70% מרגישות שחסר להן מידע לטיפול בתינוק.</a:t>
            </a:r>
            <a:endParaRPr lang="he-IL" sz="2400" b="1" dirty="0">
              <a:solidFill>
                <a:schemeClr val="tx1"/>
              </a:solidFill>
            </a:endParaRPr>
          </a:p>
        </p:txBody>
      </p:sp>
      <p:sp>
        <p:nvSpPr>
          <p:cNvPr id="85" name="תיבת טקסט 84">
            <a:extLst>
              <a:ext uri="{FF2B5EF4-FFF2-40B4-BE49-F238E27FC236}">
                <a16:creationId xmlns:a16="http://schemas.microsoft.com/office/drawing/2014/main" id="{67D82539-316C-5F07-8D24-1E2484ACB517}"/>
              </a:ext>
            </a:extLst>
          </p:cNvPr>
          <p:cNvSpPr txBox="1"/>
          <p:nvPr/>
        </p:nvSpPr>
        <p:spPr>
          <a:xfrm>
            <a:off x="153931" y="11686554"/>
            <a:ext cx="24890262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4. מטרות הפרויקט</a:t>
            </a:r>
          </a:p>
        </p:txBody>
      </p:sp>
      <p:sp>
        <p:nvSpPr>
          <p:cNvPr id="86" name="משולש שווה-שוקיים 85">
            <a:extLst>
              <a:ext uri="{FF2B5EF4-FFF2-40B4-BE49-F238E27FC236}">
                <a16:creationId xmlns:a16="http://schemas.microsoft.com/office/drawing/2014/main" id="{BBADC7AA-39EB-563C-8B8C-A6B68CA2E597}"/>
              </a:ext>
            </a:extLst>
          </p:cNvPr>
          <p:cNvSpPr/>
          <p:nvPr/>
        </p:nvSpPr>
        <p:spPr>
          <a:xfrm rot="5400000" flipV="1">
            <a:off x="16786214" y="12818539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87" name="חץ: מחומש 86">
            <a:extLst>
              <a:ext uri="{FF2B5EF4-FFF2-40B4-BE49-F238E27FC236}">
                <a16:creationId xmlns:a16="http://schemas.microsoft.com/office/drawing/2014/main" id="{18D695F0-A5C2-BE64-C029-1D2CF9C8D91C}"/>
              </a:ext>
            </a:extLst>
          </p:cNvPr>
          <p:cNvSpPr/>
          <p:nvPr/>
        </p:nvSpPr>
        <p:spPr>
          <a:xfrm rot="10800000" flipV="1">
            <a:off x="17300272" y="12501891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הקמת אתר אינטרנט לאימהות חדשות</a:t>
            </a:r>
          </a:p>
        </p:txBody>
      </p:sp>
      <p:sp>
        <p:nvSpPr>
          <p:cNvPr id="88" name="משולש שווה-שוקיים 87">
            <a:extLst>
              <a:ext uri="{FF2B5EF4-FFF2-40B4-BE49-F238E27FC236}">
                <a16:creationId xmlns:a16="http://schemas.microsoft.com/office/drawing/2014/main" id="{FA81809C-A840-77E8-7194-790B8275597B}"/>
              </a:ext>
            </a:extLst>
          </p:cNvPr>
          <p:cNvSpPr/>
          <p:nvPr/>
        </p:nvSpPr>
        <p:spPr>
          <a:xfrm rot="5400000" flipV="1">
            <a:off x="20695963" y="12818537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F3E6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89" name="חץ: מחומש 88">
            <a:extLst>
              <a:ext uri="{FF2B5EF4-FFF2-40B4-BE49-F238E27FC236}">
                <a16:creationId xmlns:a16="http://schemas.microsoft.com/office/drawing/2014/main" id="{07061232-528F-6EBD-C37C-177F80309E51}"/>
              </a:ext>
            </a:extLst>
          </p:cNvPr>
          <p:cNvSpPr/>
          <p:nvPr/>
        </p:nvSpPr>
        <p:spPr>
          <a:xfrm rot="10800000" flipV="1">
            <a:off x="21188659" y="12501891"/>
            <a:ext cx="3429582" cy="1512168"/>
          </a:xfrm>
          <a:prstGeom prst="homePlate">
            <a:avLst/>
          </a:prstGeom>
          <a:solidFill>
            <a:srgbClr val="99663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solidFill>
                  <a:srgbClr val="F3E6D9"/>
                </a:solidFill>
              </a:rPr>
              <a:t>מטרה עיקרית</a:t>
            </a:r>
          </a:p>
        </p:txBody>
      </p:sp>
      <p:sp>
        <p:nvSpPr>
          <p:cNvPr id="90" name="משולש שווה-שוקיים 89">
            <a:extLst>
              <a:ext uri="{FF2B5EF4-FFF2-40B4-BE49-F238E27FC236}">
                <a16:creationId xmlns:a16="http://schemas.microsoft.com/office/drawing/2014/main" id="{BE6829DE-44BD-207F-8EA8-FB5BF1DCF365}"/>
              </a:ext>
            </a:extLst>
          </p:cNvPr>
          <p:cNvSpPr/>
          <p:nvPr/>
        </p:nvSpPr>
        <p:spPr>
          <a:xfrm rot="5400000" flipV="1">
            <a:off x="8826579" y="12818539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91" name="חץ: מחומש 90">
            <a:extLst>
              <a:ext uri="{FF2B5EF4-FFF2-40B4-BE49-F238E27FC236}">
                <a16:creationId xmlns:a16="http://schemas.microsoft.com/office/drawing/2014/main" id="{1A5CF29F-EFB7-B12F-93CE-52BCDA379AB6}"/>
              </a:ext>
            </a:extLst>
          </p:cNvPr>
          <p:cNvSpPr/>
          <p:nvPr/>
        </p:nvSpPr>
        <p:spPr>
          <a:xfrm rot="10800000" flipV="1">
            <a:off x="9340637" y="12501891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50000"/>
              </a:lnSpc>
            </a:pPr>
            <a:r>
              <a:rPr lang="he-IL" sz="2400" b="1" dirty="0">
                <a:solidFill>
                  <a:schemeClr val="tx1"/>
                </a:solidFill>
              </a:rPr>
              <a:t>חיפוש מידע בקטגוריה ספציפית</a:t>
            </a:r>
          </a:p>
        </p:txBody>
      </p:sp>
      <p:sp>
        <p:nvSpPr>
          <p:cNvPr id="93" name="משולש שווה-שוקיים 92">
            <a:extLst>
              <a:ext uri="{FF2B5EF4-FFF2-40B4-BE49-F238E27FC236}">
                <a16:creationId xmlns:a16="http://schemas.microsoft.com/office/drawing/2014/main" id="{BD738F18-353F-2F65-CC8A-9ED9CD5D537D}"/>
              </a:ext>
            </a:extLst>
          </p:cNvPr>
          <p:cNvSpPr/>
          <p:nvPr/>
        </p:nvSpPr>
        <p:spPr>
          <a:xfrm rot="5400000" flipV="1">
            <a:off x="12740695" y="12818537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F3E6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94" name="חץ: מחומש 93">
            <a:extLst>
              <a:ext uri="{FF2B5EF4-FFF2-40B4-BE49-F238E27FC236}">
                <a16:creationId xmlns:a16="http://schemas.microsoft.com/office/drawing/2014/main" id="{DD04AA7C-CA64-E10E-9518-95C7ECA580A1}"/>
              </a:ext>
            </a:extLst>
          </p:cNvPr>
          <p:cNvSpPr/>
          <p:nvPr/>
        </p:nvSpPr>
        <p:spPr>
          <a:xfrm rot="10800000" flipV="1">
            <a:off x="13233391" y="12501891"/>
            <a:ext cx="3429582" cy="1512168"/>
          </a:xfrm>
          <a:prstGeom prst="homePlate">
            <a:avLst/>
          </a:prstGeom>
          <a:solidFill>
            <a:srgbClr val="99663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solidFill>
                  <a:srgbClr val="F3E6D9"/>
                </a:solidFill>
              </a:rPr>
              <a:t>תהליכים</a:t>
            </a:r>
            <a:r>
              <a:rPr lang="he-IL" sz="2400" b="1" dirty="0">
                <a:solidFill>
                  <a:srgbClr val="F3E6D9"/>
                </a:solidFill>
              </a:rPr>
              <a:t> </a:t>
            </a:r>
          </a:p>
        </p:txBody>
      </p:sp>
      <p:sp>
        <p:nvSpPr>
          <p:cNvPr id="95" name="משולש שווה-שוקיים 94">
            <a:extLst>
              <a:ext uri="{FF2B5EF4-FFF2-40B4-BE49-F238E27FC236}">
                <a16:creationId xmlns:a16="http://schemas.microsoft.com/office/drawing/2014/main" id="{A9185D83-8663-7C9F-126B-3AC4BA3591B3}"/>
              </a:ext>
            </a:extLst>
          </p:cNvPr>
          <p:cNvSpPr/>
          <p:nvPr/>
        </p:nvSpPr>
        <p:spPr>
          <a:xfrm rot="5400000" flipV="1">
            <a:off x="736712" y="12794894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96" name="חץ: מחומש 95">
            <a:extLst>
              <a:ext uri="{FF2B5EF4-FFF2-40B4-BE49-F238E27FC236}">
                <a16:creationId xmlns:a16="http://schemas.microsoft.com/office/drawing/2014/main" id="{606B9C91-3879-6025-736A-0395AB12253E}"/>
              </a:ext>
            </a:extLst>
          </p:cNvPr>
          <p:cNvSpPr/>
          <p:nvPr/>
        </p:nvSpPr>
        <p:spPr>
          <a:xfrm rot="10800000" flipV="1">
            <a:off x="1250770" y="12478246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94% מהנשאלות השיבו כי אתר ייעודי יכול לסייע להן.</a:t>
            </a:r>
            <a:endParaRPr lang="he-IL" sz="2800" b="1" dirty="0">
              <a:solidFill>
                <a:schemeClr val="tx1"/>
              </a:solidFill>
            </a:endParaRPr>
          </a:p>
        </p:txBody>
      </p:sp>
      <p:sp>
        <p:nvSpPr>
          <p:cNvPr id="97" name="משולש שווה-שוקיים 96">
            <a:extLst>
              <a:ext uri="{FF2B5EF4-FFF2-40B4-BE49-F238E27FC236}">
                <a16:creationId xmlns:a16="http://schemas.microsoft.com/office/drawing/2014/main" id="{4B3CCE91-AF42-AFAB-B28F-F4207FEC7FC7}"/>
              </a:ext>
            </a:extLst>
          </p:cNvPr>
          <p:cNvSpPr/>
          <p:nvPr/>
        </p:nvSpPr>
        <p:spPr>
          <a:xfrm rot="5400000" flipV="1">
            <a:off x="4781059" y="12794892"/>
            <a:ext cx="1512168" cy="878875"/>
          </a:xfrm>
          <a:prstGeom prst="triangle">
            <a:avLst>
              <a:gd name="adj" fmla="val 49328"/>
            </a:avLst>
          </a:prstGeom>
          <a:solidFill>
            <a:srgbClr val="9966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3E6D9"/>
              </a:solidFill>
            </a:endParaRPr>
          </a:p>
        </p:txBody>
      </p:sp>
      <p:sp>
        <p:nvSpPr>
          <p:cNvPr id="98" name="חץ: מחומש 97">
            <a:extLst>
              <a:ext uri="{FF2B5EF4-FFF2-40B4-BE49-F238E27FC236}">
                <a16:creationId xmlns:a16="http://schemas.microsoft.com/office/drawing/2014/main" id="{FB2D2695-447E-BD8F-C731-A00DAE7D3EAD}"/>
              </a:ext>
            </a:extLst>
          </p:cNvPr>
          <p:cNvSpPr/>
          <p:nvPr/>
        </p:nvSpPr>
        <p:spPr>
          <a:xfrm rot="10800000" flipV="1">
            <a:off x="5273755" y="12478246"/>
            <a:ext cx="3429582" cy="1512168"/>
          </a:xfrm>
          <a:prstGeom prst="homePlate">
            <a:avLst/>
          </a:prstGeom>
          <a:solidFill>
            <a:srgbClr val="F3E6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chemeClr val="tx1"/>
                </a:solidFill>
              </a:rPr>
              <a:t>ניהול קשר עם אימהות אחרות</a:t>
            </a:r>
          </a:p>
        </p:txBody>
      </p:sp>
      <p:pic>
        <p:nvPicPr>
          <p:cNvPr id="115" name="תמונה 114">
            <a:extLst>
              <a:ext uri="{FF2B5EF4-FFF2-40B4-BE49-F238E27FC236}">
                <a16:creationId xmlns:a16="http://schemas.microsoft.com/office/drawing/2014/main" id="{7B269DAA-87E7-B4BA-2763-5C94ACCBE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8699" y="14814528"/>
            <a:ext cx="6035494" cy="4512842"/>
          </a:xfrm>
          <a:prstGeom prst="rect">
            <a:avLst/>
          </a:prstGeom>
        </p:spPr>
      </p:pic>
      <p:pic>
        <p:nvPicPr>
          <p:cNvPr id="117" name="תמונה 116">
            <a:extLst>
              <a:ext uri="{FF2B5EF4-FFF2-40B4-BE49-F238E27FC236}">
                <a16:creationId xmlns:a16="http://schemas.microsoft.com/office/drawing/2014/main" id="{9331B22E-4BBA-FE70-4AAD-0018FE41D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5208" y="14813778"/>
            <a:ext cx="6077666" cy="4512842"/>
          </a:xfrm>
          <a:prstGeom prst="rect">
            <a:avLst/>
          </a:prstGeom>
        </p:spPr>
      </p:pic>
      <p:pic>
        <p:nvPicPr>
          <p:cNvPr id="119" name="תמונה 118">
            <a:extLst>
              <a:ext uri="{FF2B5EF4-FFF2-40B4-BE49-F238E27FC236}">
                <a16:creationId xmlns:a16="http://schemas.microsoft.com/office/drawing/2014/main" id="{4F47217E-04F3-A0CC-023A-98EB675017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440" y="14802537"/>
            <a:ext cx="6094855" cy="4524083"/>
          </a:xfrm>
          <a:prstGeom prst="rect">
            <a:avLst/>
          </a:prstGeom>
        </p:spPr>
      </p:pic>
      <p:pic>
        <p:nvPicPr>
          <p:cNvPr id="121" name="תמונה 120">
            <a:extLst>
              <a:ext uri="{FF2B5EF4-FFF2-40B4-BE49-F238E27FC236}">
                <a16:creationId xmlns:a16="http://schemas.microsoft.com/office/drawing/2014/main" id="{91690A28-CD0C-86C2-684B-1D9EAB3844B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3"/>
          <a:stretch/>
        </p:blipFill>
        <p:spPr>
          <a:xfrm>
            <a:off x="153931" y="14802537"/>
            <a:ext cx="6524518" cy="4512842"/>
          </a:xfrm>
          <a:prstGeom prst="rect">
            <a:avLst/>
          </a:prstGeom>
        </p:spPr>
      </p:pic>
      <p:sp>
        <p:nvSpPr>
          <p:cNvPr id="113" name="תיבת טקסט 112">
            <a:extLst>
              <a:ext uri="{FF2B5EF4-FFF2-40B4-BE49-F238E27FC236}">
                <a16:creationId xmlns:a16="http://schemas.microsoft.com/office/drawing/2014/main" id="{99A76464-FCA6-56CA-3E3A-76EBBE5AA8CF}"/>
              </a:ext>
            </a:extLst>
          </p:cNvPr>
          <p:cNvSpPr txBox="1"/>
          <p:nvPr/>
        </p:nvSpPr>
        <p:spPr>
          <a:xfrm>
            <a:off x="6797440" y="14183064"/>
            <a:ext cx="18246753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5. דרישות אתר מוצעות</a:t>
            </a:r>
          </a:p>
        </p:txBody>
      </p:sp>
      <p:sp>
        <p:nvSpPr>
          <p:cNvPr id="122" name="תיבת טקסט 121">
            <a:extLst>
              <a:ext uri="{FF2B5EF4-FFF2-40B4-BE49-F238E27FC236}">
                <a16:creationId xmlns:a16="http://schemas.microsoft.com/office/drawing/2014/main" id="{17DFA485-1DD2-9E3E-2B74-C95212B67507}"/>
              </a:ext>
            </a:extLst>
          </p:cNvPr>
          <p:cNvSpPr txBox="1"/>
          <p:nvPr/>
        </p:nvSpPr>
        <p:spPr>
          <a:xfrm>
            <a:off x="153930" y="14167623"/>
            <a:ext cx="6511605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6. חקר ישימות</a:t>
            </a:r>
          </a:p>
        </p:txBody>
      </p:sp>
      <p:pic>
        <p:nvPicPr>
          <p:cNvPr id="125" name="תמונה 124">
            <a:extLst>
              <a:ext uri="{FF2B5EF4-FFF2-40B4-BE49-F238E27FC236}">
                <a16:creationId xmlns:a16="http://schemas.microsoft.com/office/drawing/2014/main" id="{F26E8803-D3FA-379B-99B3-34B504AFCED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" r="3532"/>
          <a:stretch/>
        </p:blipFill>
        <p:spPr>
          <a:xfrm>
            <a:off x="18886757" y="19931147"/>
            <a:ext cx="6127379" cy="4831408"/>
          </a:xfrm>
          <a:prstGeom prst="rect">
            <a:avLst/>
          </a:prstGeom>
        </p:spPr>
      </p:pic>
      <p:pic>
        <p:nvPicPr>
          <p:cNvPr id="127" name="תמונה 126">
            <a:extLst>
              <a:ext uri="{FF2B5EF4-FFF2-40B4-BE49-F238E27FC236}">
                <a16:creationId xmlns:a16="http://schemas.microsoft.com/office/drawing/2014/main" id="{0BA69B3F-D36E-5234-34E8-910684B279A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"/>
          <a:stretch/>
        </p:blipFill>
        <p:spPr>
          <a:xfrm>
            <a:off x="12573231" y="19938675"/>
            <a:ext cx="6332769" cy="4823879"/>
          </a:xfrm>
          <a:prstGeom prst="rect">
            <a:avLst/>
          </a:prstGeom>
        </p:spPr>
      </p:pic>
      <p:pic>
        <p:nvPicPr>
          <p:cNvPr id="129" name="תמונה 128">
            <a:extLst>
              <a:ext uri="{FF2B5EF4-FFF2-40B4-BE49-F238E27FC236}">
                <a16:creationId xmlns:a16="http://schemas.microsoft.com/office/drawing/2014/main" id="{2ABD2FAC-DDCE-2D33-386A-E74FF37574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" r="2922"/>
          <a:stretch/>
        </p:blipFill>
        <p:spPr>
          <a:xfrm>
            <a:off x="6418997" y="19938675"/>
            <a:ext cx="6154234" cy="4823879"/>
          </a:xfrm>
          <a:prstGeom prst="rect">
            <a:avLst/>
          </a:prstGeom>
        </p:spPr>
      </p:pic>
      <p:pic>
        <p:nvPicPr>
          <p:cNvPr id="131" name="תמונה 130">
            <a:extLst>
              <a:ext uri="{FF2B5EF4-FFF2-40B4-BE49-F238E27FC236}">
                <a16:creationId xmlns:a16="http://schemas.microsoft.com/office/drawing/2014/main" id="{137466FA-8FE3-0E2B-A5C6-0996BF6A6D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32" y="19931146"/>
            <a:ext cx="6311164" cy="4831408"/>
          </a:xfrm>
          <a:prstGeom prst="rect">
            <a:avLst/>
          </a:prstGeom>
        </p:spPr>
      </p:pic>
      <p:sp>
        <p:nvSpPr>
          <p:cNvPr id="123" name="תיבת טקסט 122">
            <a:extLst>
              <a:ext uri="{FF2B5EF4-FFF2-40B4-BE49-F238E27FC236}">
                <a16:creationId xmlns:a16="http://schemas.microsoft.com/office/drawing/2014/main" id="{2C995270-2380-A309-78EF-84FD764D0325}"/>
              </a:ext>
            </a:extLst>
          </p:cNvPr>
          <p:cNvSpPr txBox="1"/>
          <p:nvPr/>
        </p:nvSpPr>
        <p:spPr>
          <a:xfrm>
            <a:off x="153930" y="19302963"/>
            <a:ext cx="24890263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7. אב טיפוס – עיצוב מסכים</a:t>
            </a:r>
          </a:p>
        </p:txBody>
      </p:sp>
      <p:pic>
        <p:nvPicPr>
          <p:cNvPr id="134" name="תמונה 133">
            <a:extLst>
              <a:ext uri="{FF2B5EF4-FFF2-40B4-BE49-F238E27FC236}">
                <a16:creationId xmlns:a16="http://schemas.microsoft.com/office/drawing/2014/main" id="{EA7188F2-D135-59D7-7E0C-6FF552B452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6126" y="25352331"/>
            <a:ext cx="6348010" cy="4831499"/>
          </a:xfrm>
          <a:prstGeom prst="rect">
            <a:avLst/>
          </a:prstGeom>
        </p:spPr>
      </p:pic>
      <p:pic>
        <p:nvPicPr>
          <p:cNvPr id="136" name="תמונה 135">
            <a:extLst>
              <a:ext uri="{FF2B5EF4-FFF2-40B4-BE49-F238E27FC236}">
                <a16:creationId xmlns:a16="http://schemas.microsoft.com/office/drawing/2014/main" id="{899D39F1-8149-9BDF-BBFE-F94458EA65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136" y="25359952"/>
            <a:ext cx="6256562" cy="4831498"/>
          </a:xfrm>
          <a:prstGeom prst="rect">
            <a:avLst/>
          </a:prstGeom>
        </p:spPr>
      </p:pic>
      <p:pic>
        <p:nvPicPr>
          <p:cNvPr id="138" name="תמונה 137">
            <a:extLst>
              <a:ext uri="{FF2B5EF4-FFF2-40B4-BE49-F238E27FC236}">
                <a16:creationId xmlns:a16="http://schemas.microsoft.com/office/drawing/2014/main" id="{B318A3B5-8041-F3BA-CFD0-F231010A2B4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938" y="25359952"/>
            <a:ext cx="6309907" cy="4831408"/>
          </a:xfrm>
          <a:prstGeom prst="rect">
            <a:avLst/>
          </a:prstGeom>
        </p:spPr>
      </p:pic>
      <p:pic>
        <p:nvPicPr>
          <p:cNvPr id="140" name="תמונה 139">
            <a:extLst>
              <a:ext uri="{FF2B5EF4-FFF2-40B4-BE49-F238E27FC236}">
                <a16:creationId xmlns:a16="http://schemas.microsoft.com/office/drawing/2014/main" id="{AADDECC2-7CCA-4D2C-7C39-DF642FF907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22" y="25359952"/>
            <a:ext cx="6262512" cy="4831408"/>
          </a:xfrm>
          <a:prstGeom prst="rect">
            <a:avLst/>
          </a:prstGeom>
        </p:spPr>
      </p:pic>
      <p:pic>
        <p:nvPicPr>
          <p:cNvPr id="143" name="תמונה 142" descr="תמונה שמכילה טקסט, צילום מסך, פני אדם&#10;&#10;התיאור נוצר באופן אוטומטי">
            <a:extLst>
              <a:ext uri="{FF2B5EF4-FFF2-40B4-BE49-F238E27FC236}">
                <a16:creationId xmlns:a16="http://schemas.microsoft.com/office/drawing/2014/main" id="{35B7516C-EA46-814F-9CBC-632CE7A3991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145" y="25522711"/>
            <a:ext cx="6526857" cy="4570403"/>
          </a:xfrm>
          <a:prstGeom prst="rect">
            <a:avLst/>
          </a:prstGeom>
        </p:spPr>
      </p:pic>
      <p:sp>
        <p:nvSpPr>
          <p:cNvPr id="132" name="תיבת טקסט 131">
            <a:extLst>
              <a:ext uri="{FF2B5EF4-FFF2-40B4-BE49-F238E27FC236}">
                <a16:creationId xmlns:a16="http://schemas.microsoft.com/office/drawing/2014/main" id="{40E85157-C533-5464-00EC-8AC00724F268}"/>
              </a:ext>
            </a:extLst>
          </p:cNvPr>
          <p:cNvSpPr txBox="1"/>
          <p:nvPr/>
        </p:nvSpPr>
        <p:spPr>
          <a:xfrm>
            <a:off x="140022" y="24739519"/>
            <a:ext cx="24890263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7. אב טיפוס – עיצוב מסכים- המשך</a:t>
            </a:r>
          </a:p>
        </p:txBody>
      </p:sp>
      <p:sp>
        <p:nvSpPr>
          <p:cNvPr id="141" name="תיבת טקסט 140">
            <a:extLst>
              <a:ext uri="{FF2B5EF4-FFF2-40B4-BE49-F238E27FC236}">
                <a16:creationId xmlns:a16="http://schemas.microsoft.com/office/drawing/2014/main" id="{C21AA511-6C5F-9C3D-39A1-C04C0B3025C9}"/>
              </a:ext>
            </a:extLst>
          </p:cNvPr>
          <p:cNvSpPr txBox="1"/>
          <p:nvPr/>
        </p:nvSpPr>
        <p:spPr>
          <a:xfrm>
            <a:off x="12460136" y="30181119"/>
            <a:ext cx="12554000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8. סיכום - האתר יאפשר:</a:t>
            </a:r>
          </a:p>
        </p:txBody>
      </p:sp>
      <p:sp>
        <p:nvSpPr>
          <p:cNvPr id="13" name="חץ: סוגר זוויתי 462">
            <a:extLst>
              <a:ext uri="{FF2B5EF4-FFF2-40B4-BE49-F238E27FC236}">
                <a16:creationId xmlns:a16="http://schemas.microsoft.com/office/drawing/2014/main" id="{93AFDF02-B4D5-E167-89A3-8A8C55B2AEA2}"/>
              </a:ext>
            </a:extLst>
          </p:cNvPr>
          <p:cNvSpPr/>
          <p:nvPr/>
        </p:nvSpPr>
        <p:spPr>
          <a:xfrm rot="10800000">
            <a:off x="11807898" y="30915455"/>
            <a:ext cx="13149141" cy="1957465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3200" b="1" dirty="0">
              <a:sym typeface="Arial"/>
            </a:endParaRPr>
          </a:p>
        </p:txBody>
      </p:sp>
      <p:sp>
        <p:nvSpPr>
          <p:cNvPr id="14" name="TextBox 174">
            <a:extLst>
              <a:ext uri="{FF2B5EF4-FFF2-40B4-BE49-F238E27FC236}">
                <a16:creationId xmlns:a16="http://schemas.microsoft.com/office/drawing/2014/main" id="{67E094B7-E5EA-A607-8F07-F8BF8BD0DC7B}"/>
              </a:ext>
            </a:extLst>
          </p:cNvPr>
          <p:cNvSpPr txBox="1"/>
          <p:nvPr/>
        </p:nvSpPr>
        <p:spPr>
          <a:xfrm>
            <a:off x="13233390" y="31189087"/>
            <a:ext cx="10500532" cy="14388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pPr marL="571500" indent="-571500" rtl="1">
              <a:lnSpc>
                <a:spcPts val="3500"/>
              </a:lnSpc>
              <a:buFont typeface="Wingdings" panose="05000000000000000000" pitchFamily="2" charset="2"/>
              <a:buChar char="ü"/>
            </a:pPr>
            <a:r>
              <a:rPr lang="he-IL" sz="3600" b="1" dirty="0">
                <a:latin typeface="Arial" panose="020B0604020202020204" pitchFamily="34" charset="0"/>
                <a:cs typeface="Arial" panose="020B0604020202020204" pitchFamily="34" charset="0"/>
              </a:rPr>
              <a:t>איתור מידע נחוץ </a:t>
            </a:r>
            <a:r>
              <a:rPr lang="he-IL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לאמהות</a:t>
            </a:r>
            <a:r>
              <a:rPr lang="he-IL" sz="3600" b="1" dirty="0">
                <a:latin typeface="Arial" panose="020B0604020202020204" pitchFamily="34" charset="0"/>
                <a:cs typeface="Arial" panose="020B0604020202020204" pitchFamily="34" charset="0"/>
              </a:rPr>
              <a:t> צעירות במגזר הבדואי</a:t>
            </a:r>
          </a:p>
          <a:p>
            <a:pPr marL="571500" indent="-571500">
              <a:lnSpc>
                <a:spcPts val="3500"/>
              </a:lnSpc>
              <a:buFont typeface="Wingdings" panose="05000000000000000000" pitchFamily="2" charset="2"/>
              <a:buChar char="ü"/>
            </a:pPr>
            <a:r>
              <a:rPr lang="he-IL" sz="3600" b="1" dirty="0"/>
              <a:t>העברת מידע בין משתמשות</a:t>
            </a:r>
          </a:p>
          <a:p>
            <a:pPr marL="571500" indent="-571500">
              <a:lnSpc>
                <a:spcPts val="3500"/>
              </a:lnSpc>
              <a:buFont typeface="Wingdings" panose="05000000000000000000" pitchFamily="2" charset="2"/>
              <a:buChar char="ü"/>
            </a:pPr>
            <a:r>
              <a:rPr lang="he-IL" sz="3600" b="1" dirty="0"/>
              <a:t>חיפוש מידע בקטגוריה ספציפית  </a:t>
            </a:r>
            <a:endParaRPr lang="he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חץ: סוגר זוויתי 462">
            <a:extLst>
              <a:ext uri="{FF2B5EF4-FFF2-40B4-BE49-F238E27FC236}">
                <a16:creationId xmlns:a16="http://schemas.microsoft.com/office/drawing/2014/main" id="{1D6E85FD-1927-C4F4-EE40-477219DCDBD5}"/>
              </a:ext>
            </a:extLst>
          </p:cNvPr>
          <p:cNvSpPr/>
          <p:nvPr/>
        </p:nvSpPr>
        <p:spPr>
          <a:xfrm rot="10800000">
            <a:off x="-48110" y="30931714"/>
            <a:ext cx="11588004" cy="2068086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3200" b="1" dirty="0">
              <a:sym typeface="Arial"/>
            </a:endParaRP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DD1A3089-4BC5-6AD6-0D9B-F53E9C55D5A8}"/>
              </a:ext>
            </a:extLst>
          </p:cNvPr>
          <p:cNvSpPr txBox="1"/>
          <p:nvPr/>
        </p:nvSpPr>
        <p:spPr>
          <a:xfrm>
            <a:off x="185839" y="30201645"/>
            <a:ext cx="12212200" cy="646331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rgbClr val="F3E6D9"/>
                </a:solidFill>
              </a:rPr>
              <a:t>9. המלצות </a:t>
            </a:r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DBCB92AC-DC5F-7A37-F23F-AD00D145FE00}"/>
              </a:ext>
            </a:extLst>
          </p:cNvPr>
          <p:cNvSpPr txBox="1"/>
          <p:nvPr/>
        </p:nvSpPr>
        <p:spPr>
          <a:xfrm>
            <a:off x="-2519065" y="31140141"/>
            <a:ext cx="13614215" cy="16401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he-IL" sz="3600" b="1" dirty="0">
                <a:latin typeface="Arial" panose="020B0604020202020204" pitchFamily="34" charset="0"/>
                <a:cs typeface="Arial" panose="020B0604020202020204" pitchFamily="34" charset="0"/>
              </a:rPr>
              <a:t>איתור משקיע/ים להשלמת פיתוח האתר  </a:t>
            </a:r>
          </a:p>
          <a:p>
            <a:pPr marL="342900" indent="-342900" algn="r" rt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he-IL" sz="3600" b="1" dirty="0">
                <a:latin typeface="Arial" panose="020B0604020202020204" pitchFamily="34" charset="0"/>
                <a:cs typeface="Arial" panose="020B0604020202020204" pitchFamily="34" charset="0"/>
              </a:rPr>
              <a:t>בנית תוכנית עסקית לניהול וקידום האתר. </a:t>
            </a:r>
          </a:p>
          <a:p>
            <a:pPr marL="342900" indent="-342900" algn="r" rt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he-IL" sz="3600" b="1" dirty="0"/>
              <a:t>תכנון פיילוט משולב</a:t>
            </a:r>
          </a:p>
          <a:p>
            <a:pPr marL="342900" indent="-342900" algn="r" rtl="1">
              <a:lnSpc>
                <a:spcPts val="3000"/>
              </a:lnSpc>
              <a:buFont typeface="Wingdings" panose="05000000000000000000" pitchFamily="2" charset="2"/>
              <a:buChar char="ü"/>
            </a:pPr>
            <a:r>
              <a:rPr lang="he-IL" sz="3600" b="1" dirty="0"/>
              <a:t>פרסום האתר </a:t>
            </a:r>
            <a:r>
              <a:rPr lang="he-IL" sz="3600" b="1" dirty="0" err="1"/>
              <a:t>בפייסבוק</a:t>
            </a:r>
            <a:r>
              <a:rPr lang="he-IL" sz="3600" b="1" dirty="0"/>
              <a:t> ובאמצעי מדיה  נוספים במגזר.</a:t>
            </a:r>
            <a:endParaRPr lang="he-I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89D6F96D-002F-0F29-4DAB-269314FDADBD}"/>
              </a:ext>
            </a:extLst>
          </p:cNvPr>
          <p:cNvSpPr txBox="1"/>
          <p:nvPr/>
        </p:nvSpPr>
        <p:spPr>
          <a:xfrm>
            <a:off x="239116" y="32979274"/>
            <a:ext cx="24890263" cy="2862322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endParaRPr lang="he-IL" sz="3600" b="1" dirty="0">
              <a:solidFill>
                <a:srgbClr val="F3E6D9"/>
              </a:solidFill>
            </a:endParaRPr>
          </a:p>
          <a:p>
            <a:pPr algn="ctr"/>
            <a:endParaRPr lang="he-IL" sz="3600" b="1" dirty="0">
              <a:solidFill>
                <a:srgbClr val="F3E6D9"/>
              </a:solidFill>
            </a:endParaRPr>
          </a:p>
          <a:p>
            <a:pPr algn="ctr"/>
            <a:endParaRPr lang="he-IL" sz="3600" b="1" dirty="0">
              <a:solidFill>
                <a:srgbClr val="F3E6D9"/>
              </a:solidFill>
            </a:endParaRPr>
          </a:p>
          <a:p>
            <a:pPr algn="ctr"/>
            <a:endParaRPr lang="he-IL" sz="3600" b="1" dirty="0">
              <a:solidFill>
                <a:srgbClr val="F3E6D9"/>
              </a:solidFill>
            </a:endParaRPr>
          </a:p>
          <a:p>
            <a:pPr algn="ctr"/>
            <a:endParaRPr lang="he-IL" sz="3600" b="1" dirty="0">
              <a:solidFill>
                <a:srgbClr val="F3E6D9"/>
              </a:solidFill>
            </a:endParaRPr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B7725C5A-0114-7788-D3F3-1FD9699E8E71}"/>
              </a:ext>
            </a:extLst>
          </p:cNvPr>
          <p:cNvSpPr txBox="1"/>
          <p:nvPr/>
        </p:nvSpPr>
        <p:spPr>
          <a:xfrm>
            <a:off x="292422" y="33651119"/>
            <a:ext cx="24721714" cy="2048766"/>
          </a:xfrm>
          <a:prstGeom prst="rect">
            <a:avLst/>
          </a:prstGeom>
          <a:noFill/>
        </p:spPr>
        <p:txBody>
          <a:bodyPr vert="horz" wrap="square" lIns="91440" tIns="45720" rIns="91440" bIns="45720" rtlCol="1">
            <a:spAutoFit/>
          </a:bodyPr>
          <a:lstStyle>
            <a:defPPr>
              <a:defRPr lang="en-US"/>
            </a:defPPr>
            <a:lvl1pPr indent="0" algn="ct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u="sng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143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0574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5146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 algn="r" defTabSz="914400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he-IL" sz="6600" dirty="0">
                <a:solidFill>
                  <a:schemeClr val="bg1"/>
                </a:solidFill>
              </a:rPr>
              <a:t>אב הטיפוס הוצג לקבוצת מיקוד של </a:t>
            </a:r>
            <a:r>
              <a:rPr lang="he-IL" sz="6600" dirty="0" err="1">
                <a:solidFill>
                  <a:schemeClr val="bg1"/>
                </a:solidFill>
              </a:rPr>
              <a:t>אמהות</a:t>
            </a:r>
            <a:r>
              <a:rPr lang="he-IL" sz="6600" dirty="0">
                <a:solidFill>
                  <a:schemeClr val="bg1"/>
                </a:solidFill>
              </a:rPr>
              <a:t> צעירות וקיבל משוב חיובי</a:t>
            </a:r>
          </a:p>
          <a:p>
            <a:r>
              <a:rPr lang="he-IL" sz="6600" dirty="0">
                <a:solidFill>
                  <a:schemeClr val="bg1"/>
                </a:solidFill>
              </a:rPr>
              <a:t>תהליך איתור משקיעים החל.   </a:t>
            </a:r>
          </a:p>
        </p:txBody>
      </p:sp>
    </p:spTree>
    <p:extLst>
      <p:ext uri="{BB962C8B-B14F-4D97-AF65-F5344CB8AC3E}">
        <p14:creationId xmlns:p14="http://schemas.microsoft.com/office/powerpoint/2010/main" val="284257783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376</Words>
  <Application>Microsoft Office PowerPoint</Application>
  <PresentationFormat>מותאם אישית</PresentationFormat>
  <Paragraphs>52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ערכת נושא Office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Alex Shenkman</dc:creator>
  <cp:lastModifiedBy>Tamar Navon</cp:lastModifiedBy>
  <cp:revision>130</cp:revision>
  <dcterms:created xsi:type="dcterms:W3CDTF">2012-05-20T16:32:28Z</dcterms:created>
  <dcterms:modified xsi:type="dcterms:W3CDTF">2024-06-16T18:28:50Z</dcterms:modified>
</cp:coreProperties>
</file>