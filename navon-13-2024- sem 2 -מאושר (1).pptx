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8.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3660" r:id="rId4"/>
  </p:sldMasterIdLst>
  <p:notesMasterIdLst>
    <p:notesMasterId r:id="rId26"/>
  </p:notesMasterIdLst>
  <p:sldIdLst>
    <p:sldId id="257" r:id="rId5"/>
    <p:sldId id="258" r:id="rId6"/>
    <p:sldId id="259" r:id="rId7"/>
    <p:sldId id="270" r:id="rId8"/>
    <p:sldId id="260" r:id="rId9"/>
    <p:sldId id="261" r:id="rId10"/>
    <p:sldId id="269" r:id="rId11"/>
    <p:sldId id="268" r:id="rId12"/>
    <p:sldId id="263" r:id="rId13"/>
    <p:sldId id="264" r:id="rId14"/>
    <p:sldId id="265" r:id="rId15"/>
    <p:sldId id="271" r:id="rId16"/>
    <p:sldId id="272" r:id="rId17"/>
    <p:sldId id="280" r:id="rId18"/>
    <p:sldId id="277" r:id="rId19"/>
    <p:sldId id="274" r:id="rId20"/>
    <p:sldId id="278" r:id="rId21"/>
    <p:sldId id="279" r:id="rId22"/>
    <p:sldId id="266" r:id="rId23"/>
    <p:sldId id="275" r:id="rId24"/>
    <p:sldId id="276"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379" autoAdjust="0"/>
    <p:restoredTop sz="95847" autoAdjust="0"/>
  </p:normalViewPr>
  <p:slideViewPr>
    <p:cSldViewPr snapToGrid="0">
      <p:cViewPr varScale="1">
        <p:scale>
          <a:sx n="63" d="100"/>
          <a:sy n="63" d="100"/>
        </p:scale>
        <p:origin x="1648" y="44"/>
      </p:cViewPr>
      <p:guideLst/>
    </p:cSldViewPr>
  </p:slideViewPr>
  <p:notesTextViewPr>
    <p:cViewPr>
      <p:scale>
        <a:sx n="1" d="1"/>
        <a:sy n="1" d="1"/>
      </p:scale>
      <p:origin x="0" y="0"/>
    </p:cViewPr>
  </p:notesTextViewPr>
  <p:notesViewPr>
    <p:cSldViewPr snapToGrid="0">
      <p:cViewPr varScale="1">
        <p:scale>
          <a:sx n="75" d="100"/>
          <a:sy n="75" d="100"/>
        </p:scale>
        <p:origin x="2938" y="5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c5cb140357f4f39d/&#1513;&#1493;&#1500;&#1495;&#1503;%20&#1492;&#1506;&#1489;&#1493;&#1491;&#1492;/&#1505;&#1511;&#1512;%20&#1500;&#1497;&#1502;&#1492;&#1493;&#1514;%20&#1495;&#1491;&#1513;&#1493;&#1514;%20(&#1514;&#1490;&#1493;&#1489;&#1493;&#1514;).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c5cb140357f4f39d/&#1513;&#1493;&#1500;&#1495;&#1503;%20&#1492;&#1506;&#1489;&#1493;&#1491;&#1492;/&#1505;&#1511;&#1512;%20&#1500;&#1497;&#1502;&#1492;&#1493;&#1514;%20&#1495;&#1491;&#1513;&#1493;&#1514;%20(&#1514;&#1490;&#1493;&#1489;&#1493;&#1514;).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spPr>
            <a:solidFill>
              <a:schemeClr val="accent1"/>
            </a:solidFill>
            <a:ln>
              <a:noFill/>
            </a:ln>
            <a:effectLst/>
          </c:spPr>
          <c:invertIfNegative val="0"/>
          <c:dLbls>
            <c:dLbl>
              <c:idx val="0"/>
              <c:tx>
                <c:rich>
                  <a:bodyPr rot="0" spcFirstLastPara="1" vertOverflow="ellipsis" vert="horz" wrap="square" lIns="38100" tIns="19050" rIns="38100" bIns="19050" anchor="ctr" anchorCtr="1">
                    <a:spAutoFit/>
                  </a:bodyPr>
                  <a:lstStyle/>
                  <a:p>
                    <a:pPr>
                      <a:defRPr sz="2400" b="1" i="0" u="none" strike="noStrike" kern="1200" baseline="0">
                        <a:solidFill>
                          <a:schemeClr val="tx1"/>
                        </a:solidFill>
                        <a:latin typeface="+mn-lt"/>
                        <a:ea typeface="+mn-ea"/>
                        <a:cs typeface="+mn-cs"/>
                      </a:defRPr>
                    </a:pPr>
                    <a:r>
                      <a:rPr lang="en-US" sz="2400"/>
                      <a:t>76%</a:t>
                    </a:r>
                  </a:p>
                </c:rich>
              </c:tx>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chemeClr val="tx1"/>
                      </a:solidFill>
                      <a:latin typeface="+mn-lt"/>
                      <a:ea typeface="+mn-ea"/>
                      <a:cs typeface="+mn-cs"/>
                    </a:defRPr>
                  </a:pPr>
                  <a:endParaRPr lang="he-IL"/>
                </a:p>
              </c:txPr>
              <c:dLblPos val="ctr"/>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381-4A2B-A1A5-8269B92F51D3}"/>
                </c:ext>
              </c:extLst>
            </c:dLbl>
            <c:dLbl>
              <c:idx val="1"/>
              <c:layout>
                <c:manualLayout>
                  <c:x val="0"/>
                  <c:y val="-1.4897325754074422E-2"/>
                </c:manualLayout>
              </c:layout>
              <c:tx>
                <c:rich>
                  <a:bodyPr rot="0" spcFirstLastPara="1" vertOverflow="ellipsis" vert="horz" wrap="square" lIns="38100" tIns="19050" rIns="38100" bIns="19050" anchor="ctr" anchorCtr="1">
                    <a:spAutoFit/>
                  </a:bodyPr>
                  <a:lstStyle/>
                  <a:p>
                    <a:pPr>
                      <a:defRPr sz="2400" b="1" i="0" u="none" strike="noStrike" kern="1200" baseline="0">
                        <a:solidFill>
                          <a:schemeClr val="tx1"/>
                        </a:solidFill>
                        <a:latin typeface="+mn-lt"/>
                        <a:ea typeface="+mn-ea"/>
                        <a:cs typeface="+mn-cs"/>
                      </a:defRPr>
                    </a:pPr>
                    <a:r>
                      <a:rPr lang="he-IL" sz="2000" dirty="0"/>
                      <a:t>אמא חדשה</a:t>
                    </a:r>
                  </a:p>
                  <a:p>
                    <a:pPr>
                      <a:defRPr sz="2400"/>
                    </a:pPr>
                    <a:r>
                      <a:rPr lang="he-IL" sz="2400" baseline="0" dirty="0"/>
                      <a:t> </a:t>
                    </a:r>
                    <a:fld id="{D1A7C05D-54BA-4381-B95A-CD6CE91EC705}" type="VALUE">
                      <a:rPr lang="en-US" sz="2400" baseline="0"/>
                      <a:pPr>
                        <a:defRPr sz="2400"/>
                      </a:pPr>
                      <a:t>[ערך]</a:t>
                    </a:fld>
                    <a:endParaRPr lang="he-IL" sz="2400" baseline="0" dirty="0"/>
                  </a:p>
                </c:rich>
              </c:tx>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chemeClr val="tx1"/>
                      </a:solidFill>
                      <a:latin typeface="+mn-lt"/>
                      <a:ea typeface="+mn-ea"/>
                      <a:cs typeface="+mn-cs"/>
                    </a:defRPr>
                  </a:pPr>
                  <a:endParaRPr lang="he-IL"/>
                </a:p>
              </c:txPr>
              <c:dLblPos val="ct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8381-4A2B-A1A5-8269B92F51D3}"/>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he-IL"/>
              </a:p>
            </c:txPr>
            <c:dLblPos val="ctr"/>
            <c:showLegendKey val="0"/>
            <c:showVal val="1"/>
            <c:showCatName val="1"/>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'גיל- מול ילד ראשון'!$D$118:$D$119</c:f>
              <c:strCache>
                <c:ptCount val="2"/>
                <c:pt idx="0">
                  <c:v>18-25/+26</c:v>
                </c:pt>
                <c:pt idx="1">
                  <c:v>אמא חדשה/ותיקה</c:v>
                </c:pt>
              </c:strCache>
            </c:strRef>
          </c:cat>
          <c:val>
            <c:numRef>
              <c:f>'גיל- מול ילד ראשון'!$E$118:$E$119</c:f>
              <c:numCache>
                <c:formatCode>0%</c:formatCode>
                <c:ptCount val="2"/>
                <c:pt idx="0">
                  <c:v>0.76</c:v>
                </c:pt>
                <c:pt idx="1">
                  <c:v>0.77981651376146788</c:v>
                </c:pt>
              </c:numCache>
            </c:numRef>
          </c:val>
          <c:extLst>
            <c:ext xmlns:c16="http://schemas.microsoft.com/office/drawing/2014/chart" uri="{C3380CC4-5D6E-409C-BE32-E72D297353CC}">
              <c16:uniqueId val="{00000000-EF4F-4C0F-B32B-741A578C8CAB}"/>
            </c:ext>
          </c:extLst>
        </c:ser>
        <c:ser>
          <c:idx val="1"/>
          <c:order val="1"/>
          <c:spPr>
            <a:solidFill>
              <a:schemeClr val="accent2"/>
            </a:solidFill>
            <a:ln>
              <a:noFill/>
            </a:ln>
            <a:effectLst/>
          </c:spPr>
          <c:invertIfNegative val="0"/>
          <c:dLbls>
            <c:dLbl>
              <c:idx val="0"/>
              <c:layout>
                <c:manualLayout>
                  <c:x val="3.1607981388623242E-3"/>
                  <c:y val="-3.8733046960593639E-2"/>
                </c:manualLayout>
              </c:layout>
              <c:spPr>
                <a:noFill/>
                <a:ln>
                  <a:noFill/>
                </a:ln>
                <a:effectLst/>
              </c:spPr>
              <c:txPr>
                <a:bodyPr rot="0" spcFirstLastPara="1" vertOverflow="ellipsis" vert="horz" wrap="square" anchor="ctr" anchorCtr="1"/>
                <a:lstStyle/>
                <a:p>
                  <a:pPr>
                    <a:defRPr sz="2000" b="1" i="0" u="none" strike="noStrike" kern="1200" baseline="0">
                      <a:solidFill>
                        <a:schemeClr val="tx1"/>
                      </a:solidFill>
                      <a:latin typeface="+mn-lt"/>
                      <a:ea typeface="+mn-ea"/>
                      <a:cs typeface="+mn-cs"/>
                    </a:defRPr>
                  </a:pPr>
                  <a:endParaRPr lang="he-IL"/>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F4F-4C0F-B32B-741A578C8CAB}"/>
                </c:ext>
              </c:extLst>
            </c:dLbl>
            <c:dLbl>
              <c:idx val="1"/>
              <c:layout>
                <c:manualLayout>
                  <c:x val="-1.5803990694311621E-3"/>
                  <c:y val="-2.9794651508148983E-2"/>
                </c:manualLayout>
              </c:layout>
              <c:spPr>
                <a:noFill/>
                <a:ln>
                  <a:noFill/>
                </a:ln>
                <a:effectLst/>
              </c:spPr>
              <c:txPr>
                <a:bodyPr rot="0" spcFirstLastPara="1" vertOverflow="ellipsis" vert="horz" wrap="square" anchor="ctr" anchorCtr="1"/>
                <a:lstStyle/>
                <a:p>
                  <a:pPr>
                    <a:defRPr sz="2000" b="1" i="0" u="none" strike="noStrike" kern="1200" baseline="0">
                      <a:solidFill>
                        <a:schemeClr val="tx1"/>
                      </a:solidFill>
                      <a:latin typeface="+mn-lt"/>
                      <a:ea typeface="+mn-ea"/>
                      <a:cs typeface="+mn-cs"/>
                    </a:defRPr>
                  </a:pPr>
                  <a:endParaRPr lang="he-IL"/>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F4F-4C0F-B32B-741A578C8CAB}"/>
                </c:ext>
              </c:extLst>
            </c:dLbl>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'גיל- מול ילד ראשון'!$D$118:$D$119</c:f>
              <c:strCache>
                <c:ptCount val="2"/>
                <c:pt idx="0">
                  <c:v>18-25/+26</c:v>
                </c:pt>
                <c:pt idx="1">
                  <c:v>אמא חדשה/ותיקה</c:v>
                </c:pt>
              </c:strCache>
            </c:strRef>
          </c:cat>
          <c:val>
            <c:numRef>
              <c:f>'גיל- מול ילד ראשון'!$F$118:$F$119</c:f>
              <c:numCache>
                <c:formatCode>0%</c:formatCode>
                <c:ptCount val="2"/>
                <c:pt idx="0">
                  <c:v>0.24</c:v>
                </c:pt>
                <c:pt idx="1">
                  <c:v>0.22018348623853212</c:v>
                </c:pt>
              </c:numCache>
            </c:numRef>
          </c:val>
          <c:extLst>
            <c:ext xmlns:c16="http://schemas.microsoft.com/office/drawing/2014/chart" uri="{C3380CC4-5D6E-409C-BE32-E72D297353CC}">
              <c16:uniqueId val="{00000001-EF4F-4C0F-B32B-741A578C8CAB}"/>
            </c:ext>
          </c:extLst>
        </c:ser>
        <c:dLbls>
          <c:dLblPos val="ctr"/>
          <c:showLegendKey val="0"/>
          <c:showVal val="1"/>
          <c:showCatName val="0"/>
          <c:showSerName val="0"/>
          <c:showPercent val="0"/>
          <c:showBubbleSize val="0"/>
        </c:dLbls>
        <c:gapWidth val="150"/>
        <c:overlap val="100"/>
        <c:axId val="1584272960"/>
        <c:axId val="1584287312"/>
      </c:barChart>
      <c:catAx>
        <c:axId val="1584272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he-IL"/>
          </a:p>
        </c:txPr>
        <c:crossAx val="1584287312"/>
        <c:crosses val="autoZero"/>
        <c:auto val="1"/>
        <c:lblAlgn val="ctr"/>
        <c:lblOffset val="100"/>
        <c:noMultiLvlLbl val="0"/>
      </c:catAx>
      <c:valAx>
        <c:axId val="1584287312"/>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he-IL" dirty="0"/>
                  <a:t>שיעור  תשובות  לשאלה</a:t>
                </a:r>
              </a:p>
            </c:rich>
          </c:tx>
          <c:overlay val="0"/>
          <c:spPr>
            <a:noFill/>
            <a:ln>
              <a:noFill/>
            </a:ln>
            <a:effectLst/>
          </c:spPr>
          <c:txPr>
            <a:bodyPr rot="-540000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he-IL"/>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he-IL"/>
          </a:p>
        </c:txPr>
        <c:crossAx val="1584272960"/>
        <c:crosses val="autoZero"/>
        <c:crossBetween val="between"/>
      </c:valAx>
      <c:spPr>
        <a:noFill/>
        <a:ln>
          <a:noFill/>
        </a:ln>
        <a:effectLst/>
      </c:spPr>
    </c:plotArea>
    <c:plotVisOnly val="1"/>
    <c:dispBlanksAs val="gap"/>
    <c:showDLblsOverMax val="0"/>
  </c:chart>
  <c:spPr>
    <a:noFill/>
    <a:ln>
      <a:noFill/>
    </a:ln>
    <a:effectLst/>
  </c:spPr>
  <c:txPr>
    <a:bodyPr/>
    <a:lstStyle/>
    <a:p>
      <a:pPr>
        <a:defRPr sz="1600" b="1">
          <a:solidFill>
            <a:schemeClr val="tx1"/>
          </a:solidFill>
        </a:defRPr>
      </a:pPr>
      <a:endParaRPr lang="he-IL"/>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0"/>
          <c:showSerName val="0"/>
          <c:showPercent val="0"/>
          <c:showBubbleSize val="0"/>
          <c:showLeaderLines val="0"/>
        </c:dLbls>
        <c:firstSliceAng val="36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he-I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121674665976306"/>
          <c:y val="0.11602814801932165"/>
          <c:w val="0.75316548976326825"/>
          <c:h val="0.71058507976369711"/>
        </c:manualLayout>
      </c:layout>
      <c:barChart>
        <c:barDir val="col"/>
        <c:grouping val="stacked"/>
        <c:varyColors val="0"/>
        <c:ser>
          <c:idx val="0"/>
          <c:order val="0"/>
          <c:tx>
            <c:strRef>
              <c:f>גיליון1!$B$1</c:f>
              <c:strCache>
                <c:ptCount val="1"/>
                <c:pt idx="0">
                  <c:v>18-25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solidFill>
                    <a:latin typeface="+mn-lt"/>
                    <a:ea typeface="+mn-ea"/>
                    <a:cs typeface="+mn-cs"/>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גיליון1!$A$2:$A$3</c:f>
              <c:strCache>
                <c:ptCount val="2"/>
                <c:pt idx="0">
                  <c:v>0-1</c:v>
                </c:pt>
                <c:pt idx="1">
                  <c:v>+2</c:v>
                </c:pt>
              </c:strCache>
            </c:strRef>
          </c:cat>
          <c:val>
            <c:numRef>
              <c:f>גיליון1!$B$2:$B$3</c:f>
              <c:numCache>
                <c:formatCode>0%</c:formatCode>
                <c:ptCount val="2"/>
                <c:pt idx="0">
                  <c:v>0.32</c:v>
                </c:pt>
                <c:pt idx="1">
                  <c:v>0.52</c:v>
                </c:pt>
              </c:numCache>
            </c:numRef>
          </c:val>
          <c:extLst>
            <c:ext xmlns:c16="http://schemas.microsoft.com/office/drawing/2014/chart" uri="{C3380CC4-5D6E-409C-BE32-E72D297353CC}">
              <c16:uniqueId val="{00000000-71A4-4F64-9B2A-B15E45AACEA2}"/>
            </c:ext>
          </c:extLst>
        </c:ser>
        <c:ser>
          <c:idx val="1"/>
          <c:order val="1"/>
          <c:tx>
            <c:strRef>
              <c:f>גיליון1!$C$1</c:f>
              <c:strCache>
                <c:ptCount val="1"/>
                <c:pt idx="0">
                  <c:v>+26</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solidFill>
                    <a:latin typeface="+mn-lt"/>
                    <a:ea typeface="+mn-ea"/>
                    <a:cs typeface="+mn-cs"/>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גיליון1!$A$2:$A$3</c:f>
              <c:strCache>
                <c:ptCount val="2"/>
                <c:pt idx="0">
                  <c:v>0-1</c:v>
                </c:pt>
                <c:pt idx="1">
                  <c:v>+2</c:v>
                </c:pt>
              </c:strCache>
            </c:strRef>
          </c:cat>
          <c:val>
            <c:numRef>
              <c:f>גיליון1!$C$2:$C$3</c:f>
              <c:numCache>
                <c:formatCode>0%</c:formatCode>
                <c:ptCount val="2"/>
                <c:pt idx="0">
                  <c:v>0.05</c:v>
                </c:pt>
                <c:pt idx="1">
                  <c:v>0.12</c:v>
                </c:pt>
              </c:numCache>
            </c:numRef>
          </c:val>
          <c:extLst>
            <c:ext xmlns:c16="http://schemas.microsoft.com/office/drawing/2014/chart" uri="{C3380CC4-5D6E-409C-BE32-E72D297353CC}">
              <c16:uniqueId val="{00000003-71A4-4F64-9B2A-B15E45AACEA2}"/>
            </c:ext>
          </c:extLst>
        </c:ser>
        <c:dLbls>
          <c:showLegendKey val="0"/>
          <c:showVal val="0"/>
          <c:showCatName val="0"/>
          <c:showSerName val="0"/>
          <c:showPercent val="0"/>
          <c:showBubbleSize val="0"/>
        </c:dLbls>
        <c:gapWidth val="194"/>
        <c:overlap val="100"/>
        <c:axId val="713289727"/>
        <c:axId val="724183839"/>
      </c:barChart>
      <c:catAx>
        <c:axId val="7132897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he-IL"/>
          </a:p>
        </c:txPr>
        <c:crossAx val="724183839"/>
        <c:crosses val="autoZero"/>
        <c:auto val="1"/>
        <c:lblAlgn val="ctr"/>
        <c:lblOffset val="100"/>
        <c:noMultiLvlLbl val="0"/>
      </c:catAx>
      <c:valAx>
        <c:axId val="724183839"/>
        <c:scaling>
          <c:orientation val="minMax"/>
          <c:max val="1"/>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95000"/>
                        <a:lumOff val="5000"/>
                      </a:schemeClr>
                    </a:solidFill>
                    <a:latin typeface="+mn-lt"/>
                    <a:ea typeface="+mn-ea"/>
                    <a:cs typeface="+mn-cs"/>
                  </a:defRPr>
                </a:pPr>
                <a:r>
                  <a:rPr lang="he-IL" sz="1800" b="1" baseline="0" dirty="0">
                    <a:solidFill>
                      <a:schemeClr val="tx1">
                        <a:lumMod val="95000"/>
                        <a:lumOff val="5000"/>
                      </a:schemeClr>
                    </a:solidFill>
                  </a:rPr>
                  <a:t>שיעור תשובות לשאלה </a:t>
                </a:r>
                <a:endParaRPr lang="he-IL" sz="1800" b="1" dirty="0">
                  <a:solidFill>
                    <a:schemeClr val="tx1">
                      <a:lumMod val="95000"/>
                      <a:lumOff val="5000"/>
                    </a:schemeClr>
                  </a:solidFill>
                </a:endParaRP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95000"/>
                      <a:lumOff val="5000"/>
                    </a:schemeClr>
                  </a:solidFill>
                  <a:latin typeface="+mn-lt"/>
                  <a:ea typeface="+mn-ea"/>
                  <a:cs typeface="+mn-cs"/>
                </a:defRPr>
              </a:pPr>
              <a:endParaRPr lang="he-IL"/>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800" b="1" i="0" u="none" strike="noStrike" kern="1200" baseline="0">
                <a:solidFill>
                  <a:schemeClr val="tx1">
                    <a:lumMod val="95000"/>
                    <a:lumOff val="5000"/>
                  </a:schemeClr>
                </a:solidFill>
                <a:latin typeface="+mn-lt"/>
                <a:ea typeface="+mn-ea"/>
                <a:cs typeface="+mn-cs"/>
              </a:defRPr>
            </a:pPr>
            <a:endParaRPr lang="he-IL"/>
          </a:p>
        </c:txPr>
        <c:crossAx val="713289727"/>
        <c:crosses val="autoZero"/>
        <c:crossBetween val="between"/>
      </c:valAx>
      <c:spPr>
        <a:noFill/>
        <a:ln>
          <a:noFill/>
        </a:ln>
        <a:effectLst/>
      </c:spPr>
    </c:plotArea>
    <c:legend>
      <c:legendPos val="b"/>
      <c:layout>
        <c:manualLayout>
          <c:xMode val="edge"/>
          <c:yMode val="edge"/>
          <c:x val="0.39142623880387067"/>
          <c:y val="1.4366429539564912E-2"/>
          <c:w val="0.35456528476625671"/>
          <c:h val="8.5814188317670903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he-I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'תגובות לטופס 1'!$I$113</c:f>
              <c:strCache>
                <c:ptCount val="1"/>
                <c:pt idx="0">
                  <c:v>האם מתבישת או חוששת לשאול שאלות?</c:v>
                </c:pt>
              </c:strCache>
            </c:strRef>
          </c:tx>
          <c:spPr>
            <a:solidFill>
              <a:schemeClr val="accent1"/>
            </a:solidFill>
            <a:ln>
              <a:noFill/>
            </a:ln>
            <a:effectLst/>
          </c:spPr>
          <c:invertIfNegative val="0"/>
          <c:dLbls>
            <c:dLbl>
              <c:idx val="0"/>
              <c:tx>
                <c:rich>
                  <a:bodyPr/>
                  <a:lstStyle/>
                  <a:p>
                    <a:r>
                      <a:rPr lang="en-US"/>
                      <a:t>26%</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C655-4D03-9D9C-30575AAED76D}"/>
                </c:ext>
              </c:extLst>
            </c:dLbl>
            <c:dLbl>
              <c:idx val="1"/>
              <c:tx>
                <c:rich>
                  <a:bodyPr/>
                  <a:lstStyle/>
                  <a:p>
                    <a:r>
                      <a:rPr lang="en-US"/>
                      <a:t>74%</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655-4D03-9D9C-30575AAED76D}"/>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'תגובות לטופס 1'!$H$114:$H$115</c:f>
              <c:strCache>
                <c:ptCount val="2"/>
                <c:pt idx="0">
                  <c:v>כן</c:v>
                </c:pt>
                <c:pt idx="1">
                  <c:v>לא</c:v>
                </c:pt>
              </c:strCache>
            </c:strRef>
          </c:cat>
          <c:val>
            <c:numRef>
              <c:f>'תגובות לטופס 1'!$I$114:$I$115</c:f>
              <c:numCache>
                <c:formatCode>General</c:formatCode>
                <c:ptCount val="2"/>
                <c:pt idx="0">
                  <c:v>40</c:v>
                </c:pt>
                <c:pt idx="1">
                  <c:v>68</c:v>
                </c:pt>
              </c:numCache>
            </c:numRef>
          </c:val>
          <c:extLst>
            <c:ext xmlns:c16="http://schemas.microsoft.com/office/drawing/2014/chart" uri="{C3380CC4-5D6E-409C-BE32-E72D297353CC}">
              <c16:uniqueId val="{00000002-C655-4D03-9D9C-30575AAED76D}"/>
            </c:ext>
          </c:extLst>
        </c:ser>
        <c:dLbls>
          <c:dLblPos val="outEnd"/>
          <c:showLegendKey val="0"/>
          <c:showVal val="1"/>
          <c:showCatName val="0"/>
          <c:showSerName val="0"/>
          <c:showPercent val="0"/>
          <c:showBubbleSize val="0"/>
        </c:dLbls>
        <c:gapWidth val="219"/>
        <c:overlap val="-27"/>
        <c:axId val="990060559"/>
        <c:axId val="964156991"/>
      </c:barChart>
      <c:catAx>
        <c:axId val="9900605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he-IL"/>
          </a:p>
        </c:txPr>
        <c:crossAx val="964156991"/>
        <c:crosses val="autoZero"/>
        <c:auto val="1"/>
        <c:lblAlgn val="ctr"/>
        <c:lblOffset val="100"/>
        <c:noMultiLvlLbl val="0"/>
      </c:catAx>
      <c:valAx>
        <c:axId val="96415699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1" i="0" u="none" strike="noStrike" kern="1200" baseline="0">
                    <a:solidFill>
                      <a:schemeClr val="tx1"/>
                    </a:solidFill>
                    <a:latin typeface="+mn-lt"/>
                    <a:ea typeface="+mn-ea"/>
                    <a:cs typeface="+mn-cs"/>
                  </a:defRPr>
                </a:pPr>
                <a:r>
                  <a:rPr lang="he-IL" sz="1800" b="1">
                    <a:solidFill>
                      <a:schemeClr val="tx1"/>
                    </a:solidFill>
                  </a:rPr>
                  <a:t>מספר</a:t>
                </a:r>
                <a:r>
                  <a:rPr lang="he-IL" sz="1800" b="1" baseline="0">
                    <a:solidFill>
                      <a:schemeClr val="tx1"/>
                    </a:solidFill>
                  </a:rPr>
                  <a:t> התגובות</a:t>
                </a:r>
                <a:endParaRPr lang="he-IL" sz="1800" b="1">
                  <a:solidFill>
                    <a:schemeClr val="tx1"/>
                  </a:solidFill>
                </a:endParaRPr>
              </a:p>
            </c:rich>
          </c:tx>
          <c:overlay val="0"/>
          <c:spPr>
            <a:noFill/>
            <a:ln>
              <a:noFill/>
            </a:ln>
            <a:effectLst/>
          </c:spPr>
          <c:txPr>
            <a:bodyPr rot="-540000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he-IL"/>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1" i="0" u="none" strike="noStrike" kern="1200" baseline="0">
                <a:solidFill>
                  <a:schemeClr val="tx1"/>
                </a:solidFill>
                <a:latin typeface="+mn-lt"/>
                <a:ea typeface="+mn-ea"/>
                <a:cs typeface="+mn-cs"/>
              </a:defRPr>
            </a:pPr>
            <a:endParaRPr lang="he-IL"/>
          </a:p>
        </c:txPr>
        <c:crossAx val="99006055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he-I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baseline="0" dirty="0"/>
              <a:t>  </a:t>
            </a:r>
            <a:endParaRPr lang="he-IL"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percentStacked"/>
        <c:varyColors val="0"/>
        <c:ser>
          <c:idx val="0"/>
          <c:order val="0"/>
          <c:tx>
            <c:strRef>
              <c:f>גיליון1!$B$1</c:f>
              <c:strCache>
                <c:ptCount val="1"/>
                <c:pt idx="0">
                  <c:v>כן</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solidFill>
                    <a:latin typeface="+mn-lt"/>
                    <a:ea typeface="+mn-ea"/>
                    <a:cs typeface="+mn-cs"/>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גיליון1!$A$2:$A$6</c:f>
              <c:numCache>
                <c:formatCode>General</c:formatCode>
                <c:ptCount val="5"/>
                <c:pt idx="0">
                  <c:v>4</c:v>
                </c:pt>
                <c:pt idx="1">
                  <c:v>5</c:v>
                </c:pt>
                <c:pt idx="2">
                  <c:v>6</c:v>
                </c:pt>
                <c:pt idx="3">
                  <c:v>7</c:v>
                </c:pt>
                <c:pt idx="4">
                  <c:v>9</c:v>
                </c:pt>
              </c:numCache>
            </c:numRef>
          </c:cat>
          <c:val>
            <c:numRef>
              <c:f>גיליון1!$B$2:$B$6</c:f>
              <c:numCache>
                <c:formatCode>0%</c:formatCode>
                <c:ptCount val="5"/>
                <c:pt idx="0">
                  <c:v>0.61</c:v>
                </c:pt>
                <c:pt idx="1">
                  <c:v>0.79</c:v>
                </c:pt>
                <c:pt idx="2">
                  <c:v>0.78</c:v>
                </c:pt>
                <c:pt idx="3">
                  <c:v>0.89</c:v>
                </c:pt>
                <c:pt idx="4">
                  <c:v>0.7</c:v>
                </c:pt>
              </c:numCache>
            </c:numRef>
          </c:val>
          <c:extLst>
            <c:ext xmlns:c16="http://schemas.microsoft.com/office/drawing/2014/chart" uri="{C3380CC4-5D6E-409C-BE32-E72D297353CC}">
              <c16:uniqueId val="{00000000-D1DC-44ED-B316-A377B4CCEB1C}"/>
            </c:ext>
          </c:extLst>
        </c:ser>
        <c:ser>
          <c:idx val="1"/>
          <c:order val="1"/>
          <c:tx>
            <c:strRef>
              <c:f>גיליון1!$C$1</c:f>
              <c:strCache>
                <c:ptCount val="1"/>
                <c:pt idx="0">
                  <c:v>לא</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solidFill>
                    <a:latin typeface="+mn-lt"/>
                    <a:ea typeface="+mn-ea"/>
                    <a:cs typeface="+mn-cs"/>
                  </a:defRPr>
                </a:pPr>
                <a:endParaRPr lang="he-I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גיליון1!$A$2:$A$6</c:f>
              <c:numCache>
                <c:formatCode>General</c:formatCode>
                <c:ptCount val="5"/>
                <c:pt idx="0">
                  <c:v>4</c:v>
                </c:pt>
                <c:pt idx="1">
                  <c:v>5</c:v>
                </c:pt>
                <c:pt idx="2">
                  <c:v>6</c:v>
                </c:pt>
                <c:pt idx="3">
                  <c:v>7</c:v>
                </c:pt>
                <c:pt idx="4">
                  <c:v>9</c:v>
                </c:pt>
              </c:numCache>
            </c:numRef>
          </c:cat>
          <c:val>
            <c:numRef>
              <c:f>גיליון1!$C$2:$C$6</c:f>
              <c:numCache>
                <c:formatCode>0%</c:formatCode>
                <c:ptCount val="5"/>
                <c:pt idx="0">
                  <c:v>0.39</c:v>
                </c:pt>
                <c:pt idx="1">
                  <c:v>0.21</c:v>
                </c:pt>
                <c:pt idx="2">
                  <c:v>0.22</c:v>
                </c:pt>
                <c:pt idx="3">
                  <c:v>0.11</c:v>
                </c:pt>
                <c:pt idx="4">
                  <c:v>0.3</c:v>
                </c:pt>
              </c:numCache>
            </c:numRef>
          </c:val>
          <c:extLst>
            <c:ext xmlns:c16="http://schemas.microsoft.com/office/drawing/2014/chart" uri="{C3380CC4-5D6E-409C-BE32-E72D297353CC}">
              <c16:uniqueId val="{00000001-D1DC-44ED-B316-A377B4CCEB1C}"/>
            </c:ext>
          </c:extLst>
        </c:ser>
        <c:dLbls>
          <c:dLblPos val="ctr"/>
          <c:showLegendKey val="0"/>
          <c:showVal val="1"/>
          <c:showCatName val="0"/>
          <c:showSerName val="0"/>
          <c:showPercent val="0"/>
          <c:showBubbleSize val="0"/>
        </c:dLbls>
        <c:gapWidth val="150"/>
        <c:overlap val="100"/>
        <c:axId val="699517727"/>
        <c:axId val="724194655"/>
      </c:barChart>
      <c:catAx>
        <c:axId val="699517727"/>
        <c:scaling>
          <c:orientation val="minMax"/>
        </c:scaling>
        <c:delete val="0"/>
        <c:axPos val="b"/>
        <c:title>
          <c:tx>
            <c:rich>
              <a:bodyPr rot="0" spcFirstLastPara="1" vertOverflow="ellipsis" vert="horz" wrap="square" anchor="ctr" anchorCtr="1"/>
              <a:lstStyle/>
              <a:p>
                <a:pPr>
                  <a:defRPr sz="2400" b="1" i="0" u="none" strike="noStrike" kern="1200" baseline="0">
                    <a:solidFill>
                      <a:schemeClr val="tx1">
                        <a:lumMod val="95000"/>
                        <a:lumOff val="5000"/>
                      </a:schemeClr>
                    </a:solidFill>
                    <a:latin typeface="+mn-lt"/>
                    <a:ea typeface="+mn-ea"/>
                    <a:cs typeface="+mn-cs"/>
                  </a:defRPr>
                </a:pPr>
                <a:r>
                  <a:rPr lang="he-IL" sz="2400" b="1" dirty="0">
                    <a:solidFill>
                      <a:schemeClr val="tx1">
                        <a:lumMod val="95000"/>
                        <a:lumOff val="5000"/>
                      </a:schemeClr>
                    </a:solidFill>
                  </a:rPr>
                  <a:t>מס'</a:t>
                </a:r>
                <a:r>
                  <a:rPr lang="he-IL" sz="2400" b="1" baseline="0" dirty="0">
                    <a:solidFill>
                      <a:schemeClr val="tx1">
                        <a:lumMod val="95000"/>
                        <a:lumOff val="5000"/>
                      </a:schemeClr>
                    </a:solidFill>
                  </a:rPr>
                  <a:t> שאלה</a:t>
                </a:r>
                <a:endParaRPr lang="he-IL" sz="2400" b="1" dirty="0">
                  <a:solidFill>
                    <a:schemeClr val="tx1">
                      <a:lumMod val="95000"/>
                      <a:lumOff val="5000"/>
                    </a:schemeClr>
                  </a:solidFill>
                </a:endParaRPr>
              </a:p>
            </c:rich>
          </c:tx>
          <c:layout>
            <c:manualLayout>
              <c:xMode val="edge"/>
              <c:yMode val="edge"/>
              <c:x val="0.48497509703782793"/>
              <c:y val="0.79203230637617583"/>
            </c:manualLayout>
          </c:layout>
          <c:overlay val="0"/>
          <c:spPr>
            <a:noFill/>
            <a:ln>
              <a:noFill/>
            </a:ln>
            <a:effectLst/>
          </c:spPr>
          <c:txPr>
            <a:bodyPr rot="0" spcFirstLastPara="1" vertOverflow="ellipsis" vert="horz" wrap="square" anchor="ctr" anchorCtr="1"/>
            <a:lstStyle/>
            <a:p>
              <a:pPr>
                <a:defRPr sz="2400" b="1" i="0" u="none" strike="noStrike" kern="1200" baseline="0">
                  <a:solidFill>
                    <a:schemeClr val="tx1">
                      <a:lumMod val="95000"/>
                      <a:lumOff val="5000"/>
                    </a:schemeClr>
                  </a:solidFill>
                  <a:latin typeface="+mn-lt"/>
                  <a:ea typeface="+mn-ea"/>
                  <a:cs typeface="+mn-cs"/>
                </a:defRPr>
              </a:pPr>
              <a:endParaRPr lang="he-IL"/>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95000"/>
                    <a:lumOff val="5000"/>
                  </a:schemeClr>
                </a:solidFill>
                <a:latin typeface="+mn-lt"/>
                <a:ea typeface="+mn-ea"/>
                <a:cs typeface="+mn-cs"/>
              </a:defRPr>
            </a:pPr>
            <a:endParaRPr lang="he-IL"/>
          </a:p>
        </c:txPr>
        <c:crossAx val="724194655"/>
        <c:crosses val="autoZero"/>
        <c:auto val="1"/>
        <c:lblAlgn val="ctr"/>
        <c:lblOffset val="100"/>
        <c:noMultiLvlLbl val="0"/>
      </c:catAx>
      <c:valAx>
        <c:axId val="72419465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000" b="0" i="0" u="none" strike="noStrike" kern="1200" baseline="0">
                    <a:solidFill>
                      <a:schemeClr val="tx1">
                        <a:lumMod val="95000"/>
                        <a:lumOff val="5000"/>
                      </a:schemeClr>
                    </a:solidFill>
                    <a:latin typeface="+mn-lt"/>
                    <a:ea typeface="+mn-ea"/>
                    <a:cs typeface="+mn-cs"/>
                  </a:defRPr>
                </a:pPr>
                <a:r>
                  <a:rPr lang="he-IL" sz="2000" b="1" i="0" baseline="0" dirty="0">
                    <a:solidFill>
                      <a:schemeClr val="tx1">
                        <a:lumMod val="95000"/>
                        <a:lumOff val="5000"/>
                      </a:schemeClr>
                    </a:solidFill>
                    <a:effectLst/>
                  </a:rPr>
                  <a:t>שיעור  תשובות  לשאלה</a:t>
                </a:r>
                <a:endParaRPr lang="he-IL" sz="2000" dirty="0">
                  <a:solidFill>
                    <a:schemeClr val="tx1">
                      <a:lumMod val="95000"/>
                      <a:lumOff val="5000"/>
                    </a:schemeClr>
                  </a:solidFill>
                  <a:effectLst/>
                </a:endParaRP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lumMod val="95000"/>
                      <a:lumOff val="5000"/>
                    </a:schemeClr>
                  </a:solidFill>
                  <a:latin typeface="+mn-lt"/>
                  <a:ea typeface="+mn-ea"/>
                  <a:cs typeface="+mn-cs"/>
                </a:defRPr>
              </a:pPr>
              <a:endParaRPr lang="he-IL"/>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800" b="1" i="0" u="none" strike="noStrike" kern="1200" baseline="0">
                <a:solidFill>
                  <a:schemeClr val="tx1">
                    <a:lumMod val="95000"/>
                    <a:lumOff val="5000"/>
                  </a:schemeClr>
                </a:solidFill>
                <a:latin typeface="+mn-lt"/>
                <a:ea typeface="+mn-ea"/>
                <a:cs typeface="+mn-cs"/>
              </a:defRPr>
            </a:pPr>
            <a:endParaRPr lang="he-IL"/>
          </a:p>
        </c:txPr>
        <c:crossAx val="699517727"/>
        <c:crosses val="autoZero"/>
        <c:crossBetween val="between"/>
      </c:valAx>
      <c:spPr>
        <a:noFill/>
        <a:ln>
          <a:noFill/>
        </a:ln>
        <a:effectLst/>
      </c:spPr>
    </c:plotArea>
    <c:legend>
      <c:legendPos val="b"/>
      <c:layout>
        <c:manualLayout>
          <c:xMode val="edge"/>
          <c:yMode val="edge"/>
          <c:x val="0.34536207932008484"/>
          <c:y val="9.8387600171546217E-3"/>
          <c:w val="0.32144512640490153"/>
          <c:h val="5.8355356665716125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he-I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he-I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097833054128141"/>
          <c:y val="6.8517485079427287E-2"/>
          <c:w val="0.67804333891743718"/>
          <c:h val="0.79830905091296245"/>
        </c:manualLayout>
      </c:layout>
      <c:pieChart>
        <c:varyColors val="1"/>
        <c:ser>
          <c:idx val="0"/>
          <c:order val="0"/>
          <c:tx>
            <c:strRef>
              <c:f>גיליון1!$B$1</c:f>
              <c:strCache>
                <c:ptCount val="1"/>
                <c:pt idx="0">
                  <c:v>מכירות</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D0A-4880-BBDC-B9E3CED0472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A1F-4F85-86F4-597F2FCF76F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DA1F-4F85-86F4-597F2FCF76FC}"/>
              </c:ext>
            </c:extLst>
          </c:dPt>
          <c:dLbls>
            <c:dLbl>
              <c:idx val="0"/>
              <c:layout>
                <c:manualLayout>
                  <c:x val="0.13350937681857716"/>
                  <c:y val="-0.17297168178029884"/>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D0A-4880-BBDC-B9E3CED04722}"/>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600" b="1" i="0" u="none" strike="noStrike" kern="1200" baseline="0">
                    <a:solidFill>
                      <a:schemeClr val="tx1">
                        <a:lumMod val="95000"/>
                        <a:lumOff val="5000"/>
                      </a:schemeClr>
                    </a:solidFill>
                    <a:latin typeface="+mn-lt"/>
                    <a:ea typeface="+mn-ea"/>
                    <a:cs typeface="+mn-cs"/>
                  </a:defRPr>
                </a:pPr>
                <a:endParaRPr lang="he-IL"/>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גיליון1!$A$2:$A$4</c:f>
              <c:strCache>
                <c:ptCount val="3"/>
                <c:pt idx="0">
                  <c:v>קורבי משפחה</c:v>
                </c:pt>
                <c:pt idx="1">
                  <c:v>חברים</c:v>
                </c:pt>
                <c:pt idx="2">
                  <c:v>אחר</c:v>
                </c:pt>
              </c:strCache>
            </c:strRef>
          </c:cat>
          <c:val>
            <c:numRef>
              <c:f>גיליון1!$B$2:$B$4</c:f>
              <c:numCache>
                <c:formatCode>0%</c:formatCode>
                <c:ptCount val="3"/>
                <c:pt idx="0">
                  <c:v>0.84</c:v>
                </c:pt>
                <c:pt idx="1">
                  <c:v>7.0000000000000007E-2</c:v>
                </c:pt>
                <c:pt idx="2">
                  <c:v>0.09</c:v>
                </c:pt>
              </c:numCache>
            </c:numRef>
          </c:val>
          <c:extLst>
            <c:ext xmlns:c16="http://schemas.microsoft.com/office/drawing/2014/chart" uri="{C3380CC4-5D6E-409C-BE32-E72D297353CC}">
              <c16:uniqueId val="{00000000-2D0A-4880-BBDC-B9E3CED04722}"/>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he-I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282168037939175"/>
          <c:y val="6.4104598171424651E-2"/>
          <c:w val="0.79072169846965534"/>
          <c:h val="0.8208775511841464"/>
        </c:manualLayout>
      </c:layout>
      <c:pieChart>
        <c:varyColors val="1"/>
        <c:ser>
          <c:idx val="0"/>
          <c:order val="0"/>
          <c:tx>
            <c:strRef>
              <c:f>גיליון1!$B$1</c:f>
              <c:strCache>
                <c:ptCount val="1"/>
                <c:pt idx="0">
                  <c:v>מכירות</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CB3-4307-8205-90A42D18D2A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6F9-424F-8C8B-5C934A91B658}"/>
              </c:ext>
            </c:extLst>
          </c:dPt>
          <c:dLbls>
            <c:dLbl>
              <c:idx val="0"/>
              <c:layout>
                <c:manualLayout>
                  <c:x val="-6.2982454734267834E-2"/>
                  <c:y val="-0.32361829843329448"/>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7CB3-4307-8205-90A42D18D2AD}"/>
                </c:ext>
              </c:extLst>
            </c:dLbl>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chemeClr val="tx1"/>
                    </a:solidFill>
                    <a:latin typeface="+mn-lt"/>
                    <a:ea typeface="+mn-ea"/>
                    <a:cs typeface="+mn-cs"/>
                  </a:defRPr>
                </a:pPr>
                <a:endParaRPr lang="he-IL"/>
              </a:p>
            </c:txPr>
            <c:dLblPos val="in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גיליון1!$A$2:$A$3</c:f>
              <c:strCache>
                <c:ptCount val="2"/>
                <c:pt idx="0">
                  <c:v>כן</c:v>
                </c:pt>
                <c:pt idx="1">
                  <c:v>לא</c:v>
                </c:pt>
              </c:strCache>
            </c:strRef>
          </c:cat>
          <c:val>
            <c:numRef>
              <c:f>גיליון1!$B$2:$B$3</c:f>
              <c:numCache>
                <c:formatCode>0%</c:formatCode>
                <c:ptCount val="2"/>
                <c:pt idx="0">
                  <c:v>0.94</c:v>
                </c:pt>
                <c:pt idx="1">
                  <c:v>0.06</c:v>
                </c:pt>
              </c:numCache>
            </c:numRef>
          </c:val>
          <c:extLst>
            <c:ext xmlns:c16="http://schemas.microsoft.com/office/drawing/2014/chart" uri="{C3380CC4-5D6E-409C-BE32-E72D297353CC}">
              <c16:uniqueId val="{00000000-7CB3-4307-8205-90A42D18D2AD}"/>
            </c:ext>
          </c:extLst>
        </c:ser>
        <c:dLbls>
          <c:dLblPos val="inEnd"/>
          <c:showLegendKey val="0"/>
          <c:showVal val="0"/>
          <c:showCatName val="0"/>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0.29101</cdr:x>
      <cdr:y>0.80033</cdr:y>
    </cdr:from>
    <cdr:to>
      <cdr:x>0.4048</cdr:x>
      <cdr:y>0.89274</cdr:y>
    </cdr:to>
    <cdr:sp macro="" textlink="">
      <cdr:nvSpPr>
        <cdr:cNvPr id="2" name="תיבת טקסט 1">
          <a:extLst xmlns:a="http://schemas.openxmlformats.org/drawingml/2006/main">
            <a:ext uri="{FF2B5EF4-FFF2-40B4-BE49-F238E27FC236}">
              <a16:creationId xmlns:a16="http://schemas.microsoft.com/office/drawing/2014/main" id="{7385F19D-0648-7444-DE62-3709720F099C}"/>
            </a:ext>
          </a:extLst>
        </cdr:cNvPr>
        <cdr:cNvSpPr txBox="1"/>
      </cdr:nvSpPr>
      <cdr:spPr>
        <a:xfrm xmlns:a="http://schemas.openxmlformats.org/drawingml/2006/main">
          <a:off x="2338531" y="3411415"/>
          <a:ext cx="914400" cy="393895"/>
        </a:xfrm>
        <a:prstGeom xmlns:a="http://schemas.openxmlformats.org/drawingml/2006/main" prst="rect">
          <a:avLst/>
        </a:prstGeom>
      </cdr:spPr>
      <cdr:txBody>
        <a:bodyPr xmlns:a="http://schemas.openxmlformats.org/drawingml/2006/main" vertOverflow="clip" wrap="none" rtlCol="1"/>
        <a:lstStyle xmlns:a="http://schemas.openxmlformats.org/drawingml/2006/main"/>
        <a:p xmlns:a="http://schemas.openxmlformats.org/drawingml/2006/main">
          <a:pPr algn="ctr"/>
          <a:r>
            <a:rPr lang="he-IL" sz="1800" b="1" dirty="0"/>
            <a:t>18-25</a:t>
          </a:r>
        </a:p>
      </cdr:txBody>
    </cdr:sp>
  </cdr:relSizeAnchor>
  <cdr:relSizeAnchor xmlns:cdr="http://schemas.openxmlformats.org/drawingml/2006/chartDrawing">
    <cdr:from>
      <cdr:x>0.28683</cdr:x>
      <cdr:y>0.17529</cdr:y>
    </cdr:from>
    <cdr:to>
      <cdr:x>0.40062</cdr:x>
      <cdr:y>0.2677</cdr:y>
    </cdr:to>
    <cdr:sp macro="" textlink="">
      <cdr:nvSpPr>
        <cdr:cNvPr id="3" name="תיבת טקסט 1">
          <a:extLst xmlns:a="http://schemas.openxmlformats.org/drawingml/2006/main">
            <a:ext uri="{FF2B5EF4-FFF2-40B4-BE49-F238E27FC236}">
              <a16:creationId xmlns:a16="http://schemas.microsoft.com/office/drawing/2014/main" id="{8E514D2F-CE79-62F9-68D9-37E71E4FC005}"/>
            </a:ext>
          </a:extLst>
        </cdr:cNvPr>
        <cdr:cNvSpPr txBox="1"/>
      </cdr:nvSpPr>
      <cdr:spPr>
        <a:xfrm xmlns:a="http://schemas.openxmlformats.org/drawingml/2006/main">
          <a:off x="2304936" y="747167"/>
          <a:ext cx="914410" cy="393899"/>
        </a:xfrm>
        <a:prstGeom xmlns:a="http://schemas.openxmlformats.org/drawingml/2006/main" prst="rect">
          <a:avLst/>
        </a:prstGeom>
      </cdr:spPr>
      <cdr:txBody>
        <a:bodyPr xmlns:a="http://schemas.openxmlformats.org/drawingml/2006/main" wrap="none" rtlCol="1"/>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he-IL" sz="1800" b="1" dirty="0"/>
            <a:t>26+</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EDA6DBF6-6AEF-4C94-B79B-CF8746B7BEFD}" type="datetimeFigureOut">
              <a:rPr lang="he-IL" smtClean="0"/>
              <a:t>י'/אדר א/תשפ"ד</a:t>
            </a:fld>
            <a:endParaRPr lang="he-IL"/>
          </a:p>
        </p:txBody>
      </p:sp>
      <p:sp>
        <p:nvSpPr>
          <p:cNvPr id="4" name="מציין מיקום של תמונת שקופית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29F3F316-D071-47E7-9055-3E1EE9D3B707}" type="slidenum">
              <a:rPr lang="he-IL" smtClean="0"/>
              <a:t>‹#›</a:t>
            </a:fld>
            <a:endParaRPr lang="he-IL"/>
          </a:p>
        </p:txBody>
      </p:sp>
    </p:spTree>
    <p:extLst>
      <p:ext uri="{BB962C8B-B14F-4D97-AF65-F5344CB8AC3E}">
        <p14:creationId xmlns:p14="http://schemas.microsoft.com/office/powerpoint/2010/main" val="102953310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spect="1" noChangeArrowheads="1" noTextEdit="1"/>
          </p:cNvSpPr>
          <p:nvPr>
            <p:ph type="sldImg"/>
          </p:nvPr>
        </p:nvSpPr>
        <p:spPr>
          <a:xfrm>
            <a:off x="1371600" y="1143000"/>
            <a:ext cx="4114800" cy="3086100"/>
          </a:xfrm>
          <a:ln/>
        </p:spPr>
      </p:sp>
      <p:sp>
        <p:nvSpPr>
          <p:cNvPr id="409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06486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spect="1" noChangeArrowheads="1" noTextEdit="1"/>
          </p:cNvSpPr>
          <p:nvPr>
            <p:ph type="sldImg"/>
          </p:nvPr>
        </p:nvSpPr>
        <p:spPr>
          <a:xfrm>
            <a:off x="1371600" y="1143000"/>
            <a:ext cx="4114800" cy="3086100"/>
          </a:xfrm>
          <a:ln/>
        </p:spPr>
      </p:sp>
      <p:sp>
        <p:nvSpPr>
          <p:cNvPr id="409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864025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spect="1" noChangeArrowheads="1" noTextEdit="1"/>
          </p:cNvSpPr>
          <p:nvPr>
            <p:ph type="sldImg"/>
          </p:nvPr>
        </p:nvSpPr>
        <p:spPr>
          <a:xfrm>
            <a:off x="1371600" y="1143000"/>
            <a:ext cx="4114800" cy="3086100"/>
          </a:xfrm>
          <a:ln/>
        </p:spPr>
      </p:sp>
      <p:sp>
        <p:nvSpPr>
          <p:cNvPr id="409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24961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spect="1" noChangeArrowheads="1" noTextEdit="1"/>
          </p:cNvSpPr>
          <p:nvPr>
            <p:ph type="sldImg"/>
          </p:nvPr>
        </p:nvSpPr>
        <p:spPr>
          <a:xfrm>
            <a:off x="1371600" y="1143000"/>
            <a:ext cx="4114800" cy="3086100"/>
          </a:xfrm>
          <a:ln/>
        </p:spPr>
      </p:sp>
      <p:sp>
        <p:nvSpPr>
          <p:cNvPr id="409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83350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spect="1" noChangeArrowheads="1" noTextEdit="1"/>
          </p:cNvSpPr>
          <p:nvPr>
            <p:ph type="sldImg"/>
          </p:nvPr>
        </p:nvSpPr>
        <p:spPr>
          <a:xfrm>
            <a:off x="1371600" y="1143000"/>
            <a:ext cx="4114800" cy="3086100"/>
          </a:xfrm>
          <a:ln/>
        </p:spPr>
      </p:sp>
      <p:sp>
        <p:nvSpPr>
          <p:cNvPr id="409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939248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spect="1" noChangeArrowheads="1" noTextEdit="1"/>
          </p:cNvSpPr>
          <p:nvPr>
            <p:ph type="sldImg"/>
          </p:nvPr>
        </p:nvSpPr>
        <p:spPr>
          <a:xfrm>
            <a:off x="1371600" y="1143000"/>
            <a:ext cx="4114800" cy="3086100"/>
          </a:xfrm>
          <a:ln/>
        </p:spPr>
      </p:sp>
      <p:sp>
        <p:nvSpPr>
          <p:cNvPr id="409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130970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spect="1" noChangeArrowheads="1" noTextEdit="1"/>
          </p:cNvSpPr>
          <p:nvPr>
            <p:ph type="sldImg"/>
          </p:nvPr>
        </p:nvSpPr>
        <p:spPr>
          <a:xfrm>
            <a:off x="1371600" y="1143000"/>
            <a:ext cx="4114800" cy="3086100"/>
          </a:xfrm>
          <a:ln/>
        </p:spPr>
      </p:sp>
      <p:sp>
        <p:nvSpPr>
          <p:cNvPr id="409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12027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spect="1" noChangeArrowheads="1" noTextEdit="1"/>
          </p:cNvSpPr>
          <p:nvPr>
            <p:ph type="sldImg"/>
          </p:nvPr>
        </p:nvSpPr>
        <p:spPr>
          <a:xfrm>
            <a:off x="1371600" y="1143000"/>
            <a:ext cx="4114800" cy="3086100"/>
          </a:xfrm>
          <a:ln/>
        </p:spPr>
      </p:sp>
      <p:sp>
        <p:nvSpPr>
          <p:cNvPr id="409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87865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spect="1" noChangeArrowheads="1" noTextEdit="1"/>
          </p:cNvSpPr>
          <p:nvPr>
            <p:ph type="sldImg"/>
          </p:nvPr>
        </p:nvSpPr>
        <p:spPr>
          <a:xfrm>
            <a:off x="1371600" y="1143000"/>
            <a:ext cx="4114800" cy="3086100"/>
          </a:xfrm>
          <a:ln/>
        </p:spPr>
      </p:sp>
      <p:sp>
        <p:nvSpPr>
          <p:cNvPr id="409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965890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spect="1" noChangeArrowheads="1" noTextEdit="1"/>
          </p:cNvSpPr>
          <p:nvPr>
            <p:ph type="sldImg"/>
          </p:nvPr>
        </p:nvSpPr>
        <p:spPr>
          <a:xfrm>
            <a:off x="1371600" y="1143000"/>
            <a:ext cx="4114800" cy="3086100"/>
          </a:xfrm>
          <a:ln/>
        </p:spPr>
      </p:sp>
      <p:sp>
        <p:nvSpPr>
          <p:cNvPr id="409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1116018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spect="1" noChangeArrowheads="1" noTextEdit="1"/>
          </p:cNvSpPr>
          <p:nvPr>
            <p:ph type="sldImg"/>
          </p:nvPr>
        </p:nvSpPr>
        <p:spPr>
          <a:xfrm>
            <a:off x="1371600" y="1143000"/>
            <a:ext cx="4114800" cy="3086100"/>
          </a:xfrm>
          <a:ln/>
        </p:spPr>
      </p:sp>
      <p:sp>
        <p:nvSpPr>
          <p:cNvPr id="409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214623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9A78C75E-7934-4551-9929-EE535370C9E1}" type="datetime8">
              <a:rPr lang="he-IL" smtClean="0"/>
              <a:t>19 פברואר 24</a:t>
            </a:fld>
            <a:endParaRPr lang="he-IL"/>
          </a:p>
        </p:txBody>
      </p:sp>
      <p:sp>
        <p:nvSpPr>
          <p:cNvPr id="5" name="Footer Placeholder 4"/>
          <p:cNvSpPr>
            <a:spLocks noGrp="1"/>
          </p:cNvSpPr>
          <p:nvPr>
            <p:ph type="ftr" sz="quarter" idx="11"/>
          </p:nvPr>
        </p:nvSpPr>
        <p:spPr/>
        <p:txBody>
          <a:bodyPr/>
          <a:lstStyle/>
          <a:p>
            <a:r>
              <a:rPr lang="he-IL"/>
              <a:t>אתר אינטרנט לאימהות טריות                      </a:t>
            </a:r>
            <a:r>
              <a:rPr lang="en-US"/>
              <a:t>Navon-13-2024-sem1</a:t>
            </a:r>
            <a:endParaRPr lang="he-IL"/>
          </a:p>
        </p:txBody>
      </p:sp>
      <p:sp>
        <p:nvSpPr>
          <p:cNvPr id="6" name="Slide Number Placeholder 5"/>
          <p:cNvSpPr>
            <a:spLocks noGrp="1"/>
          </p:cNvSpPr>
          <p:nvPr>
            <p:ph type="sldNum" sz="quarter" idx="12"/>
          </p:nvPr>
        </p:nvSpPr>
        <p:spPr/>
        <p:txBody>
          <a:bodyPr/>
          <a:lstStyle/>
          <a:p>
            <a:fld id="{F406CD6C-EFBE-497B-B02F-71827CD8C8E4}" type="slidenum">
              <a:rPr lang="he-IL" smtClean="0"/>
              <a:t>‹#›</a:t>
            </a:fld>
            <a:endParaRPr lang="he-IL"/>
          </a:p>
        </p:txBody>
      </p:sp>
    </p:spTree>
    <p:extLst>
      <p:ext uri="{BB962C8B-B14F-4D97-AF65-F5344CB8AC3E}">
        <p14:creationId xmlns:p14="http://schemas.microsoft.com/office/powerpoint/2010/main" val="2342245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D439AC27-A34C-4FDF-871F-6C294FA01191}" type="datetime8">
              <a:rPr lang="he-IL" smtClean="0"/>
              <a:t>19 פברואר 24</a:t>
            </a:fld>
            <a:endParaRPr lang="he-IL"/>
          </a:p>
        </p:txBody>
      </p:sp>
      <p:sp>
        <p:nvSpPr>
          <p:cNvPr id="5" name="Footer Placeholder 4"/>
          <p:cNvSpPr>
            <a:spLocks noGrp="1"/>
          </p:cNvSpPr>
          <p:nvPr>
            <p:ph type="ftr" sz="quarter" idx="11"/>
          </p:nvPr>
        </p:nvSpPr>
        <p:spPr/>
        <p:txBody>
          <a:bodyPr/>
          <a:lstStyle/>
          <a:p>
            <a:r>
              <a:rPr lang="he-IL"/>
              <a:t>אתר אינטרנט לאימהות טריות                      </a:t>
            </a:r>
            <a:r>
              <a:rPr lang="en-US"/>
              <a:t>Navon-13-2024-sem1</a:t>
            </a:r>
            <a:endParaRPr lang="he-IL"/>
          </a:p>
        </p:txBody>
      </p:sp>
      <p:sp>
        <p:nvSpPr>
          <p:cNvPr id="6" name="Slide Number Placeholder 5"/>
          <p:cNvSpPr>
            <a:spLocks noGrp="1"/>
          </p:cNvSpPr>
          <p:nvPr>
            <p:ph type="sldNum" sz="quarter" idx="12"/>
          </p:nvPr>
        </p:nvSpPr>
        <p:spPr/>
        <p:txBody>
          <a:bodyPr/>
          <a:lstStyle/>
          <a:p>
            <a:fld id="{F406CD6C-EFBE-497B-B02F-71827CD8C8E4}" type="slidenum">
              <a:rPr lang="he-IL" smtClean="0"/>
              <a:t>‹#›</a:t>
            </a:fld>
            <a:endParaRPr lang="he-IL"/>
          </a:p>
        </p:txBody>
      </p:sp>
    </p:spTree>
    <p:extLst>
      <p:ext uri="{BB962C8B-B14F-4D97-AF65-F5344CB8AC3E}">
        <p14:creationId xmlns:p14="http://schemas.microsoft.com/office/powerpoint/2010/main" val="454314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AD9D41EE-1AE9-4D3E-A777-D1AE094AEF40}" type="datetime8">
              <a:rPr lang="he-IL" smtClean="0"/>
              <a:t>19 פברואר 24</a:t>
            </a:fld>
            <a:endParaRPr lang="he-IL"/>
          </a:p>
        </p:txBody>
      </p:sp>
      <p:sp>
        <p:nvSpPr>
          <p:cNvPr id="5" name="Footer Placeholder 4"/>
          <p:cNvSpPr>
            <a:spLocks noGrp="1"/>
          </p:cNvSpPr>
          <p:nvPr>
            <p:ph type="ftr" sz="quarter" idx="11"/>
          </p:nvPr>
        </p:nvSpPr>
        <p:spPr/>
        <p:txBody>
          <a:bodyPr/>
          <a:lstStyle/>
          <a:p>
            <a:r>
              <a:rPr lang="he-IL"/>
              <a:t>אתר אינטרנט לאימהות טריות                      </a:t>
            </a:r>
            <a:r>
              <a:rPr lang="en-US"/>
              <a:t>Navon-13-2024-sem1</a:t>
            </a:r>
            <a:endParaRPr lang="he-IL"/>
          </a:p>
        </p:txBody>
      </p:sp>
      <p:sp>
        <p:nvSpPr>
          <p:cNvPr id="6" name="Slide Number Placeholder 5"/>
          <p:cNvSpPr>
            <a:spLocks noGrp="1"/>
          </p:cNvSpPr>
          <p:nvPr>
            <p:ph type="sldNum" sz="quarter" idx="12"/>
          </p:nvPr>
        </p:nvSpPr>
        <p:spPr/>
        <p:txBody>
          <a:bodyPr/>
          <a:lstStyle/>
          <a:p>
            <a:fld id="{F406CD6C-EFBE-497B-B02F-71827CD8C8E4}" type="slidenum">
              <a:rPr lang="he-IL" smtClean="0"/>
              <a:t>‹#›</a:t>
            </a:fld>
            <a:endParaRPr lang="he-IL"/>
          </a:p>
        </p:txBody>
      </p:sp>
    </p:spTree>
    <p:extLst>
      <p:ext uri="{BB962C8B-B14F-4D97-AF65-F5344CB8AC3E}">
        <p14:creationId xmlns:p14="http://schemas.microsoft.com/office/powerpoint/2010/main" val="3756023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BFD025CC-79BD-4F95-B947-4A40AADE8AA6}" type="datetime8">
              <a:rPr lang="he-IL" smtClean="0"/>
              <a:t>19 פברואר 24</a:t>
            </a:fld>
            <a:endParaRPr lang="he-IL"/>
          </a:p>
        </p:txBody>
      </p:sp>
      <p:sp>
        <p:nvSpPr>
          <p:cNvPr id="6" name="Footer Placeholder 5"/>
          <p:cNvSpPr>
            <a:spLocks noGrp="1"/>
          </p:cNvSpPr>
          <p:nvPr>
            <p:ph type="ftr" sz="quarter" idx="11"/>
          </p:nvPr>
        </p:nvSpPr>
        <p:spPr/>
        <p:txBody>
          <a:bodyPr/>
          <a:lstStyle/>
          <a:p>
            <a:r>
              <a:rPr lang="he-IL"/>
              <a:t>אתר אינטרנט לאימהות טריות                      </a:t>
            </a:r>
            <a:r>
              <a:rPr lang="en-US"/>
              <a:t>Navon-13-2024-sem1</a:t>
            </a:r>
            <a:endParaRPr lang="he-IL"/>
          </a:p>
        </p:txBody>
      </p:sp>
      <p:sp>
        <p:nvSpPr>
          <p:cNvPr id="7" name="Slide Number Placeholder 6"/>
          <p:cNvSpPr>
            <a:spLocks noGrp="1"/>
          </p:cNvSpPr>
          <p:nvPr>
            <p:ph type="sldNum" sz="quarter" idx="12"/>
          </p:nvPr>
        </p:nvSpPr>
        <p:spPr/>
        <p:txBody>
          <a:bodyPr/>
          <a:lstStyle/>
          <a:p>
            <a:fld id="{F406CD6C-EFBE-497B-B02F-71827CD8C8E4}" type="slidenum">
              <a:rPr lang="he-IL" smtClean="0"/>
              <a:t>‹#›</a:t>
            </a:fld>
            <a:endParaRPr lang="he-IL"/>
          </a:p>
        </p:txBody>
      </p:sp>
    </p:spTree>
    <p:extLst>
      <p:ext uri="{BB962C8B-B14F-4D97-AF65-F5344CB8AC3E}">
        <p14:creationId xmlns:p14="http://schemas.microsoft.com/office/powerpoint/2010/main" val="57934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629842" y="2505075"/>
            <a:ext cx="3868340"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4629150" y="2505075"/>
            <a:ext cx="3887391"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C79879EA-97B0-4F00-834D-8C2842400A77}" type="datetime8">
              <a:rPr lang="he-IL" smtClean="0"/>
              <a:t>19 פברואר 24</a:t>
            </a:fld>
            <a:endParaRPr lang="he-IL"/>
          </a:p>
        </p:txBody>
      </p:sp>
      <p:sp>
        <p:nvSpPr>
          <p:cNvPr id="8" name="Footer Placeholder 7"/>
          <p:cNvSpPr>
            <a:spLocks noGrp="1"/>
          </p:cNvSpPr>
          <p:nvPr>
            <p:ph type="ftr" sz="quarter" idx="11"/>
          </p:nvPr>
        </p:nvSpPr>
        <p:spPr/>
        <p:txBody>
          <a:bodyPr/>
          <a:lstStyle/>
          <a:p>
            <a:r>
              <a:rPr lang="he-IL"/>
              <a:t>אתר אינטרנט לאימהות טריות                      </a:t>
            </a:r>
            <a:r>
              <a:rPr lang="en-US"/>
              <a:t>Navon-13-2024-sem1</a:t>
            </a:r>
            <a:endParaRPr lang="he-IL"/>
          </a:p>
        </p:txBody>
      </p:sp>
      <p:sp>
        <p:nvSpPr>
          <p:cNvPr id="9" name="Slide Number Placeholder 8"/>
          <p:cNvSpPr>
            <a:spLocks noGrp="1"/>
          </p:cNvSpPr>
          <p:nvPr>
            <p:ph type="sldNum" sz="quarter" idx="12"/>
          </p:nvPr>
        </p:nvSpPr>
        <p:spPr/>
        <p:txBody>
          <a:bodyPr/>
          <a:lstStyle/>
          <a:p>
            <a:fld id="{F406CD6C-EFBE-497B-B02F-71827CD8C8E4}" type="slidenum">
              <a:rPr lang="he-IL" smtClean="0"/>
              <a:t>‹#›</a:t>
            </a:fld>
            <a:endParaRPr lang="he-IL"/>
          </a:p>
        </p:txBody>
      </p:sp>
    </p:spTree>
    <p:extLst>
      <p:ext uri="{BB962C8B-B14F-4D97-AF65-F5344CB8AC3E}">
        <p14:creationId xmlns:p14="http://schemas.microsoft.com/office/powerpoint/2010/main" val="52268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AE168273-1AAD-4611-91DF-03A00146180D}" type="datetime8">
              <a:rPr lang="he-IL" smtClean="0"/>
              <a:t>19 פברואר 24</a:t>
            </a:fld>
            <a:endParaRPr lang="he-IL"/>
          </a:p>
        </p:txBody>
      </p:sp>
      <p:sp>
        <p:nvSpPr>
          <p:cNvPr id="4" name="Footer Placeholder 3"/>
          <p:cNvSpPr>
            <a:spLocks noGrp="1"/>
          </p:cNvSpPr>
          <p:nvPr>
            <p:ph type="ftr" sz="quarter" idx="11"/>
          </p:nvPr>
        </p:nvSpPr>
        <p:spPr/>
        <p:txBody>
          <a:bodyPr/>
          <a:lstStyle/>
          <a:p>
            <a:r>
              <a:rPr lang="he-IL"/>
              <a:t>אתר אינטרנט לאימהות טריות                      </a:t>
            </a:r>
            <a:r>
              <a:rPr lang="en-US"/>
              <a:t>Navon-13-2024-sem1</a:t>
            </a:r>
            <a:endParaRPr lang="he-IL"/>
          </a:p>
        </p:txBody>
      </p:sp>
      <p:sp>
        <p:nvSpPr>
          <p:cNvPr id="5" name="Slide Number Placeholder 4"/>
          <p:cNvSpPr>
            <a:spLocks noGrp="1"/>
          </p:cNvSpPr>
          <p:nvPr>
            <p:ph type="sldNum" sz="quarter" idx="12"/>
          </p:nvPr>
        </p:nvSpPr>
        <p:spPr/>
        <p:txBody>
          <a:bodyPr/>
          <a:lstStyle/>
          <a:p>
            <a:fld id="{F406CD6C-EFBE-497B-B02F-71827CD8C8E4}" type="slidenum">
              <a:rPr lang="he-IL" smtClean="0"/>
              <a:t>‹#›</a:t>
            </a:fld>
            <a:endParaRPr lang="he-IL"/>
          </a:p>
        </p:txBody>
      </p:sp>
    </p:spTree>
    <p:extLst>
      <p:ext uri="{BB962C8B-B14F-4D97-AF65-F5344CB8AC3E}">
        <p14:creationId xmlns:p14="http://schemas.microsoft.com/office/powerpoint/2010/main" val="3083072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B7296E-5F19-4413-A471-8C8F68F1BF37}" type="datetime8">
              <a:rPr lang="he-IL" smtClean="0"/>
              <a:t>19 פברואר 24</a:t>
            </a:fld>
            <a:endParaRPr lang="he-IL"/>
          </a:p>
        </p:txBody>
      </p:sp>
      <p:sp>
        <p:nvSpPr>
          <p:cNvPr id="3" name="Footer Placeholder 2"/>
          <p:cNvSpPr>
            <a:spLocks noGrp="1"/>
          </p:cNvSpPr>
          <p:nvPr>
            <p:ph type="ftr" sz="quarter" idx="11"/>
          </p:nvPr>
        </p:nvSpPr>
        <p:spPr/>
        <p:txBody>
          <a:bodyPr/>
          <a:lstStyle/>
          <a:p>
            <a:r>
              <a:rPr lang="he-IL"/>
              <a:t>אתר אינטרנט לאימהות טריות                      </a:t>
            </a:r>
            <a:r>
              <a:rPr lang="en-US"/>
              <a:t>Navon-13-2024-sem1</a:t>
            </a:r>
            <a:endParaRPr lang="he-IL"/>
          </a:p>
        </p:txBody>
      </p:sp>
      <p:sp>
        <p:nvSpPr>
          <p:cNvPr id="4" name="Slide Number Placeholder 3"/>
          <p:cNvSpPr>
            <a:spLocks noGrp="1"/>
          </p:cNvSpPr>
          <p:nvPr>
            <p:ph type="sldNum" sz="quarter" idx="12"/>
          </p:nvPr>
        </p:nvSpPr>
        <p:spPr/>
        <p:txBody>
          <a:bodyPr/>
          <a:lstStyle/>
          <a:p>
            <a:fld id="{F406CD6C-EFBE-497B-B02F-71827CD8C8E4}" type="slidenum">
              <a:rPr lang="he-IL" smtClean="0"/>
              <a:t>‹#›</a:t>
            </a:fld>
            <a:endParaRPr lang="he-IL"/>
          </a:p>
        </p:txBody>
      </p:sp>
    </p:spTree>
    <p:extLst>
      <p:ext uri="{BB962C8B-B14F-4D97-AF65-F5344CB8AC3E}">
        <p14:creationId xmlns:p14="http://schemas.microsoft.com/office/powerpoint/2010/main" val="1340291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99D11B81-F39D-46E3-AF18-471E11A5317D}" type="datetime8">
              <a:rPr lang="he-IL" smtClean="0"/>
              <a:t>19 פברואר 24</a:t>
            </a:fld>
            <a:endParaRPr lang="he-IL"/>
          </a:p>
        </p:txBody>
      </p:sp>
      <p:sp>
        <p:nvSpPr>
          <p:cNvPr id="6" name="Footer Placeholder 5"/>
          <p:cNvSpPr>
            <a:spLocks noGrp="1"/>
          </p:cNvSpPr>
          <p:nvPr>
            <p:ph type="ftr" sz="quarter" idx="11"/>
          </p:nvPr>
        </p:nvSpPr>
        <p:spPr/>
        <p:txBody>
          <a:bodyPr/>
          <a:lstStyle/>
          <a:p>
            <a:r>
              <a:rPr lang="he-IL"/>
              <a:t>אתר אינטרנט לאימהות טריות                      </a:t>
            </a:r>
            <a:r>
              <a:rPr lang="en-US"/>
              <a:t>Navon-13-2024-sem1</a:t>
            </a:r>
            <a:endParaRPr lang="he-IL"/>
          </a:p>
        </p:txBody>
      </p:sp>
      <p:sp>
        <p:nvSpPr>
          <p:cNvPr id="7" name="Slide Number Placeholder 6"/>
          <p:cNvSpPr>
            <a:spLocks noGrp="1"/>
          </p:cNvSpPr>
          <p:nvPr>
            <p:ph type="sldNum" sz="quarter" idx="12"/>
          </p:nvPr>
        </p:nvSpPr>
        <p:spPr/>
        <p:txBody>
          <a:bodyPr/>
          <a:lstStyle/>
          <a:p>
            <a:fld id="{F406CD6C-EFBE-497B-B02F-71827CD8C8E4}" type="slidenum">
              <a:rPr lang="he-IL" smtClean="0"/>
              <a:t>‹#›</a:t>
            </a:fld>
            <a:endParaRPr lang="he-IL"/>
          </a:p>
        </p:txBody>
      </p:sp>
    </p:spTree>
    <p:extLst>
      <p:ext uri="{BB962C8B-B14F-4D97-AF65-F5344CB8AC3E}">
        <p14:creationId xmlns:p14="http://schemas.microsoft.com/office/powerpoint/2010/main" val="250969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81180DC3-0175-46E8-92D1-70970A1BE46B}" type="datetime8">
              <a:rPr lang="he-IL" smtClean="0"/>
              <a:t>19 פברואר 24</a:t>
            </a:fld>
            <a:endParaRPr lang="he-IL"/>
          </a:p>
        </p:txBody>
      </p:sp>
      <p:sp>
        <p:nvSpPr>
          <p:cNvPr id="6" name="Footer Placeholder 5"/>
          <p:cNvSpPr>
            <a:spLocks noGrp="1"/>
          </p:cNvSpPr>
          <p:nvPr>
            <p:ph type="ftr" sz="quarter" idx="11"/>
          </p:nvPr>
        </p:nvSpPr>
        <p:spPr/>
        <p:txBody>
          <a:bodyPr/>
          <a:lstStyle/>
          <a:p>
            <a:r>
              <a:rPr lang="he-IL"/>
              <a:t>אתר אינטרנט לאימהות טריות                      </a:t>
            </a:r>
            <a:r>
              <a:rPr lang="en-US"/>
              <a:t>Navon-13-2024-sem1</a:t>
            </a:r>
            <a:endParaRPr lang="he-IL"/>
          </a:p>
        </p:txBody>
      </p:sp>
      <p:sp>
        <p:nvSpPr>
          <p:cNvPr id="7" name="Slide Number Placeholder 6"/>
          <p:cNvSpPr>
            <a:spLocks noGrp="1"/>
          </p:cNvSpPr>
          <p:nvPr>
            <p:ph type="sldNum" sz="quarter" idx="12"/>
          </p:nvPr>
        </p:nvSpPr>
        <p:spPr/>
        <p:txBody>
          <a:bodyPr/>
          <a:lstStyle/>
          <a:p>
            <a:fld id="{F406CD6C-EFBE-497B-B02F-71827CD8C8E4}" type="slidenum">
              <a:rPr lang="he-IL" smtClean="0"/>
              <a:t>‹#›</a:t>
            </a:fld>
            <a:endParaRPr lang="he-IL"/>
          </a:p>
        </p:txBody>
      </p:sp>
    </p:spTree>
    <p:extLst>
      <p:ext uri="{BB962C8B-B14F-4D97-AF65-F5344CB8AC3E}">
        <p14:creationId xmlns:p14="http://schemas.microsoft.com/office/powerpoint/2010/main" val="1314547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6A1ED778-CD01-402C-8499-0CC7C1C9CCEB}" type="datetime8">
              <a:rPr lang="he-IL" smtClean="0"/>
              <a:t>19 פברואר 24</a:t>
            </a:fld>
            <a:endParaRPr lang="he-IL"/>
          </a:p>
        </p:txBody>
      </p:sp>
      <p:sp>
        <p:nvSpPr>
          <p:cNvPr id="5" name="Footer Placeholder 4"/>
          <p:cNvSpPr>
            <a:spLocks noGrp="1"/>
          </p:cNvSpPr>
          <p:nvPr>
            <p:ph type="ftr" sz="quarter" idx="11"/>
          </p:nvPr>
        </p:nvSpPr>
        <p:spPr/>
        <p:txBody>
          <a:bodyPr/>
          <a:lstStyle/>
          <a:p>
            <a:r>
              <a:rPr lang="he-IL"/>
              <a:t>אתר אינטרנט לאימהות טריות                      </a:t>
            </a:r>
            <a:r>
              <a:rPr lang="en-US"/>
              <a:t>Navon-13-2024-sem1</a:t>
            </a:r>
            <a:endParaRPr lang="he-IL"/>
          </a:p>
        </p:txBody>
      </p:sp>
      <p:sp>
        <p:nvSpPr>
          <p:cNvPr id="6" name="Slide Number Placeholder 5"/>
          <p:cNvSpPr>
            <a:spLocks noGrp="1"/>
          </p:cNvSpPr>
          <p:nvPr>
            <p:ph type="sldNum" sz="quarter" idx="12"/>
          </p:nvPr>
        </p:nvSpPr>
        <p:spPr/>
        <p:txBody>
          <a:bodyPr/>
          <a:lstStyle/>
          <a:p>
            <a:fld id="{F406CD6C-EFBE-497B-B02F-71827CD8C8E4}" type="slidenum">
              <a:rPr lang="he-IL" smtClean="0"/>
              <a:t>‹#›</a:t>
            </a:fld>
            <a:endParaRPr lang="he-IL"/>
          </a:p>
        </p:txBody>
      </p:sp>
    </p:spTree>
    <p:extLst>
      <p:ext uri="{BB962C8B-B14F-4D97-AF65-F5344CB8AC3E}">
        <p14:creationId xmlns:p14="http://schemas.microsoft.com/office/powerpoint/2010/main" val="2287898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0BEDD135-D5CE-447E-9E19-E004ECE40641}" type="datetime8">
              <a:rPr lang="he-IL" smtClean="0"/>
              <a:t>19 פברואר 24</a:t>
            </a:fld>
            <a:endParaRPr lang="he-IL"/>
          </a:p>
        </p:txBody>
      </p:sp>
      <p:sp>
        <p:nvSpPr>
          <p:cNvPr id="5" name="Footer Placeholder 4"/>
          <p:cNvSpPr>
            <a:spLocks noGrp="1"/>
          </p:cNvSpPr>
          <p:nvPr>
            <p:ph type="ftr" sz="quarter" idx="11"/>
          </p:nvPr>
        </p:nvSpPr>
        <p:spPr/>
        <p:txBody>
          <a:bodyPr/>
          <a:lstStyle/>
          <a:p>
            <a:r>
              <a:rPr lang="he-IL"/>
              <a:t>אתר אינטרנט לאימהות טריות                      </a:t>
            </a:r>
            <a:r>
              <a:rPr lang="en-US"/>
              <a:t>Navon-13-2024-sem1</a:t>
            </a:r>
            <a:endParaRPr lang="he-IL"/>
          </a:p>
        </p:txBody>
      </p:sp>
      <p:sp>
        <p:nvSpPr>
          <p:cNvPr id="6" name="Slide Number Placeholder 5"/>
          <p:cNvSpPr>
            <a:spLocks noGrp="1"/>
          </p:cNvSpPr>
          <p:nvPr>
            <p:ph type="sldNum" sz="quarter" idx="12"/>
          </p:nvPr>
        </p:nvSpPr>
        <p:spPr/>
        <p:txBody>
          <a:bodyPr/>
          <a:lstStyle/>
          <a:p>
            <a:fld id="{F406CD6C-EFBE-497B-B02F-71827CD8C8E4}" type="slidenum">
              <a:rPr lang="he-IL" smtClean="0"/>
              <a:t>‹#›</a:t>
            </a:fld>
            <a:endParaRPr lang="he-IL"/>
          </a:p>
        </p:txBody>
      </p:sp>
    </p:spTree>
    <p:extLst>
      <p:ext uri="{BB962C8B-B14F-4D97-AF65-F5344CB8AC3E}">
        <p14:creationId xmlns:p14="http://schemas.microsoft.com/office/powerpoint/2010/main" val="801638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02FEE2-A8FE-4658-A028-C009452A619A}" type="datetime8">
              <a:rPr lang="he-IL" smtClean="0"/>
              <a:t>19 פברואר 24</a:t>
            </a:fld>
            <a:endParaRPr lang="he-IL"/>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he-IL"/>
              <a:t>אתר אינטרנט לאימהות טריות                      </a:t>
            </a:r>
            <a:r>
              <a:rPr lang="en-US"/>
              <a:t>Navon-13-2024-sem1</a:t>
            </a:r>
            <a:endParaRPr lang="he-IL"/>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06CD6C-EFBE-497B-B02F-71827CD8C8E4}" type="slidenum">
              <a:rPr lang="he-IL" smtClean="0"/>
              <a:t>‹#›</a:t>
            </a:fld>
            <a:endParaRPr lang="he-IL"/>
          </a:p>
        </p:txBody>
      </p:sp>
    </p:spTree>
    <p:extLst>
      <p:ext uri="{BB962C8B-B14F-4D97-AF65-F5344CB8AC3E}">
        <p14:creationId xmlns:p14="http://schemas.microsoft.com/office/powerpoint/2010/main" val="17122567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tmp"/></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tmp"/></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tmp"/></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tmp"/></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tmp"/></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tmp"/><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2.tmp"/><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chart" Target="../charts/chart4.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5.xml"/><Relationship Id="rId1" Type="http://schemas.openxmlformats.org/officeDocument/2006/relationships/slideLayout" Target="../slideLayouts/slideLayout7.xml"/><Relationship Id="rId4" Type="http://schemas.openxmlformats.org/officeDocument/2006/relationships/image" Target="../media/image2.tmp"/></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tmp"/><Relationship Id="rId5" Type="http://schemas.openxmlformats.org/officeDocument/2006/relationships/image" Target="../media/image1.png"/><Relationship Id="rId4" Type="http://schemas.openxmlformats.org/officeDocument/2006/relationships/chart" Target="../charts/char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tmp"/></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tmp"/></Relationships>
</file>

<file path=ppt/slides/_rels/slide12.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midwives.org.il/" TargetMode="External"/><Relationship Id="rId2" Type="http://schemas.openxmlformats.org/officeDocument/2006/relationships/hyperlink" Target="https://powerbirth.co.il/" TargetMode="External"/><Relationship Id="rId1" Type="http://schemas.openxmlformats.org/officeDocument/2006/relationships/slideLayout" Target="../slideLayouts/slideLayout7.xml"/><Relationship Id="rId5" Type="http://schemas.openxmlformats.org/officeDocument/2006/relationships/image" Target="../media/image2.tmp"/><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tmp"/></Relationships>
</file>

<file path=ppt/slides/_rels/slide16.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orkspace.google.com/intl/iw/products/sites/" TargetMode="External"/><Relationship Id="rId5" Type="http://schemas.openxmlformats.org/officeDocument/2006/relationships/hyperlink" Target="https://app.site123.com/manager/affiliate/abLandingOutsource.php?subject=&amp;a=1&amp;c_h=%D7%91%D7%A0%D7%94+%D7%90%D7%AA%D7%A8+%D7%90%D7%99%D7%A0%D7%98%D7%A8%D7%A0%D7%98+%D7%91%D7%97%D7%99%D7%A0%D7%9D&amp;utm_source=google&amp;utm_medium=cpc&amp;utm_campaign=11810985533&amp;utm_adgroupID=115705759158&amp;gad_source=1&amp;gclid=Cj0KCQiAz8GuBhCxARIsAOpzk8wz3V_wsEiJdRYvenE0Y0h14K3zYwn3feg3pqHkdX72pmcvCI5Z4bQaAky-EALw_wcB&amp;l=he&amp;landingSystem=1" TargetMode="External"/><Relationship Id="rId4" Type="http://schemas.openxmlformats.org/officeDocument/2006/relationships/hyperlink" Target="https://www.wix.com/hebrewhtml/hiker-he?utm_source=google&amp;utm_medium=cpc&amp;utm_campaign=20380950437%5e152265241620%5esearch%20-%20lang&amp;experiment_id=%D7%91%D7%A0%D7%99%D7%99%D7%AA%20%D7%90%D7%AA%D7%A8%20%D7%91%D7%97%D7%99%D7%A0%D7%9D%20%D7%91%D7%A2%D7%91%D7%A8%D7%99%D7%AA%5ee%5e666192343377%5e&amp;gad_source=1&amp;gclid=Cj0KCQiAz8GuBhCxARIsAOpzk8wvNHFWBrsYllrxhbSIvJnxmFq3H8OM9Pc_yXOH_95rBQVykhod0yMaAplMEALw_wcB"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onlinelibrary.wiley.com/authored-by/Drentea/Patricia"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onlinelibrary.wiley.com/authored-by/Drentea/Patricia"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tmp"/><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hyperlink" Target=":%20https:/www.sikkuy-aufoq.org.il/%D7%9B%D7%9C-%D7%94%D7%90%D7%9E%D7%AA-%D7%A2%D7%9C-%D7%94%D7%9B%D7%A4%D7%A8%D7%99%D7%9D-%D7%94%D7%9C%D7%90-%D7%9E%D7%95%D7%9B%D7%A8%D7%99%D7%9D-%D7%91%D7%A0%D7%92%D7%91-%D7%95%D7%9E%D7%90%D7%91/%20-" TargetMode="External"/><Relationship Id="rId3" Type="http://schemas.openxmlformats.org/officeDocument/2006/relationships/image" Target="../media/image2.tmp"/><Relationship Id="rId7" Type="http://schemas.openxmlformats.org/officeDocument/2006/relationships/hyperlink" Target="https://www.health.gov.il/PublicationsFiles/ICDC_314.pdf"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fs.knesset.gov.il/globaldocs/MMM/9b1d9ce1-26c5-ec11-814c-005056aa4246/2_9b1d9ce1-26c5-ec11-814c-005056aa4246_11_19884.pdf" TargetMode="External"/><Relationship Id="rId5" Type="http://schemas.openxmlformats.org/officeDocument/2006/relationships/hyperlink" Target="https://abrahaminitiatives.org.il/2011/06/20/%D7%94%D7%97%D7%91%D7%A8%D7%94-%D7%94%D7%91%D7%93%D7%95%D7%90%D7%99%D7%AA-%D7%91%D7%A0%D7%92%D7%91/" TargetMode="External"/><Relationship Id="rId4" Type="http://schemas.openxmlformats.org/officeDocument/2006/relationships/hyperlink" Target="https://fs.knesset.gov.il/globaldocs/MMM/5bbeceb1-2e1f-ee11-8159-005056aac6c3/2_5bbeceb1-2e1f-ee11-8159-005056aac6c3_11_20201.pdf" TargetMode="External"/><Relationship Id="rId9" Type="http://schemas.openxmlformats.org/officeDocument/2006/relationships/hyperlink" Target="https://www.health.gov.il/Subjects/pregnancy/Childbirth/birthday/Pages/postnatal_depressions.aspx"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s://app.site123.com/manager/affiliate/abLandingOutsource.php?subject=&amp;a=1&amp;c_h=%D7%91%D7%A0%D7%94+%D7%90%D7%AA%D7%A8+%D7%90%D7%99%D7%A0%D7%98%D7%A8%D7%A0%D7%98+%D7%91%D7%97%D7%99%D7%A0%D7%9D&amp;utm_source=google&amp;utm_medium=cpc&amp;utm_campaign=11810985533&amp;utm_adgroupID=115705759158&amp;gad_source=1&amp;gclid=Cj0KCQiAz8GuBhCxARIsAOpzk8wz3V_wsEiJdRYvenE0Y0h14K3zYwn3feg3pqHkdX72pmcvCI5Z4bQaAky-EALw_wcB&amp;l=he&amp;landingSystem=1" TargetMode="External"/><Relationship Id="rId3" Type="http://schemas.openxmlformats.org/officeDocument/2006/relationships/image" Target="../media/image2.tmp"/><Relationship Id="rId7" Type="http://schemas.openxmlformats.org/officeDocument/2006/relationships/hyperlink" Target="https://www.wix.com/hebrewhtml/hiker-he?utm_source=google&amp;utm_medium=cpc&amp;utm_campaign=20380950437%5e152265241620%5esearch%20-%20lang&amp;experiment_id=%D7%91%D7%A0%D7%99%D7%99%D7%AA%20%D7%90%D7%AA%D7%A8%20%D7%91%D7%97%D7%99%D7%A0%D7%9D%20%D7%91%D7%A2%D7%91%D7%A8%D7%99%D7%AA%5ee%5e666192343377%5e&amp;gad_source=1&amp;gclid=Cj0KCQiAz8GuBhCxARIsAOpzk8wvNHFWBrsYllrxhbSIvJnxmFq3H8OM9Pc_yXOH_95rBQVykhod0yMaAplMEALw_wcB"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midwives.org.il/" TargetMode="External"/><Relationship Id="rId5" Type="http://schemas.openxmlformats.org/officeDocument/2006/relationships/hyperlink" Target="https://powerbirth.co.il/" TargetMode="External"/><Relationship Id="rId10" Type="http://schemas.openxmlformats.org/officeDocument/2006/relationships/hyperlink" Target="https://onlinelibrary.wiley.com/authored-by/Drentea/Patricia" TargetMode="External"/><Relationship Id="rId4" Type="http://schemas.openxmlformats.org/officeDocument/2006/relationships/hyperlink" Target="https://www.mamanatural.com/" TargetMode="External"/><Relationship Id="rId9" Type="http://schemas.openxmlformats.org/officeDocument/2006/relationships/hyperlink" Target="https://workspace.google.com/intl/iw/products/sit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Rectangle 2"/>
          <p:cNvSpPr txBox="1">
            <a:spLocks noChangeArrowheads="1"/>
          </p:cNvSpPr>
          <p:nvPr/>
        </p:nvSpPr>
        <p:spPr bwMode="auto">
          <a:xfrm>
            <a:off x="0" y="150991"/>
            <a:ext cx="9137406" cy="594122"/>
          </a:xfrm>
          <a:prstGeom prst="rect">
            <a:avLst/>
          </a:prstGeom>
          <a:noFill/>
          <a:ln w="9525">
            <a:noFill/>
            <a:miter lim="800000"/>
            <a:headEnd/>
            <a:tailEnd/>
          </a:ln>
        </p:spPr>
        <p:txBody>
          <a:bodyPr lIns="54000" tIns="54000" rIns="54000" bIns="54000" anchor="ctr"/>
          <a:lstStyle/>
          <a:p>
            <a:pPr algn="ctr" rtl="1" eaLnBrk="1" hangingPunct="1">
              <a:defRPr/>
            </a:pPr>
            <a:r>
              <a:rPr lang="he-IL" sz="2400" b="1" dirty="0">
                <a:latin typeface="Times New Roman" pitchFamily="18" charset="0"/>
              </a:rPr>
              <a:t>פרויקט גמר – תשפ"ד</a:t>
            </a:r>
            <a:br>
              <a:rPr lang="he-IL" sz="2400" b="1" dirty="0">
                <a:latin typeface="Times New Roman" pitchFamily="18" charset="0"/>
              </a:rPr>
            </a:br>
            <a:r>
              <a:rPr lang="he-IL" sz="2400" b="1" dirty="0">
                <a:latin typeface="Times New Roman" pitchFamily="18" charset="0"/>
              </a:rPr>
              <a:t>סמינר </a:t>
            </a:r>
            <a:r>
              <a:rPr lang="en-US" sz="2000" b="1" dirty="0">
                <a:latin typeface="Times New Roman" pitchFamily="18" charset="0"/>
              </a:rPr>
              <a:t>2</a:t>
            </a:r>
            <a:r>
              <a:rPr lang="he-IL" sz="2400" b="1" dirty="0">
                <a:latin typeface="Times New Roman" pitchFamily="18" charset="0"/>
              </a:rPr>
              <a:t> – </a:t>
            </a:r>
            <a:r>
              <a:rPr lang="en-US" sz="2400" b="1" dirty="0">
                <a:latin typeface="Times New Roman" pitchFamily="18" charset="0"/>
              </a:rPr>
              <a:t>22/02/24</a:t>
            </a:r>
            <a:endParaRPr lang="he-IL" sz="2400" b="1" dirty="0">
              <a:latin typeface="Times New Roman" pitchFamily="18" charset="0"/>
            </a:endParaRPr>
          </a:p>
        </p:txBody>
      </p:sp>
      <p:sp>
        <p:nvSpPr>
          <p:cNvPr id="2053" name="מלבן 3"/>
          <p:cNvSpPr>
            <a:spLocks noChangeArrowheads="1"/>
          </p:cNvSpPr>
          <p:nvPr/>
        </p:nvSpPr>
        <p:spPr bwMode="auto">
          <a:xfrm>
            <a:off x="1360683" y="1215897"/>
            <a:ext cx="6504707" cy="1040285"/>
          </a:xfrm>
          <a:prstGeom prst="rect">
            <a:avLst/>
          </a:prstGeom>
          <a:noFill/>
          <a:ln w="9525">
            <a:noFill/>
            <a:miter lim="800000"/>
            <a:headEnd/>
            <a:tailEnd/>
          </a:ln>
        </p:spPr>
        <p:txBody>
          <a:bodyPr wrap="square">
            <a:spAutoFit/>
          </a:bodyPr>
          <a:lstStyle/>
          <a:p>
            <a:pPr algn="ctr">
              <a:spcBef>
                <a:spcPct val="20000"/>
              </a:spcBef>
            </a:pPr>
            <a:r>
              <a:rPr lang="he-IL" sz="2800" dirty="0"/>
              <a:t>אתר אינטרנט לאימהות חדשות במגזר הבדואי</a:t>
            </a:r>
          </a:p>
          <a:p>
            <a:pPr algn="ctr">
              <a:spcBef>
                <a:spcPct val="20000"/>
              </a:spcBef>
            </a:pPr>
            <a:endParaRPr lang="he-IL" sz="2800" dirty="0">
              <a:highlight>
                <a:srgbClr val="FFFF00"/>
              </a:highlight>
            </a:endParaRPr>
          </a:p>
        </p:txBody>
      </p:sp>
      <p:sp>
        <p:nvSpPr>
          <p:cNvPr id="2054" name="מלבן 3"/>
          <p:cNvSpPr>
            <a:spLocks noChangeArrowheads="1"/>
          </p:cNvSpPr>
          <p:nvPr/>
        </p:nvSpPr>
        <p:spPr bwMode="auto">
          <a:xfrm>
            <a:off x="4164037" y="2717814"/>
            <a:ext cx="4691453" cy="1948226"/>
          </a:xfrm>
          <a:prstGeom prst="rect">
            <a:avLst/>
          </a:prstGeom>
          <a:noFill/>
          <a:ln w="9525">
            <a:noFill/>
            <a:miter lim="800000"/>
            <a:headEnd/>
            <a:tailEnd/>
          </a:ln>
        </p:spPr>
        <p:txBody>
          <a:bodyPr wrap="square">
            <a:spAutoFit/>
          </a:bodyPr>
          <a:lstStyle/>
          <a:p>
            <a:pPr algn="r" rtl="1" eaLnBrk="1" hangingPunct="1">
              <a:spcBef>
                <a:spcPct val="50000"/>
              </a:spcBef>
            </a:pPr>
            <a:r>
              <a:rPr lang="he-IL" b="1" u="sng" dirty="0"/>
              <a:t>מגישים</a:t>
            </a:r>
            <a:r>
              <a:rPr lang="he-IL" b="1" dirty="0"/>
              <a:t>:</a:t>
            </a:r>
          </a:p>
          <a:p>
            <a:pPr algn="r" rtl="1" eaLnBrk="1" hangingPunct="1">
              <a:spcBef>
                <a:spcPct val="50000"/>
              </a:spcBef>
            </a:pPr>
            <a:r>
              <a:rPr lang="he-IL" b="1" dirty="0"/>
              <a:t>סוהילה מסעודיין- </a:t>
            </a:r>
            <a:r>
              <a:rPr lang="he-IL" dirty="0"/>
              <a:t>ניהול תעשייתי/מע' מידע</a:t>
            </a:r>
          </a:p>
          <a:p>
            <a:pPr algn="r" rtl="1" eaLnBrk="1" hangingPunct="1">
              <a:spcBef>
                <a:spcPct val="50000"/>
              </a:spcBef>
            </a:pPr>
            <a:r>
              <a:rPr lang="he-IL" b="1" dirty="0"/>
              <a:t>מרים אבו כף- </a:t>
            </a:r>
            <a:r>
              <a:rPr lang="he-IL" dirty="0"/>
              <a:t>ניהול תעשייתי/מע' מידע</a:t>
            </a:r>
          </a:p>
          <a:p>
            <a:pPr algn="r" rtl="1">
              <a:spcBef>
                <a:spcPct val="50000"/>
              </a:spcBef>
            </a:pPr>
            <a:r>
              <a:rPr lang="he-IL" b="1" dirty="0"/>
              <a:t>אסיא </a:t>
            </a:r>
            <a:r>
              <a:rPr lang="he-IL" b="1" dirty="0" err="1"/>
              <a:t>אלסייד</a:t>
            </a:r>
            <a:r>
              <a:rPr lang="he-IL" b="1" dirty="0"/>
              <a:t>- </a:t>
            </a:r>
            <a:r>
              <a:rPr lang="he-IL" dirty="0"/>
              <a:t>ניהול תעשייתי/מע' מידע</a:t>
            </a:r>
          </a:p>
          <a:p>
            <a:pPr algn="r" rtl="1" eaLnBrk="1" hangingPunct="1">
              <a:spcBef>
                <a:spcPct val="20000"/>
              </a:spcBef>
            </a:pPr>
            <a:r>
              <a:rPr lang="he-IL" b="1" u="sng" dirty="0"/>
              <a:t>מקור הפרויקט</a:t>
            </a:r>
            <a:r>
              <a:rPr lang="he-IL" b="1" dirty="0"/>
              <a:t>: </a:t>
            </a:r>
            <a:r>
              <a:rPr lang="he-IL" dirty="0"/>
              <a:t>סטודנטים</a:t>
            </a:r>
          </a:p>
        </p:txBody>
      </p:sp>
      <p:sp>
        <p:nvSpPr>
          <p:cNvPr id="2057" name="מציין מיקום של כותרת תחתונה 8"/>
          <p:cNvSpPr>
            <a:spLocks noGrp="1"/>
          </p:cNvSpPr>
          <p:nvPr>
            <p:ph type="ftr" sz="quarter" idx="11"/>
          </p:nvPr>
        </p:nvSpPr>
        <p:spPr>
          <a:xfrm>
            <a:off x="2832578" y="6494659"/>
            <a:ext cx="3858670" cy="342900"/>
          </a:xfrm>
          <a:noFill/>
        </p:spPr>
        <p:txBody>
          <a:bodyPr/>
          <a:lstStyle/>
          <a:p>
            <a:pPr rtl="1">
              <a:spcBef>
                <a:spcPct val="20000"/>
              </a:spcBef>
            </a:pPr>
            <a:r>
              <a:rPr lang="he-IL" b="1" dirty="0">
                <a:solidFill>
                  <a:schemeClr val="tx1"/>
                </a:solidFill>
              </a:rPr>
              <a:t>אתר אינטרנט לאימהות חדשות במגזר הבדואי                   </a:t>
            </a:r>
            <a:endParaRPr lang="en-US" b="1" dirty="0">
              <a:solidFill>
                <a:schemeClr val="tx1"/>
              </a:solidFill>
            </a:endParaRPr>
          </a:p>
          <a:p>
            <a:pPr rtl="1">
              <a:spcBef>
                <a:spcPct val="20000"/>
              </a:spcBef>
            </a:pPr>
            <a:r>
              <a:rPr lang="en-US" b="1" dirty="0">
                <a:solidFill>
                  <a:schemeClr val="tx1"/>
                </a:solidFill>
              </a:rPr>
              <a:t>Navon-13-2024-sem2</a:t>
            </a:r>
          </a:p>
        </p:txBody>
      </p:sp>
      <p:sp>
        <p:nvSpPr>
          <p:cNvPr id="13" name="מלבן 12">
            <a:extLst>
              <a:ext uri="{FF2B5EF4-FFF2-40B4-BE49-F238E27FC236}">
                <a16:creationId xmlns:a16="http://schemas.microsoft.com/office/drawing/2014/main" id="{87AE97C7-02FC-4517-8172-35A44879D997}"/>
              </a:ext>
            </a:extLst>
          </p:cNvPr>
          <p:cNvSpPr/>
          <p:nvPr/>
        </p:nvSpPr>
        <p:spPr>
          <a:xfrm>
            <a:off x="3347103" y="1677529"/>
            <a:ext cx="2829621" cy="473912"/>
          </a:xfrm>
          <a:prstGeom prst="rect">
            <a:avLst/>
          </a:prstGeom>
        </p:spPr>
        <p:txBody>
          <a:bodyPr wrap="none">
            <a:spAutoFit/>
          </a:bodyPr>
          <a:lstStyle/>
          <a:p>
            <a:pPr marL="257175" indent="-257175" algn="r" rtl="1">
              <a:lnSpc>
                <a:spcPct val="140000"/>
              </a:lnSpc>
              <a:spcBef>
                <a:spcPct val="50000"/>
              </a:spcBef>
              <a:tabLst>
                <a:tab pos="2019300" algn="r"/>
              </a:tabLst>
            </a:pPr>
            <a:r>
              <a:rPr lang="he-IL" sz="2000" b="1" dirty="0">
                <a:latin typeface="David" panose="020E0502060401010101" pitchFamily="34" charset="-79"/>
              </a:rPr>
              <a:t>מספר הפרויקט</a:t>
            </a:r>
            <a:r>
              <a:rPr lang="he-IL" sz="2000" dirty="0">
                <a:latin typeface="David" panose="020E0502060401010101" pitchFamily="34" charset="-79"/>
              </a:rPr>
              <a:t>: </a:t>
            </a:r>
            <a:r>
              <a:rPr lang="en-US" sz="2000" dirty="0">
                <a:latin typeface="Arial" panose="020B0604020202020204" pitchFamily="34" charset="0"/>
                <a:cs typeface="Arial" panose="020B0604020202020204" pitchFamily="34" charset="0"/>
              </a:rPr>
              <a:t>13-2024</a:t>
            </a:r>
            <a:endParaRPr lang="he-IL" sz="2000" dirty="0">
              <a:latin typeface="Arial" panose="020B0604020202020204" pitchFamily="34" charset="0"/>
              <a:cs typeface="Arial" panose="020B0604020202020204" pitchFamily="34" charset="0"/>
            </a:endParaRPr>
          </a:p>
        </p:txBody>
      </p:sp>
      <p:sp>
        <p:nvSpPr>
          <p:cNvPr id="15" name="מלבן 3">
            <a:extLst>
              <a:ext uri="{FF2B5EF4-FFF2-40B4-BE49-F238E27FC236}">
                <a16:creationId xmlns:a16="http://schemas.microsoft.com/office/drawing/2014/main" id="{9F41EEEF-F732-4E48-BAD8-9239F1B1CD51}"/>
              </a:ext>
            </a:extLst>
          </p:cNvPr>
          <p:cNvSpPr>
            <a:spLocks noChangeArrowheads="1"/>
          </p:cNvSpPr>
          <p:nvPr/>
        </p:nvSpPr>
        <p:spPr bwMode="auto">
          <a:xfrm>
            <a:off x="437638" y="5163199"/>
            <a:ext cx="8417851" cy="784830"/>
          </a:xfrm>
          <a:prstGeom prst="rect">
            <a:avLst/>
          </a:prstGeom>
          <a:noFill/>
          <a:ln w="9525">
            <a:noFill/>
            <a:miter lim="800000"/>
            <a:headEnd/>
            <a:tailEnd/>
          </a:ln>
        </p:spPr>
        <p:txBody>
          <a:bodyPr wrap="square" anchor="ctr">
            <a:spAutoFit/>
          </a:bodyPr>
          <a:lstStyle/>
          <a:p>
            <a:pPr algn="r" rtl="1">
              <a:spcBef>
                <a:spcPct val="50000"/>
              </a:spcBef>
              <a:defRPr/>
            </a:pPr>
            <a:r>
              <a:rPr lang="he-IL" b="1" u="sng" kern="0" dirty="0">
                <a:solidFill>
                  <a:prstClr val="black"/>
                </a:solidFill>
              </a:rPr>
              <a:t>תחום מקצועי:</a:t>
            </a:r>
            <a:r>
              <a:rPr lang="he-IL" kern="0" dirty="0">
                <a:solidFill>
                  <a:prstClr val="black"/>
                </a:solidFill>
              </a:rPr>
              <a:t> מערכות מידע                     </a:t>
            </a:r>
            <a:r>
              <a:rPr lang="he-IL" b="1" kern="0" dirty="0">
                <a:solidFill>
                  <a:prstClr val="black"/>
                </a:solidFill>
              </a:rPr>
              <a:t>ענף: </a:t>
            </a:r>
            <a:r>
              <a:rPr lang="he-IL" kern="0" dirty="0">
                <a:solidFill>
                  <a:prstClr val="black"/>
                </a:solidFill>
              </a:rPr>
              <a:t>חינוך/גידול ילדים</a:t>
            </a:r>
          </a:p>
          <a:p>
            <a:pPr algn="r" rtl="1">
              <a:spcBef>
                <a:spcPct val="50000"/>
              </a:spcBef>
              <a:defRPr/>
            </a:pPr>
            <a:r>
              <a:rPr lang="he-IL" b="1" u="sng" kern="0" dirty="0">
                <a:solidFill>
                  <a:prstClr val="black"/>
                </a:solidFill>
              </a:rPr>
              <a:t>מילות מפתח:</a:t>
            </a:r>
            <a:r>
              <a:rPr lang="he-IL" kern="0" dirty="0">
                <a:solidFill>
                  <a:prstClr val="black"/>
                </a:solidFill>
              </a:rPr>
              <a:t> תרשים תהליך, תרשים </a:t>
            </a:r>
            <a:r>
              <a:rPr lang="en-US" kern="0" dirty="0">
                <a:solidFill>
                  <a:prstClr val="black"/>
                </a:solidFill>
              </a:rPr>
              <a:t>DFD</a:t>
            </a:r>
            <a:r>
              <a:rPr lang="he-IL" kern="0" dirty="0">
                <a:solidFill>
                  <a:prstClr val="black"/>
                </a:solidFill>
              </a:rPr>
              <a:t>, </a:t>
            </a:r>
            <a:r>
              <a:rPr lang="en-US" kern="0" dirty="0">
                <a:solidFill>
                  <a:prstClr val="black"/>
                </a:solidFill>
              </a:rPr>
              <a:t>VTOC</a:t>
            </a:r>
            <a:r>
              <a:rPr lang="he-IL" kern="0" dirty="0">
                <a:solidFill>
                  <a:prstClr val="black"/>
                </a:solidFill>
              </a:rPr>
              <a:t>, </a:t>
            </a:r>
            <a:r>
              <a:rPr lang="en-US" kern="0" dirty="0">
                <a:solidFill>
                  <a:prstClr val="black"/>
                </a:solidFill>
              </a:rPr>
              <a:t>USE CASE</a:t>
            </a:r>
            <a:r>
              <a:rPr lang="he-IL" kern="0" dirty="0">
                <a:solidFill>
                  <a:prstClr val="black"/>
                </a:solidFill>
              </a:rPr>
              <a:t>, חקר ישימות, אב טיפוס.</a:t>
            </a:r>
          </a:p>
        </p:txBody>
      </p:sp>
      <p:sp>
        <p:nvSpPr>
          <p:cNvPr id="2" name="מלבן 3">
            <a:extLst>
              <a:ext uri="{FF2B5EF4-FFF2-40B4-BE49-F238E27FC236}">
                <a16:creationId xmlns:a16="http://schemas.microsoft.com/office/drawing/2014/main" id="{DACB60C8-419F-F9CB-344F-30E86FD75778}"/>
              </a:ext>
            </a:extLst>
          </p:cNvPr>
          <p:cNvSpPr>
            <a:spLocks noChangeArrowheads="1"/>
          </p:cNvSpPr>
          <p:nvPr/>
        </p:nvSpPr>
        <p:spPr bwMode="auto">
          <a:xfrm>
            <a:off x="203785" y="3092852"/>
            <a:ext cx="3960252" cy="1200329"/>
          </a:xfrm>
          <a:prstGeom prst="rect">
            <a:avLst/>
          </a:prstGeom>
          <a:noFill/>
          <a:ln w="9525">
            <a:noFill/>
            <a:miter lim="800000"/>
            <a:headEnd/>
            <a:tailEnd/>
          </a:ln>
        </p:spPr>
        <p:txBody>
          <a:bodyPr wrap="square">
            <a:spAutoFit/>
          </a:bodyPr>
          <a:lstStyle/>
          <a:p>
            <a:pPr algn="r" rtl="1" eaLnBrk="1" hangingPunct="1">
              <a:spcBef>
                <a:spcPct val="50000"/>
              </a:spcBef>
            </a:pPr>
            <a:r>
              <a:rPr lang="he-IL" b="1" u="sng" dirty="0"/>
              <a:t>מנחה אקדמי</a:t>
            </a:r>
            <a:r>
              <a:rPr lang="he-IL" b="1" dirty="0"/>
              <a:t>: </a:t>
            </a:r>
            <a:r>
              <a:rPr lang="he-IL" dirty="0"/>
              <a:t>תמר נבון</a:t>
            </a:r>
          </a:p>
          <a:p>
            <a:pPr algn="r" rtl="1" eaLnBrk="1" hangingPunct="1">
              <a:spcBef>
                <a:spcPct val="50000"/>
              </a:spcBef>
            </a:pPr>
            <a:r>
              <a:rPr lang="he-IL" b="1" u="sng" dirty="0"/>
              <a:t>מנחה </a:t>
            </a:r>
            <a:r>
              <a:rPr lang="he-IL" b="1" u="sng" dirty="0" err="1"/>
              <a:t>מקצועי</a:t>
            </a:r>
            <a:r>
              <a:rPr lang="he-IL" dirty="0" err="1"/>
              <a:t>:תמר</a:t>
            </a:r>
            <a:r>
              <a:rPr lang="he-IL" dirty="0"/>
              <a:t> נבון</a:t>
            </a:r>
          </a:p>
          <a:p>
            <a:pPr algn="r" rtl="1" eaLnBrk="1" hangingPunct="1">
              <a:spcBef>
                <a:spcPct val="50000"/>
              </a:spcBef>
            </a:pPr>
            <a:r>
              <a:rPr lang="he-IL" b="1" u="sng" dirty="0"/>
              <a:t>מנחה סמינר</a:t>
            </a:r>
            <a:r>
              <a:rPr lang="he-IL" b="1" dirty="0"/>
              <a:t>: </a:t>
            </a:r>
            <a:r>
              <a:rPr lang="he-IL" dirty="0"/>
              <a:t>דוד שושנה</a:t>
            </a:r>
          </a:p>
        </p:txBody>
      </p:sp>
      <p:pic>
        <p:nvPicPr>
          <p:cNvPr id="11" name="תמונה 10">
            <a:extLst>
              <a:ext uri="{FF2B5EF4-FFF2-40B4-BE49-F238E27FC236}">
                <a16:creationId xmlns:a16="http://schemas.microsoft.com/office/drawing/2014/main" id="{7D0199DA-4906-44E9-911C-60238883A2E7}"/>
              </a:ext>
            </a:extLst>
          </p:cNvPr>
          <p:cNvPicPr>
            <a:picLocks noChangeAspect="1"/>
          </p:cNvPicPr>
          <p:nvPr/>
        </p:nvPicPr>
        <p:blipFill>
          <a:blip r:embed="rId3"/>
          <a:stretch>
            <a:fillRect/>
          </a:stretch>
        </p:blipFill>
        <p:spPr>
          <a:xfrm>
            <a:off x="8165794" y="1"/>
            <a:ext cx="978206" cy="782664"/>
          </a:xfrm>
          <a:prstGeom prst="rect">
            <a:avLst/>
          </a:prstGeom>
        </p:spPr>
      </p:pic>
      <p:pic>
        <p:nvPicPr>
          <p:cNvPr id="12" name="תמונה 11">
            <a:extLst>
              <a:ext uri="{FF2B5EF4-FFF2-40B4-BE49-F238E27FC236}">
                <a16:creationId xmlns:a16="http://schemas.microsoft.com/office/drawing/2014/main" id="{23E51BB5-3C9C-44E6-B1EB-E56A708D51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60108467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Rectangle 2"/>
          <p:cNvSpPr txBox="1">
            <a:spLocks noChangeArrowheads="1"/>
          </p:cNvSpPr>
          <p:nvPr/>
        </p:nvSpPr>
        <p:spPr bwMode="auto">
          <a:xfrm>
            <a:off x="0" y="150991"/>
            <a:ext cx="9144000" cy="594122"/>
          </a:xfrm>
          <a:prstGeom prst="rect">
            <a:avLst/>
          </a:prstGeom>
          <a:noFill/>
          <a:ln w="9525">
            <a:noFill/>
            <a:miter lim="800000"/>
            <a:headEnd/>
            <a:tailEnd/>
          </a:ln>
        </p:spPr>
        <p:txBody>
          <a:bodyPr lIns="54000" tIns="54000" rIns="54000" bIns="54000" anchor="ctr"/>
          <a:lstStyle/>
          <a:p>
            <a:pPr algn="ctr" rtl="1" eaLnBrk="1" hangingPunct="1">
              <a:defRPr/>
            </a:pPr>
            <a:r>
              <a:rPr lang="he-IL" sz="2400" b="1" u="sng" dirty="0">
                <a:latin typeface="Times New Roman" pitchFamily="18" charset="0"/>
              </a:rPr>
              <a:t>הארגון- רקע כללי</a:t>
            </a:r>
          </a:p>
        </p:txBody>
      </p:sp>
      <p:sp>
        <p:nvSpPr>
          <p:cNvPr id="2057" name="מציין מיקום של כותרת תחתונה 8"/>
          <p:cNvSpPr>
            <a:spLocks noGrp="1"/>
          </p:cNvSpPr>
          <p:nvPr>
            <p:ph type="ftr" sz="quarter" idx="11"/>
          </p:nvPr>
        </p:nvSpPr>
        <p:spPr>
          <a:xfrm>
            <a:off x="2832578" y="6341884"/>
            <a:ext cx="3858670" cy="342900"/>
          </a:xfrm>
          <a:noFill/>
        </p:spPr>
        <p:txBody>
          <a:bodyPr/>
          <a:lstStyle/>
          <a:p>
            <a:pPr rtl="1">
              <a:spcBef>
                <a:spcPct val="20000"/>
              </a:spcBef>
            </a:pPr>
            <a:r>
              <a:rPr lang="he-IL" b="1" dirty="0">
                <a:solidFill>
                  <a:schemeClr val="tx1"/>
                </a:solidFill>
              </a:rPr>
              <a:t>אתר אינטרנט לאימהות חדשות במגזר הבדואי                     </a:t>
            </a:r>
            <a:endParaRPr lang="en-US" b="1" dirty="0">
              <a:solidFill>
                <a:schemeClr val="tx1"/>
              </a:solidFill>
            </a:endParaRPr>
          </a:p>
          <a:p>
            <a:pPr rtl="1">
              <a:spcBef>
                <a:spcPct val="20000"/>
              </a:spcBef>
            </a:pPr>
            <a:r>
              <a:rPr lang="en-US" b="1" dirty="0">
                <a:solidFill>
                  <a:schemeClr val="tx1"/>
                </a:solidFill>
              </a:rPr>
              <a:t>Navon-13-2024-sem2</a:t>
            </a:r>
          </a:p>
        </p:txBody>
      </p:sp>
      <p:sp>
        <p:nvSpPr>
          <p:cNvPr id="2" name="מציין מיקום של מספר שקופית 1">
            <a:extLst>
              <a:ext uri="{FF2B5EF4-FFF2-40B4-BE49-F238E27FC236}">
                <a16:creationId xmlns:a16="http://schemas.microsoft.com/office/drawing/2014/main" id="{11267331-BF0D-6D56-F93A-BCA2360E941D}"/>
              </a:ext>
            </a:extLst>
          </p:cNvPr>
          <p:cNvSpPr>
            <a:spLocks noGrp="1"/>
          </p:cNvSpPr>
          <p:nvPr>
            <p:ph type="sldNum" sz="quarter" idx="12"/>
          </p:nvPr>
        </p:nvSpPr>
        <p:spPr>
          <a:xfrm>
            <a:off x="288510" y="6341884"/>
            <a:ext cx="2057400" cy="365125"/>
          </a:xfrm>
        </p:spPr>
        <p:txBody>
          <a:bodyPr/>
          <a:lstStyle/>
          <a:p>
            <a:pPr algn="l"/>
            <a:fld id="{F406CD6C-EFBE-497B-B02F-71827CD8C8E4}" type="slidenum">
              <a:rPr lang="he-IL" smtClean="0"/>
              <a:pPr algn="l"/>
              <a:t>2</a:t>
            </a:fld>
            <a:endParaRPr lang="he-IL" dirty="0"/>
          </a:p>
        </p:txBody>
      </p:sp>
      <p:sp>
        <p:nvSpPr>
          <p:cNvPr id="4" name="TextBox 3">
            <a:extLst>
              <a:ext uri="{FF2B5EF4-FFF2-40B4-BE49-F238E27FC236}">
                <a16:creationId xmlns:a16="http://schemas.microsoft.com/office/drawing/2014/main" id="{C7AD21FE-445F-4572-B9E4-FA58E71ECAF6}"/>
              </a:ext>
            </a:extLst>
          </p:cNvPr>
          <p:cNvSpPr txBox="1"/>
          <p:nvPr/>
        </p:nvSpPr>
        <p:spPr>
          <a:xfrm>
            <a:off x="288510" y="876849"/>
            <a:ext cx="8777616" cy="3699539"/>
          </a:xfrm>
          <a:prstGeom prst="rect">
            <a:avLst/>
          </a:prstGeom>
          <a:noFill/>
        </p:spPr>
        <p:txBody>
          <a:bodyPr wrap="square" rtlCol="1">
            <a:spAutoFit/>
          </a:bodyPr>
          <a:lstStyle/>
          <a:p>
            <a:pPr marL="285750" indent="-285750" algn="r" rtl="1">
              <a:lnSpc>
                <a:spcPct val="200000"/>
              </a:lnSpc>
              <a:buFont typeface="Arial" panose="020B0604020202020204" pitchFamily="34" charset="0"/>
              <a:buChar char="•"/>
            </a:pPr>
            <a:r>
              <a:rPr lang="he-IL" sz="1600" dirty="0"/>
              <a:t>66</a:t>
            </a:r>
            <a:r>
              <a:rPr lang="he-IL" dirty="0"/>
              <a:t>% מהאוכלוסייה מהמגזר הבדואי הינם בקבוצת גיל  0-19</a:t>
            </a:r>
            <a:r>
              <a:rPr lang="he-IL" sz="1600" dirty="0"/>
              <a:t> </a:t>
            </a:r>
            <a:r>
              <a:rPr lang="en-US" sz="1600" dirty="0"/>
              <a:t>.</a:t>
            </a:r>
            <a:endParaRPr lang="he-IL" sz="1400" dirty="0"/>
          </a:p>
          <a:p>
            <a:pPr marL="285750" indent="-285750" algn="r" rtl="1">
              <a:lnSpc>
                <a:spcPct val="200000"/>
              </a:lnSpc>
              <a:buFont typeface="Arial" panose="020B0604020202020204" pitchFamily="34" charset="0"/>
              <a:buChar char="•"/>
            </a:pPr>
            <a:r>
              <a:rPr lang="he-IL" dirty="0"/>
              <a:t>חלק גדול מהאימהות החדשות במגזר הבדואי הן קטינות</a:t>
            </a:r>
            <a:r>
              <a:rPr lang="en-US" dirty="0"/>
              <a:t>.</a:t>
            </a:r>
            <a:endParaRPr lang="he-IL" sz="1400" dirty="0"/>
          </a:p>
          <a:p>
            <a:pPr marL="285750" indent="-285750" algn="r" rtl="1">
              <a:lnSpc>
                <a:spcPct val="200000"/>
              </a:lnSpc>
              <a:buFont typeface="Arial" panose="020B0604020202020204" pitchFamily="34" charset="0"/>
              <a:buChar char="•"/>
            </a:pPr>
            <a:r>
              <a:rPr lang="he-IL" dirty="0"/>
              <a:t>בדרך כלל </a:t>
            </a:r>
            <a:r>
              <a:rPr lang="he-IL" dirty="0" err="1"/>
              <a:t>ההריון</a:t>
            </a:r>
            <a:r>
              <a:rPr lang="he-IL" dirty="0"/>
              <a:t> הראשון מגיע בשנתיים הראשונות לנישואין ובגיל צעיר במיוחד. </a:t>
            </a:r>
            <a:endParaRPr lang="he-IL" sz="1400" dirty="0"/>
          </a:p>
          <a:p>
            <a:pPr marL="285750" indent="-285750" algn="r" rtl="1">
              <a:lnSpc>
                <a:spcPct val="200000"/>
              </a:lnSpc>
              <a:buFont typeface="Arial" panose="020B0604020202020204" pitchFamily="34" charset="0"/>
              <a:buChar char="•"/>
            </a:pPr>
            <a:r>
              <a:rPr lang="he-IL" dirty="0"/>
              <a:t>בכפרים הלא מוכרים, אין כמעט מבני ציבור כמו מרפאות, וזה משפיע על קבלת מידע רפואי לאימהות במיוחד אימהות צעירות</a:t>
            </a:r>
            <a:r>
              <a:rPr lang="he-IL" sz="1400" dirty="0"/>
              <a:t>.</a:t>
            </a:r>
          </a:p>
          <a:p>
            <a:pPr marL="285750" indent="-285750" algn="r" rtl="1">
              <a:lnSpc>
                <a:spcPct val="200000"/>
              </a:lnSpc>
              <a:buFont typeface="Arial" panose="020B0604020202020204" pitchFamily="34" charset="0"/>
              <a:buChar char="•"/>
            </a:pPr>
            <a:r>
              <a:rPr lang="he-IL" dirty="0"/>
              <a:t>ברוב היישובים קיימת נגישות לאינטרנט ורשתות סלולר.</a:t>
            </a:r>
          </a:p>
          <a:p>
            <a:pPr marL="285750" indent="-285750" algn="r" rtl="1">
              <a:lnSpc>
                <a:spcPct val="150000"/>
              </a:lnSpc>
              <a:buFont typeface="Arial" panose="020B0604020202020204" pitchFamily="34" charset="0"/>
              <a:buChar char="•"/>
            </a:pPr>
            <a:endParaRPr lang="he-IL" sz="1400" dirty="0"/>
          </a:p>
        </p:txBody>
      </p:sp>
      <p:sp>
        <p:nvSpPr>
          <p:cNvPr id="6" name="TextBox 15">
            <a:extLst>
              <a:ext uri="{FF2B5EF4-FFF2-40B4-BE49-F238E27FC236}">
                <a16:creationId xmlns:a16="http://schemas.microsoft.com/office/drawing/2014/main" id="{2321B528-DA0C-F04E-4EDE-859B158CB38F}"/>
              </a:ext>
            </a:extLst>
          </p:cNvPr>
          <p:cNvSpPr txBox="1"/>
          <p:nvPr/>
        </p:nvSpPr>
        <p:spPr>
          <a:xfrm>
            <a:off x="686024" y="4570832"/>
            <a:ext cx="8151778" cy="830997"/>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1">
            <a:spAutoFit/>
          </a:bodyPr>
          <a:lstStyle/>
          <a:p>
            <a:pPr algn="ctr" rtl="1"/>
            <a:r>
              <a:rPr lang="he-IL" sz="2400" b="1" dirty="0"/>
              <a:t>בשיח האימהות החדשות במגזר הבדואי,</a:t>
            </a:r>
          </a:p>
          <a:p>
            <a:pPr algn="ctr" rtl="1"/>
            <a:r>
              <a:rPr lang="he-IL" sz="2400" b="1" dirty="0"/>
              <a:t> יש תלונות על חוסר במידע על גידול ילדים.</a:t>
            </a:r>
          </a:p>
        </p:txBody>
      </p:sp>
      <p:sp>
        <p:nvSpPr>
          <p:cNvPr id="5" name="מציין מיקום של כותרת תחתונה 3">
            <a:extLst>
              <a:ext uri="{FF2B5EF4-FFF2-40B4-BE49-F238E27FC236}">
                <a16:creationId xmlns:a16="http://schemas.microsoft.com/office/drawing/2014/main" id="{8FB7E9C8-A883-8747-2D71-3E67C39C34A5}"/>
              </a:ext>
            </a:extLst>
          </p:cNvPr>
          <p:cNvSpPr txBox="1">
            <a:spLocks/>
          </p:cNvSpPr>
          <p:nvPr/>
        </p:nvSpPr>
        <p:spPr>
          <a:xfrm>
            <a:off x="5092505" y="5736771"/>
            <a:ext cx="4004026" cy="1388031"/>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rtl="1"/>
            <a:r>
              <a:rPr lang="he-IL" sz="1050" dirty="0">
                <a:solidFill>
                  <a:schemeClr val="bg1">
                    <a:lumMod val="50000"/>
                  </a:schemeClr>
                </a:solidFill>
                <a:latin typeface="Calibri" panose="020F0502020204030204" pitchFamily="34" charset="0"/>
                <a:ea typeface="Calibri" panose="020F0502020204030204" pitchFamily="34" charset="0"/>
              </a:rPr>
              <a:t>1</a:t>
            </a:r>
            <a:r>
              <a:rPr lang="he-IL" sz="1050" dirty="0">
                <a:solidFill>
                  <a:schemeClr val="bg1">
                    <a:lumMod val="50000"/>
                  </a:schemeClr>
                </a:solidFill>
                <a:effectLst/>
                <a:latin typeface="Calibri" panose="020F0502020204030204" pitchFamily="34" charset="0"/>
                <a:ea typeface="Calibri" panose="020F0502020204030204" pitchFamily="34" charset="0"/>
              </a:rPr>
              <a:t>.איריק ,ר</a:t>
            </a:r>
            <a:r>
              <a:rPr lang="en-US" sz="1050" dirty="0">
                <a:solidFill>
                  <a:schemeClr val="bg1">
                    <a:lumMod val="50000"/>
                  </a:schemeClr>
                </a:solidFill>
                <a:effectLst/>
                <a:latin typeface="Calibri" panose="020F0502020204030204" pitchFamily="34" charset="0"/>
                <a:ea typeface="Calibri" panose="020F0502020204030204" pitchFamily="34" charset="0"/>
              </a:rPr>
              <a:t>'</a:t>
            </a:r>
            <a:r>
              <a:rPr lang="he-IL" sz="1050" dirty="0">
                <a:solidFill>
                  <a:schemeClr val="bg1">
                    <a:lumMod val="50000"/>
                  </a:schemeClr>
                </a:solidFill>
                <a:effectLst/>
                <a:latin typeface="Calibri" panose="020F0502020204030204" pitchFamily="34" charset="0"/>
                <a:ea typeface="Calibri" panose="020F0502020204030204" pitchFamily="34" charset="0"/>
              </a:rPr>
              <a:t> , ד"ר </a:t>
            </a:r>
            <a:r>
              <a:rPr lang="he-IL" sz="1050" dirty="0" err="1">
                <a:solidFill>
                  <a:schemeClr val="bg1">
                    <a:lumMod val="50000"/>
                  </a:schemeClr>
                </a:solidFill>
                <a:effectLst/>
                <a:latin typeface="Calibri" panose="020F0502020204030204" pitchFamily="34" charset="0"/>
                <a:ea typeface="Calibri" panose="020F0502020204030204" pitchFamily="34" charset="0"/>
              </a:rPr>
              <a:t>תאבת,א</a:t>
            </a:r>
            <a:r>
              <a:rPr lang="en-US" sz="1050" dirty="0">
                <a:solidFill>
                  <a:schemeClr val="bg1">
                    <a:lumMod val="50000"/>
                  </a:schemeClr>
                </a:solidFill>
                <a:effectLst/>
                <a:latin typeface="Calibri" panose="020F0502020204030204" pitchFamily="34" charset="0"/>
                <a:ea typeface="Calibri" panose="020F0502020204030204" pitchFamily="34" charset="0"/>
              </a:rPr>
              <a:t>'</a:t>
            </a:r>
            <a:r>
              <a:rPr lang="he-IL" sz="1050" dirty="0">
                <a:solidFill>
                  <a:schemeClr val="bg1">
                    <a:lumMod val="50000"/>
                  </a:schemeClr>
                </a:solidFill>
                <a:effectLst/>
                <a:latin typeface="Calibri" panose="020F0502020204030204" pitchFamily="34" charset="0"/>
                <a:ea typeface="Calibri" panose="020F0502020204030204" pitchFamily="34" charset="0"/>
              </a:rPr>
              <a:t> (2011)</a:t>
            </a:r>
          </a:p>
          <a:p>
            <a:pPr algn="r" rtl="1"/>
            <a:r>
              <a:rPr lang="he-IL" sz="1050" dirty="0">
                <a:solidFill>
                  <a:schemeClr val="bg1">
                    <a:lumMod val="50000"/>
                  </a:schemeClr>
                </a:solidFill>
              </a:rPr>
              <a:t>2.רוני ה</a:t>
            </a:r>
            <a:r>
              <a:rPr lang="en-US" sz="1050" dirty="0">
                <a:solidFill>
                  <a:schemeClr val="bg1">
                    <a:lumMod val="50000"/>
                  </a:schemeClr>
                </a:solidFill>
                <a:effectLst/>
                <a:latin typeface="Calibri" panose="020F0502020204030204" pitchFamily="34" charset="0"/>
                <a:ea typeface="Calibri" panose="020F0502020204030204" pitchFamily="34" charset="0"/>
              </a:rPr>
              <a:t> '</a:t>
            </a:r>
            <a:r>
              <a:rPr lang="he-IL" sz="1050" dirty="0">
                <a:solidFill>
                  <a:schemeClr val="bg1">
                    <a:lumMod val="50000"/>
                  </a:schemeClr>
                </a:solidFill>
                <a:effectLst/>
                <a:latin typeface="Calibri" panose="020F0502020204030204" pitchFamily="34" charset="0"/>
                <a:ea typeface="Calibri" panose="020F0502020204030204" pitchFamily="34" charset="0"/>
              </a:rPr>
              <a:t> ,(2022)</a:t>
            </a:r>
          </a:p>
          <a:p>
            <a:pPr algn="r" rtl="1"/>
            <a:r>
              <a:rPr lang="he-IL" sz="1050" dirty="0">
                <a:solidFill>
                  <a:schemeClr val="bg1">
                    <a:lumMod val="50000"/>
                  </a:schemeClr>
                </a:solidFill>
              </a:rPr>
              <a:t>3.סיכוי-אופוק לשוויון ושותפות(</a:t>
            </a:r>
            <a:r>
              <a:rPr lang="he-IL" sz="1050" dirty="0" err="1">
                <a:solidFill>
                  <a:schemeClr val="bg1">
                    <a:lumMod val="50000"/>
                  </a:schemeClr>
                </a:solidFill>
              </a:rPr>
              <a:t>ע"ר</a:t>
            </a:r>
            <a:r>
              <a:rPr lang="he-IL" sz="1050" dirty="0">
                <a:solidFill>
                  <a:schemeClr val="bg1">
                    <a:lumMod val="50000"/>
                  </a:schemeClr>
                </a:solidFill>
              </a:rPr>
              <a:t>)</a:t>
            </a:r>
            <a:r>
              <a:rPr lang="he-IL" sz="1050" dirty="0">
                <a:solidFill>
                  <a:schemeClr val="bg1">
                    <a:lumMod val="50000"/>
                  </a:schemeClr>
                </a:solidFill>
                <a:latin typeface="Calibri" panose="020F0502020204030204" pitchFamily="34" charset="0"/>
                <a:ea typeface="Calibri" panose="020F0502020204030204" pitchFamily="34" charset="0"/>
              </a:rPr>
              <a:t>(2020)</a:t>
            </a:r>
          </a:p>
          <a:p>
            <a:pPr algn="r" rtl="1"/>
            <a:r>
              <a:rPr lang="he-IL" sz="1050" dirty="0">
                <a:solidFill>
                  <a:schemeClr val="bg1">
                    <a:lumMod val="50000"/>
                  </a:schemeClr>
                </a:solidFill>
                <a:latin typeface="Arial" panose="020B0604020202020204" pitchFamily="34" charset="0"/>
              </a:rPr>
              <a:t>4.ראיון עם אם צעירה</a:t>
            </a:r>
          </a:p>
          <a:p>
            <a:pPr algn="r" rtl="1"/>
            <a:r>
              <a:rPr lang="he-IL" sz="1050" dirty="0">
                <a:solidFill>
                  <a:schemeClr val="bg1">
                    <a:lumMod val="50000"/>
                  </a:schemeClr>
                </a:solidFill>
                <a:latin typeface="Arial" panose="020B0604020202020204" pitchFamily="34" charset="0"/>
              </a:rPr>
              <a:t>5.ראיון אם ותיקה</a:t>
            </a:r>
          </a:p>
          <a:p>
            <a:pPr algn="r" rtl="1"/>
            <a:r>
              <a:rPr lang="he-IL" sz="1050" dirty="0">
                <a:solidFill>
                  <a:schemeClr val="bg1">
                    <a:lumMod val="50000"/>
                  </a:schemeClr>
                </a:solidFill>
                <a:latin typeface="Arial" panose="020B0604020202020204" pitchFamily="34" charset="0"/>
              </a:rPr>
              <a:t>6. סקר אימהות חדשות,2024</a:t>
            </a:r>
          </a:p>
          <a:p>
            <a:pPr algn="r" rtl="1"/>
            <a:endParaRPr lang="he-IL" sz="1050" dirty="0">
              <a:solidFill>
                <a:schemeClr val="bg1">
                  <a:lumMod val="50000"/>
                </a:schemeClr>
              </a:solidFill>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p>
            <a:pPr algn="r" rtl="1"/>
            <a:endParaRPr lang="he-IL" sz="1050" dirty="0">
              <a:solidFill>
                <a:schemeClr val="bg1">
                  <a:lumMod val="50000"/>
                </a:schemeClr>
              </a:solidFill>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p>
            <a:pPr algn="r" rtl="1"/>
            <a:endParaRPr lang="he-IL" sz="1050" dirty="0">
              <a:solidFill>
                <a:schemeClr val="bg1">
                  <a:lumMod val="50000"/>
                </a:schemeClr>
              </a:solidFill>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p>
            <a:pPr algn="r" rtl="1"/>
            <a:endParaRPr lang="he-IL" sz="1050" dirty="0">
              <a:solidFill>
                <a:schemeClr val="bg1">
                  <a:lumMod val="50000"/>
                </a:schemeClr>
              </a:solidFill>
              <a:highlight>
                <a:srgbClr val="FFFF00"/>
              </a:highlight>
            </a:endParaRPr>
          </a:p>
        </p:txBody>
      </p:sp>
      <p:sp>
        <p:nvSpPr>
          <p:cNvPr id="10" name="תיבת טקסט 9">
            <a:extLst>
              <a:ext uri="{FF2B5EF4-FFF2-40B4-BE49-F238E27FC236}">
                <a16:creationId xmlns:a16="http://schemas.microsoft.com/office/drawing/2014/main" id="{2D8F463F-A078-6331-2A8E-16F964B8D327}"/>
              </a:ext>
            </a:extLst>
          </p:cNvPr>
          <p:cNvSpPr txBox="1"/>
          <p:nvPr/>
        </p:nvSpPr>
        <p:spPr>
          <a:xfrm>
            <a:off x="687053" y="2749666"/>
            <a:ext cx="363255" cy="253916"/>
          </a:xfrm>
          <a:prstGeom prst="rect">
            <a:avLst/>
          </a:prstGeom>
          <a:noFill/>
        </p:spPr>
        <p:txBody>
          <a:bodyPr wrap="square" rtlCol="1">
            <a:spAutoFit/>
          </a:bodyPr>
          <a:lstStyle/>
          <a:p>
            <a:r>
              <a:rPr lang="en-US" sz="1050" dirty="0"/>
              <a:t>3</a:t>
            </a:r>
            <a:endParaRPr lang="he-IL" sz="1050" dirty="0"/>
          </a:p>
        </p:txBody>
      </p:sp>
      <p:sp>
        <p:nvSpPr>
          <p:cNvPr id="11" name="תיבת טקסט 10">
            <a:extLst>
              <a:ext uri="{FF2B5EF4-FFF2-40B4-BE49-F238E27FC236}">
                <a16:creationId xmlns:a16="http://schemas.microsoft.com/office/drawing/2014/main" id="{BC9329E0-20F2-99D8-9ED4-113A7BC5D7E0}"/>
              </a:ext>
            </a:extLst>
          </p:cNvPr>
          <p:cNvSpPr txBox="1"/>
          <p:nvPr/>
        </p:nvSpPr>
        <p:spPr>
          <a:xfrm>
            <a:off x="5933630" y="1558210"/>
            <a:ext cx="309805" cy="253916"/>
          </a:xfrm>
          <a:prstGeom prst="rect">
            <a:avLst/>
          </a:prstGeom>
          <a:noFill/>
        </p:spPr>
        <p:txBody>
          <a:bodyPr wrap="square" rtlCol="1">
            <a:spAutoFit/>
          </a:bodyPr>
          <a:lstStyle/>
          <a:p>
            <a:r>
              <a:rPr lang="en-US" sz="1050" dirty="0"/>
              <a:t>2</a:t>
            </a:r>
            <a:endParaRPr lang="he-IL" sz="1050" dirty="0"/>
          </a:p>
        </p:txBody>
      </p:sp>
      <p:pic>
        <p:nvPicPr>
          <p:cNvPr id="13" name="תמונה 12">
            <a:extLst>
              <a:ext uri="{FF2B5EF4-FFF2-40B4-BE49-F238E27FC236}">
                <a16:creationId xmlns:a16="http://schemas.microsoft.com/office/drawing/2014/main" id="{698CAE49-8263-4BEA-859F-EE75AE8287B8}"/>
              </a:ext>
            </a:extLst>
          </p:cNvPr>
          <p:cNvPicPr>
            <a:picLocks noChangeAspect="1"/>
          </p:cNvPicPr>
          <p:nvPr/>
        </p:nvPicPr>
        <p:blipFill>
          <a:blip r:embed="rId3"/>
          <a:stretch>
            <a:fillRect/>
          </a:stretch>
        </p:blipFill>
        <p:spPr>
          <a:xfrm>
            <a:off x="8165794" y="1"/>
            <a:ext cx="978206" cy="782664"/>
          </a:xfrm>
          <a:prstGeom prst="rect">
            <a:avLst/>
          </a:prstGeom>
        </p:spPr>
      </p:pic>
      <p:pic>
        <p:nvPicPr>
          <p:cNvPr id="15" name="תמונה 14">
            <a:extLst>
              <a:ext uri="{FF2B5EF4-FFF2-40B4-BE49-F238E27FC236}">
                <a16:creationId xmlns:a16="http://schemas.microsoft.com/office/drawing/2014/main" id="{BBA213D2-D33A-4E3B-ACE9-32FD28A564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 name="תיבת טקסט 2">
            <a:extLst>
              <a:ext uri="{FF2B5EF4-FFF2-40B4-BE49-F238E27FC236}">
                <a16:creationId xmlns:a16="http://schemas.microsoft.com/office/drawing/2014/main" id="{2AEB6367-32D7-A1C8-FF7C-941E089B5324}"/>
              </a:ext>
            </a:extLst>
          </p:cNvPr>
          <p:cNvSpPr txBox="1"/>
          <p:nvPr/>
        </p:nvSpPr>
        <p:spPr>
          <a:xfrm>
            <a:off x="1402081" y="2160210"/>
            <a:ext cx="767280" cy="253916"/>
          </a:xfrm>
          <a:prstGeom prst="rect">
            <a:avLst/>
          </a:prstGeom>
          <a:noFill/>
        </p:spPr>
        <p:txBody>
          <a:bodyPr wrap="square" rtlCol="1">
            <a:spAutoFit/>
          </a:bodyPr>
          <a:lstStyle/>
          <a:p>
            <a:r>
              <a:rPr lang="en-US" sz="1050" dirty="0"/>
              <a:t>4,5,6</a:t>
            </a:r>
            <a:endParaRPr lang="he-IL" sz="1050" dirty="0"/>
          </a:p>
        </p:txBody>
      </p:sp>
      <p:sp>
        <p:nvSpPr>
          <p:cNvPr id="8" name="תיבת טקסט 7">
            <a:extLst>
              <a:ext uri="{FF2B5EF4-FFF2-40B4-BE49-F238E27FC236}">
                <a16:creationId xmlns:a16="http://schemas.microsoft.com/office/drawing/2014/main" id="{6E05A46A-D52B-27C1-1986-495C9120A31E}"/>
              </a:ext>
            </a:extLst>
          </p:cNvPr>
          <p:cNvSpPr txBox="1"/>
          <p:nvPr/>
        </p:nvSpPr>
        <p:spPr>
          <a:xfrm>
            <a:off x="3658853" y="3777238"/>
            <a:ext cx="363255" cy="253916"/>
          </a:xfrm>
          <a:prstGeom prst="rect">
            <a:avLst/>
          </a:prstGeom>
          <a:noFill/>
        </p:spPr>
        <p:txBody>
          <a:bodyPr wrap="square" rtlCol="1">
            <a:spAutoFit/>
          </a:bodyPr>
          <a:lstStyle/>
          <a:p>
            <a:r>
              <a:rPr lang="he-IL" sz="1050" dirty="0"/>
              <a:t>6</a:t>
            </a:r>
          </a:p>
        </p:txBody>
      </p:sp>
      <p:sp>
        <p:nvSpPr>
          <p:cNvPr id="12" name="תיבת טקסט 11">
            <a:extLst>
              <a:ext uri="{FF2B5EF4-FFF2-40B4-BE49-F238E27FC236}">
                <a16:creationId xmlns:a16="http://schemas.microsoft.com/office/drawing/2014/main" id="{B0EA380C-31A8-A48B-C3C3-B7E454485E8B}"/>
              </a:ext>
            </a:extLst>
          </p:cNvPr>
          <p:cNvSpPr txBox="1"/>
          <p:nvPr/>
        </p:nvSpPr>
        <p:spPr>
          <a:xfrm>
            <a:off x="5498201" y="1030875"/>
            <a:ext cx="309805" cy="253916"/>
          </a:xfrm>
          <a:prstGeom prst="rect">
            <a:avLst/>
          </a:prstGeom>
          <a:noFill/>
        </p:spPr>
        <p:txBody>
          <a:bodyPr wrap="square" rtlCol="1">
            <a:spAutoFit/>
          </a:bodyPr>
          <a:lstStyle/>
          <a:p>
            <a:r>
              <a:rPr lang="en-US" sz="1050" dirty="0"/>
              <a:t>1</a:t>
            </a:r>
            <a:endParaRPr lang="he-IL" sz="1050" dirty="0"/>
          </a:p>
        </p:txBody>
      </p:sp>
    </p:spTree>
    <p:extLst>
      <p:ext uri="{BB962C8B-B14F-4D97-AF65-F5344CB8AC3E}">
        <p14:creationId xmlns:p14="http://schemas.microsoft.com/office/powerpoint/2010/main" val="286636695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Rectangle 2"/>
          <p:cNvSpPr txBox="1">
            <a:spLocks noChangeArrowheads="1"/>
          </p:cNvSpPr>
          <p:nvPr/>
        </p:nvSpPr>
        <p:spPr bwMode="auto">
          <a:xfrm>
            <a:off x="0" y="-3289"/>
            <a:ext cx="9144000" cy="594122"/>
          </a:xfrm>
          <a:prstGeom prst="rect">
            <a:avLst/>
          </a:prstGeom>
          <a:noFill/>
          <a:ln w="9525">
            <a:noFill/>
            <a:miter lim="800000"/>
            <a:headEnd/>
            <a:tailEnd/>
          </a:ln>
        </p:spPr>
        <p:txBody>
          <a:bodyPr lIns="54000" tIns="54000" rIns="54000" bIns="54000" anchor="ctr"/>
          <a:lstStyle/>
          <a:p>
            <a:pPr algn="ctr" rtl="1" eaLnBrk="1" hangingPunct="1">
              <a:defRPr/>
            </a:pPr>
            <a:r>
              <a:rPr lang="he-IL" sz="2400" b="1" u="sng" dirty="0">
                <a:latin typeface="Times New Roman" pitchFamily="18" charset="0"/>
              </a:rPr>
              <a:t>תיאור מצב קיים</a:t>
            </a:r>
          </a:p>
        </p:txBody>
      </p:sp>
      <p:sp>
        <p:nvSpPr>
          <p:cNvPr id="2057" name="מציין מיקום של כותרת תחתונה 8"/>
          <p:cNvSpPr>
            <a:spLocks noGrp="1"/>
          </p:cNvSpPr>
          <p:nvPr>
            <p:ph type="ftr" sz="quarter" idx="11"/>
          </p:nvPr>
        </p:nvSpPr>
        <p:spPr>
          <a:xfrm>
            <a:off x="2832578" y="6494659"/>
            <a:ext cx="3858670" cy="342900"/>
          </a:xfrm>
          <a:noFill/>
        </p:spPr>
        <p:txBody>
          <a:bodyPr/>
          <a:lstStyle/>
          <a:p>
            <a:pPr rtl="1">
              <a:spcBef>
                <a:spcPct val="20000"/>
              </a:spcBef>
            </a:pPr>
            <a:r>
              <a:rPr lang="he-IL" b="1" dirty="0">
                <a:solidFill>
                  <a:schemeClr val="tx1"/>
                </a:solidFill>
              </a:rPr>
              <a:t>אתר אינטרנט לאימהות חדשות במגזר הבדואי                    </a:t>
            </a:r>
            <a:endParaRPr lang="en-US" b="1" dirty="0">
              <a:solidFill>
                <a:schemeClr val="tx1"/>
              </a:solidFill>
            </a:endParaRPr>
          </a:p>
          <a:p>
            <a:pPr rtl="1">
              <a:spcBef>
                <a:spcPct val="20000"/>
              </a:spcBef>
            </a:pPr>
            <a:r>
              <a:rPr lang="en-US" b="1" dirty="0">
                <a:solidFill>
                  <a:schemeClr val="tx1"/>
                </a:solidFill>
              </a:rPr>
              <a:t>Navon-13-2024-sem2</a:t>
            </a:r>
          </a:p>
        </p:txBody>
      </p:sp>
      <p:sp>
        <p:nvSpPr>
          <p:cNvPr id="2" name="מציין מיקום של מספר שקופית 1">
            <a:extLst>
              <a:ext uri="{FF2B5EF4-FFF2-40B4-BE49-F238E27FC236}">
                <a16:creationId xmlns:a16="http://schemas.microsoft.com/office/drawing/2014/main" id="{27435F99-FF78-2E65-A2DD-B0C2B1D5E54D}"/>
              </a:ext>
            </a:extLst>
          </p:cNvPr>
          <p:cNvSpPr>
            <a:spLocks noGrp="1"/>
          </p:cNvSpPr>
          <p:nvPr>
            <p:ph type="sldNum" sz="quarter" idx="12"/>
          </p:nvPr>
        </p:nvSpPr>
        <p:spPr>
          <a:xfrm>
            <a:off x="288510" y="6324843"/>
            <a:ext cx="2057400" cy="365125"/>
          </a:xfrm>
        </p:spPr>
        <p:txBody>
          <a:bodyPr vert="horz" lIns="91440" tIns="45720" rIns="91440" bIns="45720" rtlCol="0" anchor="ctr"/>
          <a:lstStyle/>
          <a:p>
            <a:pPr algn="l"/>
            <a:fld id="{F406CD6C-EFBE-497B-B02F-71827CD8C8E4}" type="slidenum">
              <a:rPr lang="he-IL"/>
              <a:pPr algn="l"/>
              <a:t>3</a:t>
            </a:fld>
            <a:endParaRPr lang="he-IL"/>
          </a:p>
        </p:txBody>
      </p:sp>
      <p:sp>
        <p:nvSpPr>
          <p:cNvPr id="4" name="TextBox 3">
            <a:extLst>
              <a:ext uri="{FF2B5EF4-FFF2-40B4-BE49-F238E27FC236}">
                <a16:creationId xmlns:a16="http://schemas.microsoft.com/office/drawing/2014/main" id="{E8443D05-AAF0-43D2-8223-5D66E324B43E}"/>
              </a:ext>
            </a:extLst>
          </p:cNvPr>
          <p:cNvSpPr txBox="1"/>
          <p:nvPr/>
        </p:nvSpPr>
        <p:spPr>
          <a:xfrm>
            <a:off x="230419" y="1039751"/>
            <a:ext cx="8683161" cy="2800767"/>
          </a:xfrm>
          <a:prstGeom prst="rect">
            <a:avLst/>
          </a:prstGeom>
          <a:noFill/>
        </p:spPr>
        <p:txBody>
          <a:bodyPr wrap="square" rtlCol="1">
            <a:spAutoFit/>
          </a:bodyPr>
          <a:lstStyle/>
          <a:p>
            <a:pPr marL="285750" indent="-285750" algn="r" rtl="1">
              <a:buFont typeface="Arial" panose="020B0604020202020204" pitchFamily="34" charset="0"/>
              <a:buChar char="•"/>
            </a:pPr>
            <a:r>
              <a:rPr lang="he-IL" dirty="0"/>
              <a:t> אוכלוסיית הנשואים במגזר הבדואי כוללת 300 אלף איש ואישה, מהן  כ-20% בנות בגיל 18- 25 </a:t>
            </a:r>
            <a:endParaRPr lang="he-IL" sz="1600" b="1" dirty="0"/>
          </a:p>
          <a:p>
            <a:pPr marL="285750" indent="-285750" algn="r" rtl="1">
              <a:buFont typeface="Arial" panose="020B0604020202020204" pitchFamily="34" charset="0"/>
              <a:buChar char="•"/>
            </a:pPr>
            <a:endParaRPr lang="he-IL" b="1" dirty="0"/>
          </a:p>
          <a:p>
            <a:pPr marL="285750" indent="-285750" algn="r" rtl="1">
              <a:buFont typeface="Arial" panose="020B0604020202020204" pitchFamily="34" charset="0"/>
              <a:buChar char="•"/>
            </a:pPr>
            <a:r>
              <a:rPr lang="he-IL" dirty="0"/>
              <a:t> בשנים האחרונות יש ירידה במספר הקטינות שיולדות, ומדווחות על כך לביטוח לאומי.</a:t>
            </a:r>
            <a:endParaRPr lang="he-IL" sz="1600" b="1" dirty="0"/>
          </a:p>
          <a:p>
            <a:pPr marL="285750" indent="-285750" algn="r" rtl="1">
              <a:buFont typeface="Arial" panose="020B0604020202020204" pitchFamily="34" charset="0"/>
              <a:buChar char="•"/>
            </a:pPr>
            <a:endParaRPr lang="he-IL" b="1" dirty="0"/>
          </a:p>
          <a:p>
            <a:pPr marL="285750" indent="-285750" algn="r" rtl="1">
              <a:buFont typeface="Arial" panose="020B0604020202020204" pitchFamily="34" charset="0"/>
              <a:buChar char="•"/>
            </a:pPr>
            <a:r>
              <a:rPr lang="he-IL" dirty="0"/>
              <a:t> 5% מקרב הילודים הבדואים במחוז הדרום נולדו לאימהות מתחת לגיל 20.</a:t>
            </a:r>
          </a:p>
          <a:p>
            <a:pPr marL="285750" indent="-285750" algn="r" rtl="1">
              <a:buFont typeface="Arial" panose="020B0604020202020204" pitchFamily="34" charset="0"/>
              <a:buChar char="•"/>
            </a:pPr>
            <a:endParaRPr lang="he-IL" sz="1600" b="1" dirty="0"/>
          </a:p>
          <a:p>
            <a:pPr marL="285750" indent="-285750" algn="r" rtl="1">
              <a:buFont typeface="Arial" panose="020B0604020202020204" pitchFamily="34" charset="0"/>
              <a:buChar char="•"/>
            </a:pPr>
            <a:r>
              <a:rPr lang="he-IL" dirty="0"/>
              <a:t> חלק גדול מהאימהות חדשות הן בעלות השכלה חטיבת ביניים ותיכון.</a:t>
            </a:r>
          </a:p>
          <a:p>
            <a:pPr marL="285750" indent="-285750" algn="r" rtl="1">
              <a:buFont typeface="Arial" panose="020B0604020202020204" pitchFamily="34" charset="0"/>
              <a:buChar char="•"/>
            </a:pPr>
            <a:endParaRPr lang="he-IL" sz="1600" b="1" dirty="0"/>
          </a:p>
          <a:p>
            <a:pPr marL="285750" indent="-285750" algn="r" rtl="1">
              <a:buFont typeface="Arial" panose="020B0604020202020204" pitchFamily="34" charset="0"/>
              <a:buChar char="•"/>
            </a:pPr>
            <a:r>
              <a:rPr lang="he-IL" dirty="0"/>
              <a:t>לפעמים נשים בהריון ולאחר לידה חוות עצב ,פחד ,כעס או תסכול.</a:t>
            </a:r>
            <a:endParaRPr lang="he-IL" b="1" dirty="0"/>
          </a:p>
        </p:txBody>
      </p:sp>
      <p:sp>
        <p:nvSpPr>
          <p:cNvPr id="5" name="TextBox 15">
            <a:extLst>
              <a:ext uri="{FF2B5EF4-FFF2-40B4-BE49-F238E27FC236}">
                <a16:creationId xmlns:a16="http://schemas.microsoft.com/office/drawing/2014/main" id="{6B1D7C80-8BE3-6F24-842E-1CAA1841D937}"/>
              </a:ext>
            </a:extLst>
          </p:cNvPr>
          <p:cNvSpPr txBox="1"/>
          <p:nvPr/>
        </p:nvSpPr>
        <p:spPr>
          <a:xfrm>
            <a:off x="761802" y="4979972"/>
            <a:ext cx="8151778" cy="461665"/>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1">
            <a:spAutoFit/>
          </a:bodyPr>
          <a:lstStyle/>
          <a:p>
            <a:pPr algn="ctr" rtl="1"/>
            <a:r>
              <a:rPr lang="he-IL" sz="2400" b="1" dirty="0"/>
              <a:t>הפרויקט יתמקד בבניית אתר למידע לאימהות חדשות</a:t>
            </a:r>
          </a:p>
        </p:txBody>
      </p:sp>
      <p:sp>
        <p:nvSpPr>
          <p:cNvPr id="12" name="תיבת טקסט 11">
            <a:extLst>
              <a:ext uri="{FF2B5EF4-FFF2-40B4-BE49-F238E27FC236}">
                <a16:creationId xmlns:a16="http://schemas.microsoft.com/office/drawing/2014/main" id="{144876E4-2F31-23EC-7718-C2AE88A6DC25}"/>
              </a:ext>
            </a:extLst>
          </p:cNvPr>
          <p:cNvSpPr txBox="1"/>
          <p:nvPr/>
        </p:nvSpPr>
        <p:spPr>
          <a:xfrm>
            <a:off x="6677180" y="1015071"/>
            <a:ext cx="309805" cy="253916"/>
          </a:xfrm>
          <a:prstGeom prst="rect">
            <a:avLst/>
          </a:prstGeom>
          <a:noFill/>
        </p:spPr>
        <p:txBody>
          <a:bodyPr wrap="square" rtlCol="1">
            <a:spAutoFit/>
          </a:bodyPr>
          <a:lstStyle/>
          <a:p>
            <a:r>
              <a:rPr lang="en-US" sz="1050" b="1" dirty="0"/>
              <a:t>7</a:t>
            </a:r>
            <a:endParaRPr lang="he-IL" sz="1050" b="1" dirty="0"/>
          </a:p>
        </p:txBody>
      </p:sp>
      <p:sp>
        <p:nvSpPr>
          <p:cNvPr id="13" name="תיבת טקסט 12">
            <a:extLst>
              <a:ext uri="{FF2B5EF4-FFF2-40B4-BE49-F238E27FC236}">
                <a16:creationId xmlns:a16="http://schemas.microsoft.com/office/drawing/2014/main" id="{6368F864-CC7C-873F-8084-48040FC4B53C}"/>
              </a:ext>
            </a:extLst>
          </p:cNvPr>
          <p:cNvSpPr txBox="1"/>
          <p:nvPr/>
        </p:nvSpPr>
        <p:spPr>
          <a:xfrm>
            <a:off x="4538621" y="1824395"/>
            <a:ext cx="177573" cy="253916"/>
          </a:xfrm>
          <a:prstGeom prst="rect">
            <a:avLst/>
          </a:prstGeom>
          <a:noFill/>
        </p:spPr>
        <p:txBody>
          <a:bodyPr wrap="square" rtlCol="1">
            <a:spAutoFit/>
          </a:bodyPr>
          <a:lstStyle/>
          <a:p>
            <a:r>
              <a:rPr lang="en-US" sz="1050" b="1" dirty="0"/>
              <a:t>2</a:t>
            </a:r>
            <a:endParaRPr lang="he-IL" sz="1050" b="1" dirty="0"/>
          </a:p>
        </p:txBody>
      </p:sp>
      <p:sp>
        <p:nvSpPr>
          <p:cNvPr id="14" name="תיבת טקסט 13">
            <a:extLst>
              <a:ext uri="{FF2B5EF4-FFF2-40B4-BE49-F238E27FC236}">
                <a16:creationId xmlns:a16="http://schemas.microsoft.com/office/drawing/2014/main" id="{A6C1E922-DC96-78AD-F2C0-A319961012F5}"/>
              </a:ext>
            </a:extLst>
          </p:cNvPr>
          <p:cNvSpPr txBox="1"/>
          <p:nvPr/>
        </p:nvSpPr>
        <p:spPr>
          <a:xfrm>
            <a:off x="5485156" y="3436642"/>
            <a:ext cx="309805" cy="253916"/>
          </a:xfrm>
          <a:prstGeom prst="rect">
            <a:avLst/>
          </a:prstGeom>
          <a:noFill/>
        </p:spPr>
        <p:txBody>
          <a:bodyPr wrap="square" rtlCol="1">
            <a:spAutoFit/>
          </a:bodyPr>
          <a:lstStyle/>
          <a:p>
            <a:r>
              <a:rPr lang="en-US" sz="1050" b="1" dirty="0"/>
              <a:t>9</a:t>
            </a:r>
            <a:endParaRPr lang="he-IL" sz="1050" b="1" dirty="0"/>
          </a:p>
        </p:txBody>
      </p:sp>
      <p:sp>
        <p:nvSpPr>
          <p:cNvPr id="15" name="תיבת טקסט 14">
            <a:extLst>
              <a:ext uri="{FF2B5EF4-FFF2-40B4-BE49-F238E27FC236}">
                <a16:creationId xmlns:a16="http://schemas.microsoft.com/office/drawing/2014/main" id="{9BA70B22-1DCE-06FD-83BD-61B34948A9CF}"/>
              </a:ext>
            </a:extLst>
          </p:cNvPr>
          <p:cNvSpPr txBox="1"/>
          <p:nvPr/>
        </p:nvSpPr>
        <p:spPr>
          <a:xfrm>
            <a:off x="6691248" y="2331863"/>
            <a:ext cx="309805" cy="253916"/>
          </a:xfrm>
          <a:prstGeom prst="rect">
            <a:avLst/>
          </a:prstGeom>
          <a:noFill/>
        </p:spPr>
        <p:txBody>
          <a:bodyPr wrap="square" rtlCol="1">
            <a:spAutoFit/>
          </a:bodyPr>
          <a:lstStyle/>
          <a:p>
            <a:r>
              <a:rPr lang="en-US" sz="1050" b="1" dirty="0"/>
              <a:t>8</a:t>
            </a:r>
            <a:endParaRPr lang="he-IL" sz="1050" b="1" dirty="0"/>
          </a:p>
        </p:txBody>
      </p:sp>
      <p:sp>
        <p:nvSpPr>
          <p:cNvPr id="17" name="תיבת טקסט 16">
            <a:extLst>
              <a:ext uri="{FF2B5EF4-FFF2-40B4-BE49-F238E27FC236}">
                <a16:creationId xmlns:a16="http://schemas.microsoft.com/office/drawing/2014/main" id="{F6AF7508-A6E7-C817-3159-F8BD86C4B37E}"/>
              </a:ext>
            </a:extLst>
          </p:cNvPr>
          <p:cNvSpPr txBox="1"/>
          <p:nvPr/>
        </p:nvSpPr>
        <p:spPr>
          <a:xfrm>
            <a:off x="5865301" y="2859859"/>
            <a:ext cx="309805" cy="253916"/>
          </a:xfrm>
          <a:prstGeom prst="rect">
            <a:avLst/>
          </a:prstGeom>
          <a:noFill/>
        </p:spPr>
        <p:txBody>
          <a:bodyPr wrap="square" rtlCol="1">
            <a:spAutoFit/>
          </a:bodyPr>
          <a:lstStyle/>
          <a:p>
            <a:r>
              <a:rPr lang="en-US" sz="1050" b="1" dirty="0"/>
              <a:t>8</a:t>
            </a:r>
            <a:endParaRPr lang="he-IL" sz="1050" b="1" dirty="0"/>
          </a:p>
        </p:txBody>
      </p:sp>
      <p:sp>
        <p:nvSpPr>
          <p:cNvPr id="18" name="מציין מיקום של כותרת תחתונה 3">
            <a:extLst>
              <a:ext uri="{FF2B5EF4-FFF2-40B4-BE49-F238E27FC236}">
                <a16:creationId xmlns:a16="http://schemas.microsoft.com/office/drawing/2014/main" id="{CD27C043-6BE8-B393-9E97-7014D2FC10B2}"/>
              </a:ext>
            </a:extLst>
          </p:cNvPr>
          <p:cNvSpPr txBox="1">
            <a:spLocks/>
          </p:cNvSpPr>
          <p:nvPr/>
        </p:nvSpPr>
        <p:spPr>
          <a:xfrm>
            <a:off x="6656862" y="4722312"/>
            <a:ext cx="2409264" cy="1107983"/>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28600" indent="-228600" algn="l" rtl="1">
              <a:buFont typeface="+mj-lt"/>
              <a:buAutoNum type="arabicPeriod"/>
            </a:pPr>
            <a:endParaRPr lang="he-IL" b="1" dirty="0">
              <a:solidFill>
                <a:schemeClr val="tx1"/>
              </a:solidFill>
            </a:endParaRPr>
          </a:p>
        </p:txBody>
      </p:sp>
      <p:sp>
        <p:nvSpPr>
          <p:cNvPr id="19" name="מציין מיקום של כותרת תחתונה 3">
            <a:extLst>
              <a:ext uri="{FF2B5EF4-FFF2-40B4-BE49-F238E27FC236}">
                <a16:creationId xmlns:a16="http://schemas.microsoft.com/office/drawing/2014/main" id="{0453B6AB-D5C6-DDD4-3861-E80CA907C985}"/>
              </a:ext>
            </a:extLst>
          </p:cNvPr>
          <p:cNvSpPr txBox="1">
            <a:spLocks/>
          </p:cNvSpPr>
          <p:nvPr/>
        </p:nvSpPr>
        <p:spPr>
          <a:xfrm>
            <a:off x="6656862" y="4897677"/>
            <a:ext cx="2409264" cy="203344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rtl="1"/>
            <a:endParaRPr lang="he-IL" sz="1200" b="1" dirty="0">
              <a:effectLst/>
              <a:latin typeface="Calibri" panose="020F0502020204030204" pitchFamily="34" charset="0"/>
              <a:ea typeface="Calibri" panose="020F0502020204030204" pitchFamily="34" charset="0"/>
              <a:cs typeface="Arial" panose="020B0604020202020204" pitchFamily="34" charset="0"/>
            </a:endParaRPr>
          </a:p>
        </p:txBody>
      </p:sp>
      <p:sp>
        <p:nvSpPr>
          <p:cNvPr id="20" name="מציין מיקום של כותרת תחתונה 3">
            <a:extLst>
              <a:ext uri="{FF2B5EF4-FFF2-40B4-BE49-F238E27FC236}">
                <a16:creationId xmlns:a16="http://schemas.microsoft.com/office/drawing/2014/main" id="{B6B3E086-0B05-240E-E1C3-47E0C6F35AF5}"/>
              </a:ext>
            </a:extLst>
          </p:cNvPr>
          <p:cNvSpPr txBox="1">
            <a:spLocks/>
          </p:cNvSpPr>
          <p:nvPr/>
        </p:nvSpPr>
        <p:spPr>
          <a:xfrm>
            <a:off x="2627638" y="6144033"/>
            <a:ext cx="6475326" cy="726743"/>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rtl="1"/>
            <a:r>
              <a:rPr lang="he-IL" sz="1050" dirty="0">
                <a:solidFill>
                  <a:schemeClr val="bg1">
                    <a:lumMod val="50000"/>
                  </a:schemeClr>
                </a:solidFill>
              </a:rPr>
              <a:t>2.רוני ה</a:t>
            </a:r>
            <a:r>
              <a:rPr lang="en-US" sz="1050" dirty="0">
                <a:solidFill>
                  <a:schemeClr val="bg1">
                    <a:lumMod val="50000"/>
                  </a:schemeClr>
                </a:solidFill>
                <a:latin typeface="Calibri" panose="020F0502020204030204" pitchFamily="34" charset="0"/>
                <a:ea typeface="Calibri" panose="020F0502020204030204" pitchFamily="34" charset="0"/>
              </a:rPr>
              <a:t> '</a:t>
            </a:r>
            <a:r>
              <a:rPr lang="he-IL" sz="1050" dirty="0">
                <a:solidFill>
                  <a:schemeClr val="bg1">
                    <a:lumMod val="50000"/>
                  </a:schemeClr>
                </a:solidFill>
                <a:latin typeface="Calibri" panose="020F0502020204030204" pitchFamily="34" charset="0"/>
                <a:ea typeface="Calibri" panose="020F0502020204030204" pitchFamily="34" charset="0"/>
              </a:rPr>
              <a:t> ,(2022)</a:t>
            </a:r>
            <a:r>
              <a:rPr lang="en-US" sz="1050" dirty="0">
                <a:solidFill>
                  <a:schemeClr val="bg1">
                    <a:lumMod val="50000"/>
                  </a:schemeClr>
                </a:solidFill>
                <a:latin typeface="Calibri" panose="020F0502020204030204" pitchFamily="34" charset="0"/>
                <a:ea typeface="Calibri" panose="020F0502020204030204" pitchFamily="34" charset="0"/>
              </a:rPr>
              <a:t>'</a:t>
            </a:r>
            <a:r>
              <a:rPr lang="he-IL" sz="1050" dirty="0">
                <a:solidFill>
                  <a:schemeClr val="bg1">
                    <a:lumMod val="50000"/>
                  </a:schemeClr>
                </a:solidFill>
                <a:latin typeface="Calibri" panose="020F0502020204030204" pitchFamily="34" charset="0"/>
                <a:ea typeface="Calibri" panose="020F0502020204030204" pitchFamily="34" charset="0"/>
              </a:rPr>
              <a:t> )</a:t>
            </a:r>
          </a:p>
          <a:p>
            <a:pPr algn="r" rtl="1"/>
            <a:r>
              <a:rPr lang="he-IL" sz="1050" dirty="0">
                <a:solidFill>
                  <a:schemeClr val="bg1">
                    <a:lumMod val="50000"/>
                  </a:schemeClr>
                </a:solidFill>
              </a:rPr>
              <a:t>7.אוריאנה א</a:t>
            </a:r>
            <a:r>
              <a:rPr lang="en-US" sz="1050" dirty="0">
                <a:solidFill>
                  <a:schemeClr val="bg1">
                    <a:lumMod val="50000"/>
                  </a:schemeClr>
                </a:solidFill>
                <a:latin typeface="Calibri" panose="020F0502020204030204" pitchFamily="34" charset="0"/>
                <a:ea typeface="Calibri" panose="020F0502020204030204" pitchFamily="34" charset="0"/>
              </a:rPr>
              <a:t> ' </a:t>
            </a:r>
            <a:r>
              <a:rPr lang="he-IL" sz="1050" dirty="0">
                <a:solidFill>
                  <a:schemeClr val="bg1">
                    <a:lumMod val="50000"/>
                  </a:schemeClr>
                </a:solidFill>
                <a:latin typeface="Calibri" panose="020F0502020204030204" pitchFamily="34" charset="0"/>
                <a:ea typeface="Calibri" panose="020F0502020204030204" pitchFamily="34" charset="0"/>
              </a:rPr>
              <a:t> , (2023)</a:t>
            </a:r>
          </a:p>
          <a:p>
            <a:pPr algn="r"/>
            <a:r>
              <a:rPr lang="he-IL" sz="1050" dirty="0">
                <a:solidFill>
                  <a:schemeClr val="bg1">
                    <a:lumMod val="50000"/>
                  </a:schemeClr>
                </a:solidFill>
              </a:rPr>
              <a:t>8.רשימת מחברים , (2008)</a:t>
            </a:r>
            <a:endParaRPr lang="he-IL" sz="1050" dirty="0">
              <a:solidFill>
                <a:schemeClr val="bg1">
                  <a:lumMod val="50000"/>
                </a:schemeClr>
              </a:solidFill>
              <a:effectLst/>
              <a:highlight>
                <a:srgbClr val="FFFF00"/>
              </a:highlight>
              <a:latin typeface="Calibri" panose="020F0502020204030204" pitchFamily="34" charset="0"/>
              <a:ea typeface="Calibri" panose="020F0502020204030204" pitchFamily="34" charset="0"/>
            </a:endParaRPr>
          </a:p>
          <a:p>
            <a:pPr algn="r" rtl="1"/>
            <a:r>
              <a:rPr lang="he-IL" sz="1050" dirty="0">
                <a:solidFill>
                  <a:schemeClr val="bg1">
                    <a:lumMod val="50000"/>
                  </a:schemeClr>
                </a:solidFill>
              </a:rPr>
              <a:t>9."דיכאון אחרי לידה ובמהלך ההיריון-מידע לאישה ההרה, ליולדות ולבני משפחתה" , משרד הבריאות.</a:t>
            </a:r>
          </a:p>
          <a:p>
            <a:pPr algn="r" rtl="1"/>
            <a:endParaRPr lang="he-IL" b="1" dirty="0">
              <a:solidFill>
                <a:schemeClr val="bg1">
                  <a:lumMod val="50000"/>
                </a:schemeClr>
              </a:solidFill>
            </a:endParaRPr>
          </a:p>
          <a:p>
            <a:pPr algn="r" rtl="1"/>
            <a:endParaRPr lang="he-IL" b="1" dirty="0">
              <a:solidFill>
                <a:schemeClr val="bg1">
                  <a:lumMod val="50000"/>
                </a:schemeClr>
              </a:solidFill>
              <a:highlight>
                <a:srgbClr val="FFFF00"/>
              </a:highlight>
              <a:latin typeface="Calibri" panose="020F0502020204030204" pitchFamily="34" charset="0"/>
              <a:ea typeface="Calibri" panose="020F0502020204030204" pitchFamily="34" charset="0"/>
              <a:cs typeface="Arial" panose="020B0604020202020204" pitchFamily="34" charset="0"/>
            </a:endParaRPr>
          </a:p>
          <a:p>
            <a:pPr algn="r" rtl="1"/>
            <a:endParaRPr lang="he-IL" b="1" dirty="0">
              <a:solidFill>
                <a:schemeClr val="bg1">
                  <a:lumMod val="50000"/>
                </a:schemeClr>
              </a:solidFill>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p>
            <a:pPr algn="r" rtl="1"/>
            <a:endParaRPr lang="he-IL" b="1" dirty="0">
              <a:solidFill>
                <a:schemeClr val="bg1">
                  <a:lumMod val="50000"/>
                </a:schemeClr>
              </a:solidFill>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p>
            <a:pPr marL="228600" indent="-228600" algn="r" rtl="1">
              <a:buFont typeface="+mj-lt"/>
              <a:buAutoNum type="arabicPeriod"/>
            </a:pPr>
            <a:endParaRPr lang="he-IL" b="1" dirty="0">
              <a:solidFill>
                <a:schemeClr val="bg1">
                  <a:lumMod val="50000"/>
                </a:schemeClr>
              </a:solidFill>
              <a:highlight>
                <a:srgbClr val="FFFF00"/>
              </a:highlight>
            </a:endParaRPr>
          </a:p>
        </p:txBody>
      </p:sp>
      <p:pic>
        <p:nvPicPr>
          <p:cNvPr id="21" name="תמונה 20">
            <a:extLst>
              <a:ext uri="{FF2B5EF4-FFF2-40B4-BE49-F238E27FC236}">
                <a16:creationId xmlns:a16="http://schemas.microsoft.com/office/drawing/2014/main" id="{2231E926-FC65-4EEB-9658-473FDA105052}"/>
              </a:ext>
            </a:extLst>
          </p:cNvPr>
          <p:cNvPicPr>
            <a:picLocks noChangeAspect="1"/>
          </p:cNvPicPr>
          <p:nvPr/>
        </p:nvPicPr>
        <p:blipFill>
          <a:blip r:embed="rId3"/>
          <a:stretch>
            <a:fillRect/>
          </a:stretch>
        </p:blipFill>
        <p:spPr>
          <a:xfrm>
            <a:off x="8165794" y="1"/>
            <a:ext cx="978206" cy="782664"/>
          </a:xfrm>
          <a:prstGeom prst="rect">
            <a:avLst/>
          </a:prstGeom>
        </p:spPr>
      </p:pic>
      <p:pic>
        <p:nvPicPr>
          <p:cNvPr id="22" name="תמונה 21">
            <a:extLst>
              <a:ext uri="{FF2B5EF4-FFF2-40B4-BE49-F238E27FC236}">
                <a16:creationId xmlns:a16="http://schemas.microsoft.com/office/drawing/2014/main" id="{424F1F9E-17FC-4F47-916E-5017A277A3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414691839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7" name="מציין מיקום של כותרת תחתונה 8"/>
          <p:cNvSpPr>
            <a:spLocks noGrp="1"/>
          </p:cNvSpPr>
          <p:nvPr>
            <p:ph type="ftr" sz="quarter" idx="11"/>
          </p:nvPr>
        </p:nvSpPr>
        <p:spPr>
          <a:xfrm>
            <a:off x="2832578" y="6494659"/>
            <a:ext cx="3858670" cy="342900"/>
          </a:xfrm>
          <a:noFill/>
        </p:spPr>
        <p:txBody>
          <a:bodyPr/>
          <a:lstStyle/>
          <a:p>
            <a:pPr rtl="1">
              <a:spcBef>
                <a:spcPct val="20000"/>
              </a:spcBef>
            </a:pPr>
            <a:r>
              <a:rPr lang="he-IL" b="1" dirty="0">
                <a:solidFill>
                  <a:schemeClr val="tx1"/>
                </a:solidFill>
              </a:rPr>
              <a:t>אתר אינטרנט לאימהות חדשות במגזר הבדואי                     </a:t>
            </a:r>
            <a:endParaRPr lang="en-US" b="1" dirty="0">
              <a:solidFill>
                <a:schemeClr val="tx1"/>
              </a:solidFill>
            </a:endParaRPr>
          </a:p>
          <a:p>
            <a:pPr rtl="1">
              <a:spcBef>
                <a:spcPct val="20000"/>
              </a:spcBef>
            </a:pPr>
            <a:r>
              <a:rPr lang="en-US" b="1" dirty="0">
                <a:solidFill>
                  <a:schemeClr val="tx1"/>
                </a:solidFill>
              </a:rPr>
              <a:t>Navon-13-2024-sem2</a:t>
            </a:r>
          </a:p>
        </p:txBody>
      </p:sp>
      <p:sp>
        <p:nvSpPr>
          <p:cNvPr id="2" name="TextBox 5">
            <a:extLst>
              <a:ext uri="{FF2B5EF4-FFF2-40B4-BE49-F238E27FC236}">
                <a16:creationId xmlns:a16="http://schemas.microsoft.com/office/drawing/2014/main" id="{F945C521-9F72-7C61-D706-C915BFBAF614}"/>
              </a:ext>
            </a:extLst>
          </p:cNvPr>
          <p:cNvSpPr txBox="1">
            <a:spLocks noChangeArrowheads="1"/>
          </p:cNvSpPr>
          <p:nvPr/>
        </p:nvSpPr>
        <p:spPr bwMode="auto">
          <a:xfrm>
            <a:off x="520768" y="-373"/>
            <a:ext cx="7835321" cy="830997"/>
          </a:xfrm>
          <a:prstGeom prst="rect">
            <a:avLst/>
          </a:prstGeom>
          <a:noFill/>
          <a:ln w="9525">
            <a:noFill/>
            <a:miter lim="800000"/>
            <a:headEnd/>
            <a:tailEnd/>
          </a:ln>
        </p:spPr>
        <p:txBody>
          <a:bodyPr wrap="square">
            <a:spAutoFit/>
          </a:bodyPr>
          <a:lstStyle>
            <a:defPPr>
              <a:defRPr lang="he-IL"/>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57200" algn="r" rtl="1" fontAlgn="base">
              <a:spcBef>
                <a:spcPct val="0"/>
              </a:spcBef>
              <a:spcAft>
                <a:spcPct val="0"/>
              </a:spcAft>
              <a:defRPr kern="1200">
                <a:solidFill>
                  <a:schemeClr val="tx1"/>
                </a:solidFill>
                <a:latin typeface="Arial" pitchFamily="34" charset="0"/>
                <a:ea typeface="+mn-ea"/>
                <a:cs typeface="Arial" pitchFamily="34" charset="0"/>
              </a:defRPr>
            </a:lvl2pPr>
            <a:lvl3pPr marL="914400" algn="r" rtl="1" fontAlgn="base">
              <a:spcBef>
                <a:spcPct val="0"/>
              </a:spcBef>
              <a:spcAft>
                <a:spcPct val="0"/>
              </a:spcAft>
              <a:defRPr kern="1200">
                <a:solidFill>
                  <a:schemeClr val="tx1"/>
                </a:solidFill>
                <a:latin typeface="Arial" pitchFamily="34" charset="0"/>
                <a:ea typeface="+mn-ea"/>
                <a:cs typeface="Arial" pitchFamily="34" charset="0"/>
              </a:defRPr>
            </a:lvl3pPr>
            <a:lvl4pPr marL="1371600" algn="r" rtl="1" fontAlgn="base">
              <a:spcBef>
                <a:spcPct val="0"/>
              </a:spcBef>
              <a:spcAft>
                <a:spcPct val="0"/>
              </a:spcAft>
              <a:defRPr kern="1200">
                <a:solidFill>
                  <a:schemeClr val="tx1"/>
                </a:solidFill>
                <a:latin typeface="Arial" pitchFamily="34" charset="0"/>
                <a:ea typeface="+mn-ea"/>
                <a:cs typeface="Arial" pitchFamily="34" charset="0"/>
              </a:defRPr>
            </a:lvl4pPr>
            <a:lvl5pPr marL="1828800" algn="r" rtl="1" fontAlgn="base">
              <a:spcBef>
                <a:spcPct val="0"/>
              </a:spcBef>
              <a:spcAft>
                <a:spcPct val="0"/>
              </a:spcAft>
              <a:defRPr kern="1200">
                <a:solidFill>
                  <a:schemeClr val="tx1"/>
                </a:solidFill>
                <a:latin typeface="Arial" pitchFamily="34" charset="0"/>
                <a:ea typeface="+mn-ea"/>
                <a:cs typeface="Arial" pitchFamily="34" charset="0"/>
              </a:defRPr>
            </a:lvl5pPr>
            <a:lvl6pPr marL="2286000" algn="r" defTabSz="914400" rtl="1" eaLnBrk="1" latinLnBrk="0" hangingPunct="1">
              <a:defRPr kern="1200">
                <a:solidFill>
                  <a:schemeClr val="tx1"/>
                </a:solidFill>
                <a:latin typeface="Arial" pitchFamily="34" charset="0"/>
                <a:ea typeface="+mn-ea"/>
                <a:cs typeface="Arial" pitchFamily="34" charset="0"/>
              </a:defRPr>
            </a:lvl6pPr>
            <a:lvl7pPr marL="2743200" algn="r" defTabSz="914400" rtl="1" eaLnBrk="1" latinLnBrk="0" hangingPunct="1">
              <a:defRPr kern="1200">
                <a:solidFill>
                  <a:schemeClr val="tx1"/>
                </a:solidFill>
                <a:latin typeface="Arial" pitchFamily="34" charset="0"/>
                <a:ea typeface="+mn-ea"/>
                <a:cs typeface="Arial" pitchFamily="34" charset="0"/>
              </a:defRPr>
            </a:lvl7pPr>
            <a:lvl8pPr marL="3200400" algn="r" defTabSz="914400" rtl="1" eaLnBrk="1" latinLnBrk="0" hangingPunct="1">
              <a:defRPr kern="1200">
                <a:solidFill>
                  <a:schemeClr val="tx1"/>
                </a:solidFill>
                <a:latin typeface="Arial" pitchFamily="34" charset="0"/>
                <a:ea typeface="+mn-ea"/>
                <a:cs typeface="Arial" pitchFamily="34" charset="0"/>
              </a:defRPr>
            </a:lvl8pPr>
            <a:lvl9pPr marL="3657600" algn="r" defTabSz="914400" rtl="1" eaLnBrk="1" latinLnBrk="0" hangingPunct="1">
              <a:defRPr kern="1200">
                <a:solidFill>
                  <a:schemeClr val="tx1"/>
                </a:solidFill>
                <a:latin typeface="Arial" pitchFamily="34" charset="0"/>
                <a:ea typeface="+mn-ea"/>
                <a:cs typeface="Arial" pitchFamily="34" charset="0"/>
              </a:defRPr>
            </a:lvl9pPr>
          </a:lstStyle>
          <a:p>
            <a:pPr algn="ctr"/>
            <a:r>
              <a:rPr lang="he-IL" sz="2400" b="1" u="sng" dirty="0">
                <a:latin typeface="Calibri" pitchFamily="34" charset="0"/>
              </a:rPr>
              <a:t>תרשים תהליך- חיפוש מידע במהלך הריון ולאחריו</a:t>
            </a:r>
          </a:p>
          <a:p>
            <a:pPr algn="ctr"/>
            <a:r>
              <a:rPr lang="he-IL" sz="2400" b="1" u="sng" dirty="0">
                <a:latin typeface="Calibri" pitchFamily="34" charset="0"/>
              </a:rPr>
              <a:t>מצב קיים </a:t>
            </a:r>
          </a:p>
        </p:txBody>
      </p:sp>
      <p:sp>
        <p:nvSpPr>
          <p:cNvPr id="6" name="מציין מיקום של מספר שקופית 5">
            <a:extLst>
              <a:ext uri="{FF2B5EF4-FFF2-40B4-BE49-F238E27FC236}">
                <a16:creationId xmlns:a16="http://schemas.microsoft.com/office/drawing/2014/main" id="{36DF479B-089B-AEB3-AFF0-685A75B7AB23}"/>
              </a:ext>
            </a:extLst>
          </p:cNvPr>
          <p:cNvSpPr>
            <a:spLocks noGrp="1"/>
          </p:cNvSpPr>
          <p:nvPr>
            <p:ph type="sldNum" sz="quarter" idx="12"/>
          </p:nvPr>
        </p:nvSpPr>
        <p:spPr>
          <a:xfrm>
            <a:off x="218103" y="6354622"/>
            <a:ext cx="2057400" cy="365125"/>
          </a:xfrm>
        </p:spPr>
        <p:txBody>
          <a:bodyPr/>
          <a:lstStyle/>
          <a:p>
            <a:pPr algn="l"/>
            <a:fld id="{F406CD6C-EFBE-497B-B02F-71827CD8C8E4}" type="slidenum">
              <a:rPr lang="he-IL" smtClean="0"/>
              <a:pPr algn="l"/>
              <a:t>4</a:t>
            </a:fld>
            <a:endParaRPr lang="he-IL"/>
          </a:p>
        </p:txBody>
      </p:sp>
      <p:sp>
        <p:nvSpPr>
          <p:cNvPr id="11" name="אליפסה 10">
            <a:extLst>
              <a:ext uri="{FF2B5EF4-FFF2-40B4-BE49-F238E27FC236}">
                <a16:creationId xmlns:a16="http://schemas.microsoft.com/office/drawing/2014/main" id="{ADE0C791-51DA-4FCE-8077-834315F8BC26}"/>
              </a:ext>
            </a:extLst>
          </p:cNvPr>
          <p:cNvSpPr/>
          <p:nvPr/>
        </p:nvSpPr>
        <p:spPr>
          <a:xfrm>
            <a:off x="638991" y="486283"/>
            <a:ext cx="1257300" cy="3651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התחלה</a:t>
            </a:r>
          </a:p>
        </p:txBody>
      </p:sp>
      <p:cxnSp>
        <p:nvCxnSpPr>
          <p:cNvPr id="13" name="מחבר חץ ישר 12">
            <a:extLst>
              <a:ext uri="{FF2B5EF4-FFF2-40B4-BE49-F238E27FC236}">
                <a16:creationId xmlns:a16="http://schemas.microsoft.com/office/drawing/2014/main" id="{C929BBB5-B7DB-4E67-897C-2F94A1821846}"/>
              </a:ext>
            </a:extLst>
          </p:cNvPr>
          <p:cNvCxnSpPr>
            <a:cxnSpLocks/>
            <a:stCxn id="11" idx="4"/>
            <a:endCxn id="14" idx="0"/>
          </p:cNvCxnSpPr>
          <p:nvPr/>
        </p:nvCxnSpPr>
        <p:spPr>
          <a:xfrm flipH="1">
            <a:off x="1254173" y="851408"/>
            <a:ext cx="13468" cy="390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 name="קבוצה 3">
            <a:extLst>
              <a:ext uri="{FF2B5EF4-FFF2-40B4-BE49-F238E27FC236}">
                <a16:creationId xmlns:a16="http://schemas.microsoft.com/office/drawing/2014/main" id="{36053A5F-7680-1790-5F5A-E297B0E87ACB}"/>
              </a:ext>
            </a:extLst>
          </p:cNvPr>
          <p:cNvGrpSpPr/>
          <p:nvPr/>
        </p:nvGrpSpPr>
        <p:grpSpPr>
          <a:xfrm>
            <a:off x="85791" y="1241554"/>
            <a:ext cx="8755995" cy="4614202"/>
            <a:chOff x="499745" y="2264407"/>
            <a:chExt cx="8755995" cy="3254861"/>
          </a:xfrm>
        </p:grpSpPr>
        <p:sp>
          <p:nvSpPr>
            <p:cNvPr id="14" name="תרשים זרימה: פעולה ידנית 13">
              <a:extLst>
                <a:ext uri="{FF2B5EF4-FFF2-40B4-BE49-F238E27FC236}">
                  <a16:creationId xmlns:a16="http://schemas.microsoft.com/office/drawing/2014/main" id="{1687F3ED-3120-4F72-BF88-B04ED9A7B1DD}"/>
                </a:ext>
              </a:extLst>
            </p:cNvPr>
            <p:cNvSpPr/>
            <p:nvPr/>
          </p:nvSpPr>
          <p:spPr>
            <a:xfrm>
              <a:off x="891354" y="2264407"/>
              <a:ext cx="1553546" cy="633047"/>
            </a:xfrm>
            <a:prstGeom prst="flowChartManualOperation">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b="1" dirty="0"/>
                <a:t>תהליך ההיריון</a:t>
              </a:r>
            </a:p>
          </p:txBody>
        </p:sp>
        <p:cxnSp>
          <p:nvCxnSpPr>
            <p:cNvPr id="19" name="מחבר חץ ישר 18">
              <a:extLst>
                <a:ext uri="{FF2B5EF4-FFF2-40B4-BE49-F238E27FC236}">
                  <a16:creationId xmlns:a16="http://schemas.microsoft.com/office/drawing/2014/main" id="{86121D25-00B1-4CCB-A4C6-46B9696543ED}"/>
                </a:ext>
              </a:extLst>
            </p:cNvPr>
            <p:cNvCxnSpPr>
              <a:cxnSpLocks/>
              <a:stCxn id="48" idx="2"/>
              <a:endCxn id="53" idx="0"/>
            </p:cNvCxnSpPr>
            <p:nvPr/>
          </p:nvCxnSpPr>
          <p:spPr>
            <a:xfrm flipH="1">
              <a:off x="4327965" y="2897454"/>
              <a:ext cx="4884" cy="327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מחבר חץ ישר 19">
              <a:extLst>
                <a:ext uri="{FF2B5EF4-FFF2-40B4-BE49-F238E27FC236}">
                  <a16:creationId xmlns:a16="http://schemas.microsoft.com/office/drawing/2014/main" id="{37C16226-1053-434D-819C-31672132E615}"/>
                </a:ext>
              </a:extLst>
            </p:cNvPr>
            <p:cNvCxnSpPr>
              <a:cxnSpLocks/>
              <a:stCxn id="53" idx="2"/>
              <a:endCxn id="59" idx="0"/>
            </p:cNvCxnSpPr>
            <p:nvPr/>
          </p:nvCxnSpPr>
          <p:spPr>
            <a:xfrm>
              <a:off x="4160226" y="4448153"/>
              <a:ext cx="925" cy="281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מחבר חץ ישר 20">
              <a:extLst>
                <a:ext uri="{FF2B5EF4-FFF2-40B4-BE49-F238E27FC236}">
                  <a16:creationId xmlns:a16="http://schemas.microsoft.com/office/drawing/2014/main" id="{4D7A3B88-97FB-4A7F-8D98-CE8D1AA9B939}"/>
                </a:ext>
              </a:extLst>
            </p:cNvPr>
            <p:cNvCxnSpPr>
              <a:cxnSpLocks/>
              <a:stCxn id="2063" idx="2"/>
              <a:endCxn id="91" idx="0"/>
            </p:cNvCxnSpPr>
            <p:nvPr/>
          </p:nvCxnSpPr>
          <p:spPr>
            <a:xfrm>
              <a:off x="6571631" y="3913302"/>
              <a:ext cx="3527" cy="801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מחבר חץ ישר 22">
              <a:extLst>
                <a:ext uri="{FF2B5EF4-FFF2-40B4-BE49-F238E27FC236}">
                  <a16:creationId xmlns:a16="http://schemas.microsoft.com/office/drawing/2014/main" id="{28BA90DC-3D49-4996-9660-088F6F700318}"/>
                </a:ext>
              </a:extLst>
            </p:cNvPr>
            <p:cNvCxnSpPr>
              <a:cxnSpLocks/>
              <a:stCxn id="25" idx="2"/>
              <a:endCxn id="33" idx="1"/>
            </p:cNvCxnSpPr>
            <p:nvPr/>
          </p:nvCxnSpPr>
          <p:spPr>
            <a:xfrm flipH="1">
              <a:off x="1633633" y="4331350"/>
              <a:ext cx="13220" cy="393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מחבר חץ ישר 23">
              <a:extLst>
                <a:ext uri="{FF2B5EF4-FFF2-40B4-BE49-F238E27FC236}">
                  <a16:creationId xmlns:a16="http://schemas.microsoft.com/office/drawing/2014/main" id="{A2011791-39EF-4756-AA6C-FF434F05AD6F}"/>
                </a:ext>
              </a:extLst>
            </p:cNvPr>
            <p:cNvCxnSpPr>
              <a:cxnSpLocks/>
              <a:stCxn id="14" idx="2"/>
              <a:endCxn id="25" idx="0"/>
            </p:cNvCxnSpPr>
            <p:nvPr/>
          </p:nvCxnSpPr>
          <p:spPr>
            <a:xfrm flipH="1">
              <a:off x="1646853" y="2897454"/>
              <a:ext cx="21274" cy="4064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תרשים זרימה: פעולה ידנית 24">
              <a:extLst>
                <a:ext uri="{FF2B5EF4-FFF2-40B4-BE49-F238E27FC236}">
                  <a16:creationId xmlns:a16="http://schemas.microsoft.com/office/drawing/2014/main" id="{3619989A-5A11-46C0-A7E3-59D157663CA1}"/>
                </a:ext>
              </a:extLst>
            </p:cNvPr>
            <p:cNvSpPr/>
            <p:nvPr/>
          </p:nvSpPr>
          <p:spPr>
            <a:xfrm>
              <a:off x="754434" y="3303861"/>
              <a:ext cx="1784838" cy="1027489"/>
            </a:xfrm>
            <a:prstGeom prst="flowChartManualOperation">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b="1" dirty="0"/>
                <a:t>בדיקות אצל טיפת חלב ושאלות</a:t>
              </a:r>
            </a:p>
          </p:txBody>
        </p:sp>
        <p:sp>
          <p:nvSpPr>
            <p:cNvPr id="33" name="תרשים זרימה: נתונים 32">
              <a:extLst>
                <a:ext uri="{FF2B5EF4-FFF2-40B4-BE49-F238E27FC236}">
                  <a16:creationId xmlns:a16="http://schemas.microsoft.com/office/drawing/2014/main" id="{8D7880B5-2D18-4494-85E1-0D0E28C58F2E}"/>
                </a:ext>
              </a:extLst>
            </p:cNvPr>
            <p:cNvSpPr/>
            <p:nvPr/>
          </p:nvSpPr>
          <p:spPr>
            <a:xfrm>
              <a:off x="499745" y="4724350"/>
              <a:ext cx="2267776" cy="342901"/>
            </a:xfrm>
            <a:prstGeom prst="flowChartInputOutpu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b="1" dirty="0"/>
                <a:t>נתונים כללים</a:t>
              </a:r>
            </a:p>
          </p:txBody>
        </p:sp>
        <p:cxnSp>
          <p:nvCxnSpPr>
            <p:cNvPr id="46" name="מחבר: מרפקי 45">
              <a:extLst>
                <a:ext uri="{FF2B5EF4-FFF2-40B4-BE49-F238E27FC236}">
                  <a16:creationId xmlns:a16="http://schemas.microsoft.com/office/drawing/2014/main" id="{DCD5B95D-C6EF-48D7-A775-95AAE2297AC0}"/>
                </a:ext>
              </a:extLst>
            </p:cNvPr>
            <p:cNvCxnSpPr>
              <a:cxnSpLocks/>
              <a:stCxn id="33" idx="5"/>
              <a:endCxn id="48" idx="1"/>
            </p:cNvCxnSpPr>
            <p:nvPr/>
          </p:nvCxnSpPr>
          <p:spPr>
            <a:xfrm flipV="1">
              <a:off x="2540743" y="2580931"/>
              <a:ext cx="1236432" cy="2314870"/>
            </a:xfrm>
            <a:prstGeom prst="bentConnector3">
              <a:avLst>
                <a:gd name="adj1" fmla="val 36489"/>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תרשים זרימה: פעולה ידנית 47">
              <a:extLst>
                <a:ext uri="{FF2B5EF4-FFF2-40B4-BE49-F238E27FC236}">
                  <a16:creationId xmlns:a16="http://schemas.microsoft.com/office/drawing/2014/main" id="{7832999C-8643-4A19-8883-B997BF7E1820}"/>
                </a:ext>
              </a:extLst>
            </p:cNvPr>
            <p:cNvSpPr/>
            <p:nvPr/>
          </p:nvSpPr>
          <p:spPr>
            <a:xfrm>
              <a:off x="3638257" y="2264407"/>
              <a:ext cx="1389184" cy="633047"/>
            </a:xfrm>
            <a:prstGeom prst="flowChartManualOperation">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b="1" dirty="0"/>
                <a:t>תהליך הלידה</a:t>
              </a:r>
            </a:p>
          </p:txBody>
        </p:sp>
        <p:sp>
          <p:nvSpPr>
            <p:cNvPr id="53" name="תרשים זרימה: ריבוי מסמכים 52">
              <a:extLst>
                <a:ext uri="{FF2B5EF4-FFF2-40B4-BE49-F238E27FC236}">
                  <a16:creationId xmlns:a16="http://schemas.microsoft.com/office/drawing/2014/main" id="{6F0DAD19-D3ED-4B2B-A50A-3BA853F10C33}"/>
                </a:ext>
              </a:extLst>
            </p:cNvPr>
            <p:cNvSpPr/>
            <p:nvPr/>
          </p:nvSpPr>
          <p:spPr>
            <a:xfrm>
              <a:off x="3638257" y="3224621"/>
              <a:ext cx="1212575" cy="1271691"/>
            </a:xfrm>
            <a:prstGeom prst="flowChartMultidocumen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b="1" dirty="0"/>
                <a:t>מסמכי הוראות ממרפאה</a:t>
              </a:r>
            </a:p>
          </p:txBody>
        </p:sp>
        <p:sp>
          <p:nvSpPr>
            <p:cNvPr id="59" name="תרשים זרימה: פעולה ידנית 58">
              <a:extLst>
                <a:ext uri="{FF2B5EF4-FFF2-40B4-BE49-F238E27FC236}">
                  <a16:creationId xmlns:a16="http://schemas.microsoft.com/office/drawing/2014/main" id="{272FD29E-02A9-455B-BBD6-84C8A877ADF0}"/>
                </a:ext>
              </a:extLst>
            </p:cNvPr>
            <p:cNvSpPr/>
            <p:nvPr/>
          </p:nvSpPr>
          <p:spPr>
            <a:xfrm>
              <a:off x="3156936" y="4729315"/>
              <a:ext cx="2008429" cy="789953"/>
            </a:xfrm>
            <a:prstGeom prst="flowChartManualOperation">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b="1" dirty="0"/>
                <a:t>מידע מהורים והמשפחות</a:t>
              </a:r>
            </a:p>
          </p:txBody>
        </p:sp>
        <p:cxnSp>
          <p:nvCxnSpPr>
            <p:cNvPr id="77" name="מחבר חץ ישר 76">
              <a:extLst>
                <a:ext uri="{FF2B5EF4-FFF2-40B4-BE49-F238E27FC236}">
                  <a16:creationId xmlns:a16="http://schemas.microsoft.com/office/drawing/2014/main" id="{66B129FE-7ABF-4D80-BED4-1B80CF2E1AED}"/>
                </a:ext>
              </a:extLst>
            </p:cNvPr>
            <p:cNvCxnSpPr>
              <a:cxnSpLocks/>
              <a:stCxn id="108" idx="4"/>
              <a:endCxn id="2063" idx="0"/>
            </p:cNvCxnSpPr>
            <p:nvPr/>
          </p:nvCxnSpPr>
          <p:spPr>
            <a:xfrm>
              <a:off x="6548177" y="2751992"/>
              <a:ext cx="23454" cy="3868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מחבר: מרפקי 77">
              <a:extLst>
                <a:ext uri="{FF2B5EF4-FFF2-40B4-BE49-F238E27FC236}">
                  <a16:creationId xmlns:a16="http://schemas.microsoft.com/office/drawing/2014/main" id="{5697BF46-1B8B-4FB1-97A9-B6AEC9FEFD2E}"/>
                </a:ext>
              </a:extLst>
            </p:cNvPr>
            <p:cNvCxnSpPr>
              <a:cxnSpLocks/>
              <a:stCxn id="59" idx="3"/>
              <a:endCxn id="108" idx="2"/>
            </p:cNvCxnSpPr>
            <p:nvPr/>
          </p:nvCxnSpPr>
          <p:spPr>
            <a:xfrm flipV="1">
              <a:off x="4964522" y="2508421"/>
              <a:ext cx="964624" cy="261587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063" name="תרשים זרימה: החלטה 2062">
              <a:extLst>
                <a:ext uri="{FF2B5EF4-FFF2-40B4-BE49-F238E27FC236}">
                  <a16:creationId xmlns:a16="http://schemas.microsoft.com/office/drawing/2014/main" id="{11B2596C-315A-42F5-9D35-2F0B22D0F220}"/>
                </a:ext>
              </a:extLst>
            </p:cNvPr>
            <p:cNvSpPr/>
            <p:nvPr/>
          </p:nvSpPr>
          <p:spPr>
            <a:xfrm>
              <a:off x="5689967" y="3138843"/>
              <a:ext cx="1763328" cy="774459"/>
            </a:xfrm>
            <a:prstGeom prst="flowChartDecision">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b="1" dirty="0"/>
                <a:t>שאלות</a:t>
              </a:r>
            </a:p>
            <a:p>
              <a:pPr algn="ctr"/>
              <a:r>
                <a:rPr lang="he-IL" b="1" dirty="0"/>
                <a:t>נוספות?</a:t>
              </a:r>
            </a:p>
          </p:txBody>
        </p:sp>
        <p:sp>
          <p:nvSpPr>
            <p:cNvPr id="91" name="תרשים זרימה: פעולה ידנית 90">
              <a:extLst>
                <a:ext uri="{FF2B5EF4-FFF2-40B4-BE49-F238E27FC236}">
                  <a16:creationId xmlns:a16="http://schemas.microsoft.com/office/drawing/2014/main" id="{D46CCBDD-E23E-46F1-B00F-EC5AF1F5BEE1}"/>
                </a:ext>
              </a:extLst>
            </p:cNvPr>
            <p:cNvSpPr/>
            <p:nvPr/>
          </p:nvSpPr>
          <p:spPr>
            <a:xfrm>
              <a:off x="5632646" y="4714491"/>
              <a:ext cx="1885024" cy="633047"/>
            </a:xfrm>
            <a:prstGeom prst="flowChartManualOperation">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b="1" dirty="0"/>
                <a:t>חיפוש מידע באינטרנט</a:t>
              </a:r>
            </a:p>
          </p:txBody>
        </p:sp>
        <p:sp>
          <p:nvSpPr>
            <p:cNvPr id="101" name="תרשים זרימה: נתונים 100">
              <a:extLst>
                <a:ext uri="{FF2B5EF4-FFF2-40B4-BE49-F238E27FC236}">
                  <a16:creationId xmlns:a16="http://schemas.microsoft.com/office/drawing/2014/main" id="{04FE4590-5D83-44AD-8FA1-82E880BF772A}"/>
                </a:ext>
              </a:extLst>
            </p:cNvPr>
            <p:cNvSpPr/>
            <p:nvPr/>
          </p:nvSpPr>
          <p:spPr>
            <a:xfrm>
              <a:off x="7708163" y="2296013"/>
              <a:ext cx="1547577" cy="455979"/>
            </a:xfrm>
            <a:prstGeom prst="flowChartInputOutpu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b="1" dirty="0"/>
                <a:t>נתונים</a:t>
              </a:r>
              <a:r>
                <a:rPr lang="en-US" b="1" dirty="0"/>
                <a:t> </a:t>
              </a:r>
              <a:r>
                <a:rPr lang="he-IL" b="1" dirty="0"/>
                <a:t>ומידע </a:t>
              </a:r>
            </a:p>
          </p:txBody>
        </p:sp>
        <p:cxnSp>
          <p:nvCxnSpPr>
            <p:cNvPr id="102" name="מחבר חץ ישר 101">
              <a:extLst>
                <a:ext uri="{FF2B5EF4-FFF2-40B4-BE49-F238E27FC236}">
                  <a16:creationId xmlns:a16="http://schemas.microsoft.com/office/drawing/2014/main" id="{3D331550-D146-4532-8A99-507924B5B868}"/>
                </a:ext>
              </a:extLst>
            </p:cNvPr>
            <p:cNvCxnSpPr>
              <a:cxnSpLocks/>
              <a:stCxn id="101" idx="4"/>
              <a:endCxn id="160" idx="0"/>
            </p:cNvCxnSpPr>
            <p:nvPr/>
          </p:nvCxnSpPr>
          <p:spPr>
            <a:xfrm flipH="1">
              <a:off x="8454566" y="2751992"/>
              <a:ext cx="27386" cy="5672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מחבר חץ ישר 102">
              <a:extLst>
                <a:ext uri="{FF2B5EF4-FFF2-40B4-BE49-F238E27FC236}">
                  <a16:creationId xmlns:a16="http://schemas.microsoft.com/office/drawing/2014/main" id="{82525CBC-2859-43AC-AB2A-51517BF2022C}"/>
                </a:ext>
              </a:extLst>
            </p:cNvPr>
            <p:cNvCxnSpPr>
              <a:cxnSpLocks/>
              <a:stCxn id="160" idx="2"/>
              <a:endCxn id="166" idx="0"/>
            </p:cNvCxnSpPr>
            <p:nvPr/>
          </p:nvCxnSpPr>
          <p:spPr>
            <a:xfrm>
              <a:off x="8454566" y="3913302"/>
              <a:ext cx="14788" cy="801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8" name="תרשים זרימה: נתונים 107">
              <a:extLst>
                <a:ext uri="{FF2B5EF4-FFF2-40B4-BE49-F238E27FC236}">
                  <a16:creationId xmlns:a16="http://schemas.microsoft.com/office/drawing/2014/main" id="{61F4EEC4-CA5D-4C21-9317-2192190422EA}"/>
                </a:ext>
              </a:extLst>
            </p:cNvPr>
            <p:cNvSpPr/>
            <p:nvPr/>
          </p:nvSpPr>
          <p:spPr>
            <a:xfrm>
              <a:off x="5774388" y="2264851"/>
              <a:ext cx="1547577" cy="487141"/>
            </a:xfrm>
            <a:prstGeom prst="flowChartInputOutpu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b="1" dirty="0"/>
                <a:t>מידע</a:t>
              </a:r>
            </a:p>
          </p:txBody>
        </p:sp>
        <p:cxnSp>
          <p:nvCxnSpPr>
            <p:cNvPr id="148" name="מחבר: מרפקי 147">
              <a:extLst>
                <a:ext uri="{FF2B5EF4-FFF2-40B4-BE49-F238E27FC236}">
                  <a16:creationId xmlns:a16="http://schemas.microsoft.com/office/drawing/2014/main" id="{35DD1E77-F93C-450F-BF8A-538001130F0C}"/>
                </a:ext>
              </a:extLst>
            </p:cNvPr>
            <p:cNvCxnSpPr>
              <a:cxnSpLocks/>
              <a:stCxn id="91" idx="3"/>
              <a:endCxn id="101" idx="2"/>
            </p:cNvCxnSpPr>
            <p:nvPr/>
          </p:nvCxnSpPr>
          <p:spPr>
            <a:xfrm flipV="1">
              <a:off x="7329168" y="2524003"/>
              <a:ext cx="533753" cy="250701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60" name="תרשים זרימה: פעולה ידנית 159">
              <a:extLst>
                <a:ext uri="{FF2B5EF4-FFF2-40B4-BE49-F238E27FC236}">
                  <a16:creationId xmlns:a16="http://schemas.microsoft.com/office/drawing/2014/main" id="{2FF5DDAB-5638-458E-9DF1-4DCFC75BA803}"/>
                </a:ext>
              </a:extLst>
            </p:cNvPr>
            <p:cNvSpPr/>
            <p:nvPr/>
          </p:nvSpPr>
          <p:spPr>
            <a:xfrm>
              <a:off x="7680777" y="3319290"/>
              <a:ext cx="1547577" cy="594012"/>
            </a:xfrm>
            <a:prstGeom prst="flowChartManualOperation">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b="1" dirty="0"/>
                <a:t>גידול</a:t>
              </a:r>
            </a:p>
            <a:p>
              <a:pPr algn="ctr"/>
              <a:r>
                <a:rPr lang="he-IL" b="1" dirty="0"/>
                <a:t>הנולד</a:t>
              </a:r>
            </a:p>
          </p:txBody>
        </p:sp>
        <p:sp>
          <p:nvSpPr>
            <p:cNvPr id="166" name="אליפסה 165">
              <a:extLst>
                <a:ext uri="{FF2B5EF4-FFF2-40B4-BE49-F238E27FC236}">
                  <a16:creationId xmlns:a16="http://schemas.microsoft.com/office/drawing/2014/main" id="{72E6CEEB-E9D9-4B6F-86DA-509D069018B1}"/>
                </a:ext>
              </a:extLst>
            </p:cNvPr>
            <p:cNvSpPr/>
            <p:nvPr/>
          </p:nvSpPr>
          <p:spPr>
            <a:xfrm>
              <a:off x="7840704" y="4714491"/>
              <a:ext cx="1257300" cy="3651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b="1" dirty="0"/>
                <a:t>סיום</a:t>
              </a:r>
            </a:p>
          </p:txBody>
        </p:sp>
      </p:grpSp>
      <p:sp>
        <p:nvSpPr>
          <p:cNvPr id="42" name="תיבת טקסט 41">
            <a:extLst>
              <a:ext uri="{FF2B5EF4-FFF2-40B4-BE49-F238E27FC236}">
                <a16:creationId xmlns:a16="http://schemas.microsoft.com/office/drawing/2014/main" id="{9938D98D-227C-9775-5DB9-CBBDFB6560A8}"/>
              </a:ext>
            </a:extLst>
          </p:cNvPr>
          <p:cNvSpPr txBox="1"/>
          <p:nvPr/>
        </p:nvSpPr>
        <p:spPr>
          <a:xfrm>
            <a:off x="5802898" y="3993027"/>
            <a:ext cx="360996" cy="369332"/>
          </a:xfrm>
          <a:prstGeom prst="rect">
            <a:avLst/>
          </a:prstGeom>
          <a:noFill/>
        </p:spPr>
        <p:txBody>
          <a:bodyPr wrap="none" rtlCol="1">
            <a:spAutoFit/>
          </a:bodyPr>
          <a:lstStyle/>
          <a:p>
            <a:r>
              <a:rPr lang="he-IL" b="1" dirty="0"/>
              <a:t>כן</a:t>
            </a:r>
          </a:p>
        </p:txBody>
      </p:sp>
      <p:cxnSp>
        <p:nvCxnSpPr>
          <p:cNvPr id="57" name="מחבר: מרפקי 56">
            <a:extLst>
              <a:ext uri="{FF2B5EF4-FFF2-40B4-BE49-F238E27FC236}">
                <a16:creationId xmlns:a16="http://schemas.microsoft.com/office/drawing/2014/main" id="{E4BA4D8C-BFFF-B59B-3427-FDA7F43114C1}"/>
              </a:ext>
            </a:extLst>
          </p:cNvPr>
          <p:cNvCxnSpPr>
            <a:cxnSpLocks/>
          </p:cNvCxnSpPr>
          <p:nvPr/>
        </p:nvCxnSpPr>
        <p:spPr>
          <a:xfrm rot="10800000" flipV="1">
            <a:off x="4562694" y="3030134"/>
            <a:ext cx="768795" cy="168474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תיבת טקסט 57">
            <a:extLst>
              <a:ext uri="{FF2B5EF4-FFF2-40B4-BE49-F238E27FC236}">
                <a16:creationId xmlns:a16="http://schemas.microsoft.com/office/drawing/2014/main" id="{FCCB9009-61DD-B57A-D068-2C2EB55F8C47}"/>
              </a:ext>
            </a:extLst>
          </p:cNvPr>
          <p:cNvSpPr txBox="1"/>
          <p:nvPr/>
        </p:nvSpPr>
        <p:spPr>
          <a:xfrm>
            <a:off x="4539573" y="4220913"/>
            <a:ext cx="433132" cy="369332"/>
          </a:xfrm>
          <a:prstGeom prst="rect">
            <a:avLst/>
          </a:prstGeom>
          <a:noFill/>
        </p:spPr>
        <p:txBody>
          <a:bodyPr wrap="none" rtlCol="1">
            <a:spAutoFit/>
          </a:bodyPr>
          <a:lstStyle/>
          <a:p>
            <a:r>
              <a:rPr lang="he-IL" b="1" dirty="0"/>
              <a:t>לא</a:t>
            </a:r>
          </a:p>
        </p:txBody>
      </p:sp>
      <p:sp>
        <p:nvSpPr>
          <p:cNvPr id="60" name="TextBox 15">
            <a:extLst>
              <a:ext uri="{FF2B5EF4-FFF2-40B4-BE49-F238E27FC236}">
                <a16:creationId xmlns:a16="http://schemas.microsoft.com/office/drawing/2014/main" id="{83E1229B-8654-F628-E8B2-306C5F44DDA9}"/>
              </a:ext>
            </a:extLst>
          </p:cNvPr>
          <p:cNvSpPr txBox="1"/>
          <p:nvPr/>
        </p:nvSpPr>
        <p:spPr>
          <a:xfrm>
            <a:off x="477400" y="5960455"/>
            <a:ext cx="8151778" cy="461665"/>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1">
            <a:spAutoFit/>
          </a:bodyPr>
          <a:lstStyle/>
          <a:p>
            <a:pPr algn="ctr" rtl="1"/>
            <a:r>
              <a:rPr lang="he-IL" sz="2400" b="1" dirty="0"/>
              <a:t>מידע לאימהות חדשות נאסף ממספר מקורות</a:t>
            </a:r>
          </a:p>
        </p:txBody>
      </p:sp>
      <p:pic>
        <p:nvPicPr>
          <p:cNvPr id="37" name="תמונה 36">
            <a:extLst>
              <a:ext uri="{FF2B5EF4-FFF2-40B4-BE49-F238E27FC236}">
                <a16:creationId xmlns:a16="http://schemas.microsoft.com/office/drawing/2014/main" id="{B01A3B83-6D22-4140-86E1-6DB4E4368F7B}"/>
              </a:ext>
            </a:extLst>
          </p:cNvPr>
          <p:cNvPicPr>
            <a:picLocks noChangeAspect="1"/>
          </p:cNvPicPr>
          <p:nvPr/>
        </p:nvPicPr>
        <p:blipFill>
          <a:blip r:embed="rId3"/>
          <a:stretch>
            <a:fillRect/>
          </a:stretch>
        </p:blipFill>
        <p:spPr>
          <a:xfrm>
            <a:off x="8165794" y="1"/>
            <a:ext cx="978206" cy="782664"/>
          </a:xfrm>
          <a:prstGeom prst="rect">
            <a:avLst/>
          </a:prstGeom>
        </p:spPr>
      </p:pic>
      <p:pic>
        <p:nvPicPr>
          <p:cNvPr id="38" name="תמונה 37">
            <a:extLst>
              <a:ext uri="{FF2B5EF4-FFF2-40B4-BE49-F238E27FC236}">
                <a16:creationId xmlns:a16="http://schemas.microsoft.com/office/drawing/2014/main" id="{84D38B8A-53D7-4AFD-A9CD-6F1FC2B209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 name="תיבת טקסט 2">
            <a:extLst>
              <a:ext uri="{FF2B5EF4-FFF2-40B4-BE49-F238E27FC236}">
                <a16:creationId xmlns:a16="http://schemas.microsoft.com/office/drawing/2014/main" id="{F8C7A3A1-76B4-A59F-E7FF-5CF4DA1EA9DA}"/>
              </a:ext>
            </a:extLst>
          </p:cNvPr>
          <p:cNvSpPr txBox="1"/>
          <p:nvPr/>
        </p:nvSpPr>
        <p:spPr>
          <a:xfrm>
            <a:off x="3956988" y="-72912"/>
            <a:ext cx="479890" cy="253916"/>
          </a:xfrm>
          <a:prstGeom prst="rect">
            <a:avLst/>
          </a:prstGeom>
          <a:noFill/>
        </p:spPr>
        <p:txBody>
          <a:bodyPr wrap="square" rtlCol="1">
            <a:spAutoFit/>
          </a:bodyPr>
          <a:lstStyle/>
          <a:p>
            <a:r>
              <a:rPr lang="en-US" sz="1050" b="1" dirty="0"/>
              <a:t>10</a:t>
            </a:r>
            <a:endParaRPr lang="he-IL" sz="1050" b="1" dirty="0"/>
          </a:p>
        </p:txBody>
      </p:sp>
      <p:sp>
        <p:nvSpPr>
          <p:cNvPr id="5" name="תיבת טקסט 4">
            <a:extLst>
              <a:ext uri="{FF2B5EF4-FFF2-40B4-BE49-F238E27FC236}">
                <a16:creationId xmlns:a16="http://schemas.microsoft.com/office/drawing/2014/main" id="{C030FD7F-2ABF-C638-3947-4751CCAB5FE4}"/>
              </a:ext>
            </a:extLst>
          </p:cNvPr>
          <p:cNvSpPr txBox="1"/>
          <p:nvPr/>
        </p:nvSpPr>
        <p:spPr>
          <a:xfrm>
            <a:off x="6134224" y="6422120"/>
            <a:ext cx="3009776" cy="577081"/>
          </a:xfrm>
          <a:prstGeom prst="rect">
            <a:avLst/>
          </a:prstGeom>
          <a:noFill/>
        </p:spPr>
        <p:txBody>
          <a:bodyPr wrap="square" rtlCol="1">
            <a:spAutoFit/>
          </a:bodyPr>
          <a:lstStyle/>
          <a:p>
            <a:pPr algn="r" rtl="1"/>
            <a:r>
              <a:rPr lang="he-IL" sz="1050" dirty="0">
                <a:solidFill>
                  <a:schemeClr val="bg1">
                    <a:lumMod val="50000"/>
                  </a:schemeClr>
                </a:solidFill>
                <a:latin typeface="Arial" panose="020B0604020202020204" pitchFamily="34" charset="0"/>
                <a:cs typeface="Arial" panose="020B0604020202020204" pitchFamily="34" charset="0"/>
              </a:rPr>
              <a:t>10.שובל, פ. (2017) תכנון, ניתוח ועיצוב מערכות מידע. האוניברסיטה הפתוחה.</a:t>
            </a:r>
          </a:p>
          <a:p>
            <a:pPr algn="r" rtl="1"/>
            <a:endParaRPr lang="he-IL" sz="1050" dirty="0">
              <a:solidFill>
                <a:schemeClr val="bg1">
                  <a:lumMod val="50000"/>
                </a:schemeClr>
              </a:solidFill>
              <a:highlight>
                <a:srgbClr val="FFFF00"/>
              </a:highlight>
            </a:endParaRPr>
          </a:p>
        </p:txBody>
      </p:sp>
    </p:spTree>
    <p:extLst>
      <p:ext uri="{BB962C8B-B14F-4D97-AF65-F5344CB8AC3E}">
        <p14:creationId xmlns:p14="http://schemas.microsoft.com/office/powerpoint/2010/main" val="160526258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Rectangle 2"/>
          <p:cNvSpPr txBox="1">
            <a:spLocks noChangeArrowheads="1"/>
          </p:cNvSpPr>
          <p:nvPr/>
        </p:nvSpPr>
        <p:spPr bwMode="auto">
          <a:xfrm>
            <a:off x="0" y="-109248"/>
            <a:ext cx="9143999" cy="1010274"/>
          </a:xfrm>
          <a:prstGeom prst="rect">
            <a:avLst/>
          </a:prstGeom>
          <a:noFill/>
          <a:ln w="9525">
            <a:noFill/>
            <a:miter lim="800000"/>
            <a:headEnd/>
            <a:tailEnd/>
          </a:ln>
        </p:spPr>
        <p:txBody>
          <a:bodyPr lIns="54000" tIns="54000" rIns="54000" bIns="54000" anchor="ctr"/>
          <a:lstStyle/>
          <a:p>
            <a:pPr algn="ctr" rtl="1" eaLnBrk="1" hangingPunct="1">
              <a:defRPr/>
            </a:pPr>
            <a:r>
              <a:rPr lang="he-IL" sz="2400" b="1" u="sng" dirty="0">
                <a:latin typeface="Times New Roman" pitchFamily="18" charset="0"/>
              </a:rPr>
              <a:t>תיאור מצב קיים</a:t>
            </a:r>
          </a:p>
          <a:p>
            <a:pPr algn="ctr" rtl="1" eaLnBrk="1" hangingPunct="1">
              <a:defRPr/>
            </a:pPr>
            <a:r>
              <a:rPr lang="he-IL" sz="2400" b="1" u="sng" dirty="0">
                <a:latin typeface="Times New Roman" pitchFamily="18" charset="0"/>
              </a:rPr>
              <a:t>סקר אימהות חדשות-שאלון איתור נגישות למידע ייעודי </a:t>
            </a:r>
          </a:p>
        </p:txBody>
      </p:sp>
      <p:sp>
        <p:nvSpPr>
          <p:cNvPr id="2057" name="מציין מיקום של כותרת תחתונה 8"/>
          <p:cNvSpPr>
            <a:spLocks noGrp="1"/>
          </p:cNvSpPr>
          <p:nvPr>
            <p:ph type="ftr" sz="quarter" idx="11"/>
          </p:nvPr>
        </p:nvSpPr>
        <p:spPr>
          <a:xfrm>
            <a:off x="2832578" y="6494659"/>
            <a:ext cx="3858670" cy="342900"/>
          </a:xfrm>
          <a:noFill/>
        </p:spPr>
        <p:txBody>
          <a:bodyPr/>
          <a:lstStyle/>
          <a:p>
            <a:pPr rtl="1">
              <a:spcBef>
                <a:spcPct val="20000"/>
              </a:spcBef>
            </a:pPr>
            <a:r>
              <a:rPr lang="he-IL" b="1" dirty="0">
                <a:solidFill>
                  <a:schemeClr val="tx1"/>
                </a:solidFill>
              </a:rPr>
              <a:t>אתר אינטרנט לאימהות חדשות במגזר הבדואי                    </a:t>
            </a:r>
            <a:endParaRPr lang="en-US" b="1" dirty="0">
              <a:solidFill>
                <a:schemeClr val="tx1"/>
              </a:solidFill>
            </a:endParaRPr>
          </a:p>
          <a:p>
            <a:pPr rtl="1">
              <a:spcBef>
                <a:spcPct val="20000"/>
              </a:spcBef>
            </a:pPr>
            <a:r>
              <a:rPr lang="en-US" b="1" dirty="0">
                <a:solidFill>
                  <a:schemeClr val="tx1"/>
                </a:solidFill>
              </a:rPr>
              <a:t>Navon-13-2024-sem2</a:t>
            </a:r>
          </a:p>
        </p:txBody>
      </p:sp>
      <p:sp>
        <p:nvSpPr>
          <p:cNvPr id="2" name="מציין מיקום של מספר שקופית 1">
            <a:extLst>
              <a:ext uri="{FF2B5EF4-FFF2-40B4-BE49-F238E27FC236}">
                <a16:creationId xmlns:a16="http://schemas.microsoft.com/office/drawing/2014/main" id="{2B2DBE05-DC6F-363D-4E15-40DB1A842F11}"/>
              </a:ext>
            </a:extLst>
          </p:cNvPr>
          <p:cNvSpPr>
            <a:spLocks noGrp="1"/>
          </p:cNvSpPr>
          <p:nvPr>
            <p:ph type="sldNum" sz="quarter" idx="12"/>
          </p:nvPr>
        </p:nvSpPr>
        <p:spPr>
          <a:xfrm>
            <a:off x="288510" y="6312096"/>
            <a:ext cx="2057400" cy="365125"/>
          </a:xfrm>
        </p:spPr>
        <p:txBody>
          <a:bodyPr/>
          <a:lstStyle/>
          <a:p>
            <a:pPr algn="l"/>
            <a:fld id="{F406CD6C-EFBE-497B-B02F-71827CD8C8E4}" type="slidenum">
              <a:rPr lang="he-IL" smtClean="0"/>
              <a:pPr algn="l"/>
              <a:t>5</a:t>
            </a:fld>
            <a:endParaRPr lang="he-IL"/>
          </a:p>
        </p:txBody>
      </p:sp>
      <p:graphicFrame>
        <p:nvGraphicFramePr>
          <p:cNvPr id="5" name="טבלה 4">
            <a:extLst>
              <a:ext uri="{FF2B5EF4-FFF2-40B4-BE49-F238E27FC236}">
                <a16:creationId xmlns:a16="http://schemas.microsoft.com/office/drawing/2014/main" id="{FE209D8C-823A-47B7-E716-FECD6CB982F9}"/>
              </a:ext>
            </a:extLst>
          </p:cNvPr>
          <p:cNvGraphicFramePr>
            <a:graphicFrameLocks noGrp="1"/>
          </p:cNvGraphicFramePr>
          <p:nvPr>
            <p:extLst>
              <p:ext uri="{D42A27DB-BD31-4B8C-83A1-F6EECF244321}">
                <p14:modId xmlns:p14="http://schemas.microsoft.com/office/powerpoint/2010/main" val="1113727273"/>
              </p:ext>
            </p:extLst>
          </p:nvPr>
        </p:nvGraphicFramePr>
        <p:xfrm>
          <a:off x="535318" y="1379771"/>
          <a:ext cx="8073363" cy="4184457"/>
        </p:xfrm>
        <a:graphic>
          <a:graphicData uri="http://schemas.openxmlformats.org/drawingml/2006/table">
            <a:tbl>
              <a:tblPr rtl="1">
                <a:tableStyleId>{5C22544A-7EE6-4342-B048-85BDC9FD1C3A}</a:tableStyleId>
              </a:tblPr>
              <a:tblGrid>
                <a:gridCol w="346321">
                  <a:extLst>
                    <a:ext uri="{9D8B030D-6E8A-4147-A177-3AD203B41FA5}">
                      <a16:colId xmlns:a16="http://schemas.microsoft.com/office/drawing/2014/main" val="1252776336"/>
                    </a:ext>
                  </a:extLst>
                </a:gridCol>
                <a:gridCol w="4811247">
                  <a:extLst>
                    <a:ext uri="{9D8B030D-6E8A-4147-A177-3AD203B41FA5}">
                      <a16:colId xmlns:a16="http://schemas.microsoft.com/office/drawing/2014/main" val="3152787148"/>
                    </a:ext>
                  </a:extLst>
                </a:gridCol>
                <a:gridCol w="1206536">
                  <a:extLst>
                    <a:ext uri="{9D8B030D-6E8A-4147-A177-3AD203B41FA5}">
                      <a16:colId xmlns:a16="http://schemas.microsoft.com/office/drawing/2014/main" val="4069057726"/>
                    </a:ext>
                  </a:extLst>
                </a:gridCol>
                <a:gridCol w="904902">
                  <a:extLst>
                    <a:ext uri="{9D8B030D-6E8A-4147-A177-3AD203B41FA5}">
                      <a16:colId xmlns:a16="http://schemas.microsoft.com/office/drawing/2014/main" val="2977084996"/>
                    </a:ext>
                  </a:extLst>
                </a:gridCol>
                <a:gridCol w="804357">
                  <a:extLst>
                    <a:ext uri="{9D8B030D-6E8A-4147-A177-3AD203B41FA5}">
                      <a16:colId xmlns:a16="http://schemas.microsoft.com/office/drawing/2014/main" val="1457533964"/>
                    </a:ext>
                  </a:extLst>
                </a:gridCol>
              </a:tblGrid>
              <a:tr h="385461">
                <a:tc gridSpan="5">
                  <a:txBody>
                    <a:bodyPr/>
                    <a:lstStyle/>
                    <a:p>
                      <a:pPr algn="ctr" rtl="1" fontAlgn="b"/>
                      <a:r>
                        <a:rPr lang="he-IL" sz="1600" b="1" u="none" strike="noStrike" dirty="0">
                          <a:effectLst/>
                        </a:rPr>
                        <a:t>סקר אימהות  חדשות</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tc hMerge="1">
                  <a:txBody>
                    <a:bodyPr/>
                    <a:lstStyle/>
                    <a:p>
                      <a:pPr rtl="1"/>
                      <a:endParaRPr lang="he-IL"/>
                    </a:p>
                  </a:txBody>
                  <a:tcPr/>
                </a:tc>
                <a:extLst>
                  <a:ext uri="{0D108BD9-81ED-4DB2-BD59-A6C34878D82A}">
                    <a16:rowId xmlns:a16="http://schemas.microsoft.com/office/drawing/2014/main" val="2936349287"/>
                  </a:ext>
                </a:extLst>
              </a:tr>
              <a:tr h="294620">
                <a:tc>
                  <a:txBody>
                    <a:bodyPr/>
                    <a:lstStyle/>
                    <a:p>
                      <a:pPr algn="ctr" rtl="0" fontAlgn="b"/>
                      <a:r>
                        <a:rPr lang="he-IL" sz="1600" b="1" u="none" strike="noStrike" dirty="0">
                          <a:effectLst/>
                        </a:rPr>
                        <a:t>#</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1" fontAlgn="b"/>
                      <a:r>
                        <a:rPr lang="he-IL" sz="1600" b="1" u="none" strike="noStrike" dirty="0">
                          <a:effectLst/>
                        </a:rPr>
                        <a:t>שאלה</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dirty="0">
                          <a:effectLst/>
                        </a:rPr>
                        <a:t>תשובה</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dirty="0">
                          <a:effectLst/>
                        </a:rPr>
                        <a:t>תשובה</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he-IL" sz="1600" b="1" u="none" strike="noStrike" dirty="0">
                          <a:effectLst/>
                        </a:rPr>
                        <a:t> תשובה</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3272235"/>
                  </a:ext>
                </a:extLst>
              </a:tr>
              <a:tr h="294620">
                <a:tc>
                  <a:txBody>
                    <a:bodyPr/>
                    <a:lstStyle/>
                    <a:p>
                      <a:pPr algn="ctr" rtl="0" fontAlgn="b"/>
                      <a:r>
                        <a:rPr lang="he-IL" sz="1600" b="1" u="none" strike="noStrike" dirty="0">
                          <a:effectLst/>
                        </a:rPr>
                        <a:t>1</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1" fontAlgn="b"/>
                      <a:r>
                        <a:rPr lang="he-IL" sz="1600" b="1" u="none" strike="noStrike" dirty="0">
                          <a:effectLst/>
                        </a:rPr>
                        <a:t>האם זה ילד ראשון?</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a:effectLst/>
                        </a:rPr>
                        <a:t>כן</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dirty="0">
                          <a:effectLst/>
                        </a:rPr>
                        <a:t>לא</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he-IL" sz="1600" b="1" u="none" strike="noStrike" dirty="0">
                          <a:effectLst/>
                        </a:rPr>
                        <a:t> </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162685"/>
                  </a:ext>
                </a:extLst>
              </a:tr>
              <a:tr h="294620">
                <a:tc>
                  <a:txBody>
                    <a:bodyPr/>
                    <a:lstStyle/>
                    <a:p>
                      <a:pPr algn="ctr" rtl="0" fontAlgn="b"/>
                      <a:r>
                        <a:rPr lang="he-IL" sz="1600" b="1" u="none" strike="noStrike" dirty="0">
                          <a:effectLst/>
                        </a:rPr>
                        <a:t>2</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1" fontAlgn="b"/>
                      <a:r>
                        <a:rPr lang="he-IL" sz="1600" b="1" u="none" strike="noStrike" dirty="0">
                          <a:effectLst/>
                        </a:rPr>
                        <a:t>גיל האם</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he-IL" sz="1600" b="1" u="none" strike="noStrike">
                          <a:effectLst/>
                        </a:rPr>
                        <a:t>18-25</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he-IL" sz="1600" b="1" u="none" strike="noStrike">
                          <a:effectLst/>
                        </a:rPr>
                        <a:t>26+</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he-IL" sz="1600" b="1" u="none" strike="noStrike" dirty="0">
                          <a:effectLst/>
                        </a:rPr>
                        <a:t> </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3298923"/>
                  </a:ext>
                </a:extLst>
              </a:tr>
              <a:tr h="294620">
                <a:tc>
                  <a:txBody>
                    <a:bodyPr/>
                    <a:lstStyle/>
                    <a:p>
                      <a:pPr algn="ctr" rtl="0" fontAlgn="b"/>
                      <a:r>
                        <a:rPr lang="he-IL" sz="1600" b="1" u="none" strike="noStrike" dirty="0">
                          <a:effectLst/>
                        </a:rPr>
                        <a:t>3</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1" fontAlgn="b"/>
                      <a:r>
                        <a:rPr lang="he-IL" sz="1600" b="1" u="none" strike="noStrike" dirty="0">
                          <a:effectLst/>
                        </a:rPr>
                        <a:t>כמה זמן נשואה?</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he-IL" sz="1600" b="1" u="none" strike="noStrike">
                          <a:effectLst/>
                        </a:rPr>
                        <a:t>0-1</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he-IL" sz="1600" b="1" u="none" strike="noStrike">
                          <a:effectLst/>
                        </a:rPr>
                        <a:t>2 +</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he-IL" sz="1600" b="1" u="none" strike="noStrike" dirty="0">
                          <a:effectLst/>
                        </a:rPr>
                        <a:t> </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8460738"/>
                  </a:ext>
                </a:extLst>
              </a:tr>
              <a:tr h="294620">
                <a:tc>
                  <a:txBody>
                    <a:bodyPr/>
                    <a:lstStyle/>
                    <a:p>
                      <a:pPr algn="ctr" rtl="0" fontAlgn="b"/>
                      <a:r>
                        <a:rPr lang="he-IL" sz="1600" b="1" u="none" strike="noStrike" dirty="0">
                          <a:effectLst/>
                        </a:rPr>
                        <a:t>4</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1" fontAlgn="b"/>
                      <a:r>
                        <a:rPr lang="he-IL" sz="1600" b="1" u="none" strike="noStrike" dirty="0">
                          <a:effectLst/>
                        </a:rPr>
                        <a:t>האם יש ניסיון קודם בטיפול בתינוק?</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a:effectLst/>
                        </a:rPr>
                        <a:t>כן</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a:effectLst/>
                        </a:rPr>
                        <a:t>לא</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he-IL" sz="1600" b="1" u="none" strike="noStrike" dirty="0">
                          <a:effectLst/>
                        </a:rPr>
                        <a:t> </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7692942"/>
                  </a:ext>
                </a:extLst>
              </a:tr>
              <a:tr h="294620">
                <a:tc>
                  <a:txBody>
                    <a:bodyPr/>
                    <a:lstStyle/>
                    <a:p>
                      <a:pPr algn="ctr" rtl="0" fontAlgn="b"/>
                      <a:r>
                        <a:rPr lang="he-IL" sz="1600" b="1" u="none" strike="noStrike" dirty="0">
                          <a:effectLst/>
                        </a:rPr>
                        <a:t>5</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1" fontAlgn="b"/>
                      <a:r>
                        <a:rPr lang="he-IL" sz="1600" b="1" u="none" strike="noStrike" dirty="0">
                          <a:effectLst/>
                        </a:rPr>
                        <a:t>האם קבלת הדרכה כלשהי לטיפול בתינוק?</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a:effectLst/>
                        </a:rPr>
                        <a:t>כן</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a:effectLst/>
                        </a:rPr>
                        <a:t>לא</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he-IL" sz="1600" b="1" u="none" strike="noStrike" dirty="0">
                          <a:effectLst/>
                        </a:rPr>
                        <a:t> </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9656239"/>
                  </a:ext>
                </a:extLst>
              </a:tr>
              <a:tr h="294620">
                <a:tc>
                  <a:txBody>
                    <a:bodyPr/>
                    <a:lstStyle/>
                    <a:p>
                      <a:pPr algn="ctr" rtl="0" fontAlgn="b"/>
                      <a:r>
                        <a:rPr lang="he-IL" sz="1600" b="1" u="none" strike="noStrike" dirty="0">
                          <a:effectLst/>
                        </a:rPr>
                        <a:t>6</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1" fontAlgn="b"/>
                      <a:r>
                        <a:rPr lang="he-IL" sz="1600" b="1" u="none" strike="noStrike" dirty="0">
                          <a:effectLst/>
                        </a:rPr>
                        <a:t>האם ההדרכה הייתה מקרובי משפחה? </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a:effectLst/>
                        </a:rPr>
                        <a:t>כן</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a:effectLst/>
                        </a:rPr>
                        <a:t>לא</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he-IL" sz="1600" b="1" u="none" strike="noStrike" dirty="0">
                          <a:effectLst/>
                        </a:rPr>
                        <a:t> </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7350935"/>
                  </a:ext>
                </a:extLst>
              </a:tr>
              <a:tr h="294620">
                <a:tc>
                  <a:txBody>
                    <a:bodyPr/>
                    <a:lstStyle/>
                    <a:p>
                      <a:pPr algn="ctr" rtl="0" fontAlgn="b"/>
                      <a:r>
                        <a:rPr lang="he-IL" sz="1600" b="1" u="none" strike="noStrike" dirty="0">
                          <a:effectLst/>
                        </a:rPr>
                        <a:t>7</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1" fontAlgn="b"/>
                      <a:r>
                        <a:rPr lang="he-IL" sz="1600" b="1" u="none" strike="noStrike" dirty="0">
                          <a:effectLst/>
                        </a:rPr>
                        <a:t>האם היה לך קושי להתמודד עם התינוק בלי עזרה?</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a:effectLst/>
                        </a:rPr>
                        <a:t>כן</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a:effectLst/>
                        </a:rPr>
                        <a:t>לא</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he-IL" sz="1600" b="1" u="none" strike="noStrike" dirty="0">
                          <a:effectLst/>
                        </a:rPr>
                        <a:t> </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2261090"/>
                  </a:ext>
                </a:extLst>
              </a:tr>
              <a:tr h="294620">
                <a:tc>
                  <a:txBody>
                    <a:bodyPr/>
                    <a:lstStyle/>
                    <a:p>
                      <a:pPr algn="ctr" rtl="0" fontAlgn="b"/>
                      <a:r>
                        <a:rPr lang="he-IL" sz="1600" b="1" u="none" strike="noStrike" dirty="0">
                          <a:effectLst/>
                        </a:rPr>
                        <a:t>8</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1" fontAlgn="b"/>
                      <a:r>
                        <a:rPr lang="he-IL" sz="1600" b="1" u="none" strike="noStrike" dirty="0">
                          <a:effectLst/>
                        </a:rPr>
                        <a:t>האם מתביישת או חוששת לשאול שאלות?</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a:effectLst/>
                        </a:rPr>
                        <a:t>כן</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a:effectLst/>
                        </a:rPr>
                        <a:t>לא</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he-IL" sz="1600" b="1" u="none" strike="noStrike" dirty="0">
                          <a:effectLst/>
                        </a:rPr>
                        <a:t> </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7370426"/>
                  </a:ext>
                </a:extLst>
              </a:tr>
              <a:tr h="294620">
                <a:tc>
                  <a:txBody>
                    <a:bodyPr/>
                    <a:lstStyle/>
                    <a:p>
                      <a:pPr algn="ctr" rtl="0" fontAlgn="b"/>
                      <a:r>
                        <a:rPr lang="he-IL" sz="1600" b="1" u="none" strike="noStrike" dirty="0">
                          <a:effectLst/>
                        </a:rPr>
                        <a:t>9</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1" fontAlgn="b"/>
                      <a:r>
                        <a:rPr lang="he-IL" sz="1600" b="1" u="none" strike="noStrike" dirty="0">
                          <a:effectLst/>
                        </a:rPr>
                        <a:t>האם חסר לך מידע לטיפול בתינוק/ת?</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dirty="0">
                          <a:effectLst/>
                        </a:rPr>
                        <a:t>כן</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a:effectLst/>
                        </a:rPr>
                        <a:t>לא</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he-IL" sz="1600" b="1" u="none" strike="noStrike" dirty="0">
                          <a:effectLst/>
                        </a:rPr>
                        <a:t> </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6913368"/>
                  </a:ext>
                </a:extLst>
              </a:tr>
              <a:tr h="426398">
                <a:tc>
                  <a:txBody>
                    <a:bodyPr/>
                    <a:lstStyle/>
                    <a:p>
                      <a:pPr algn="ctr" rtl="0" fontAlgn="b"/>
                      <a:r>
                        <a:rPr lang="he-IL" sz="1600" b="1" u="none" strike="noStrike" dirty="0">
                          <a:effectLst/>
                        </a:rPr>
                        <a:t>10</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1" fontAlgn="b"/>
                      <a:r>
                        <a:rPr lang="he-IL" sz="1600" b="1" u="none" strike="noStrike" dirty="0">
                          <a:effectLst/>
                        </a:rPr>
                        <a:t>היכן מחפשת מידע על טיפול בתינוק/ת?</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a:effectLst/>
                        </a:rPr>
                        <a:t>קרובי משפחה</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a:effectLst/>
                        </a:rPr>
                        <a:t>חברים</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dirty="0">
                          <a:effectLst/>
                        </a:rPr>
                        <a:t>אחר</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4171917"/>
                  </a:ext>
                </a:extLst>
              </a:tr>
              <a:tr h="426398">
                <a:tc>
                  <a:txBody>
                    <a:bodyPr/>
                    <a:lstStyle/>
                    <a:p>
                      <a:pPr algn="ctr" rtl="0" fontAlgn="b"/>
                      <a:r>
                        <a:rPr lang="he-IL" sz="1600" b="1" u="none" strike="noStrike" dirty="0">
                          <a:effectLst/>
                        </a:rPr>
                        <a:t>11</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1" fontAlgn="b"/>
                      <a:r>
                        <a:rPr lang="he-IL" sz="1600" b="1" u="none" strike="noStrike" dirty="0">
                          <a:effectLst/>
                        </a:rPr>
                        <a:t>האם אתר אינטרנט ייעודי יכול לסייע לאימהות חדשות? </a:t>
                      </a:r>
                      <a:endParaRPr lang="he-IL" sz="1600" b="1" i="0" u="none" strike="noStrike" dirty="0">
                        <a:solidFill>
                          <a:srgbClr val="202124"/>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a:effectLst/>
                        </a:rPr>
                        <a:t>כן</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fontAlgn="b"/>
                      <a:r>
                        <a:rPr lang="he-IL" sz="1600" b="1" u="none" strike="noStrike">
                          <a:effectLst/>
                        </a:rPr>
                        <a:t>לא</a:t>
                      </a:r>
                      <a:endParaRPr lang="he-IL" sz="1600" b="1" i="0" u="none" strike="noStrike">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he-IL" sz="1600" b="1" u="none" strike="noStrike" dirty="0">
                          <a:effectLst/>
                        </a:rPr>
                        <a:t> </a:t>
                      </a:r>
                      <a:endParaRPr lang="he-IL" sz="1600" b="1" i="0" u="none" strike="noStrike" dirty="0">
                        <a:solidFill>
                          <a:srgbClr val="000000"/>
                        </a:solidFill>
                        <a:effectLst/>
                        <a:latin typeface="Arial" panose="020B06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8999299"/>
                  </a:ext>
                </a:extLst>
              </a:tr>
            </a:tbl>
          </a:graphicData>
        </a:graphic>
      </p:graphicFrame>
      <p:sp>
        <p:nvSpPr>
          <p:cNvPr id="6" name="TextBox 15">
            <a:extLst>
              <a:ext uri="{FF2B5EF4-FFF2-40B4-BE49-F238E27FC236}">
                <a16:creationId xmlns:a16="http://schemas.microsoft.com/office/drawing/2014/main" id="{4A1319FC-BF43-A389-0246-BC975F35DC41}"/>
              </a:ext>
            </a:extLst>
          </p:cNvPr>
          <p:cNvSpPr txBox="1"/>
          <p:nvPr/>
        </p:nvSpPr>
        <p:spPr>
          <a:xfrm>
            <a:off x="551144" y="5798611"/>
            <a:ext cx="8151778" cy="461665"/>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1">
            <a:spAutoFit/>
          </a:bodyPr>
          <a:lstStyle/>
          <a:p>
            <a:pPr algn="ctr" rtl="1"/>
            <a:r>
              <a:rPr lang="he-IL" sz="2400" b="1" dirty="0"/>
              <a:t>הסקר הועבר לכ-100 אימהות חדשות </a:t>
            </a:r>
          </a:p>
        </p:txBody>
      </p:sp>
      <p:sp>
        <p:nvSpPr>
          <p:cNvPr id="4" name="מלבן 3">
            <a:extLst>
              <a:ext uri="{FF2B5EF4-FFF2-40B4-BE49-F238E27FC236}">
                <a16:creationId xmlns:a16="http://schemas.microsoft.com/office/drawing/2014/main" id="{9194FB98-56F0-DF38-0736-B52D8FFDB6FF}"/>
              </a:ext>
            </a:extLst>
          </p:cNvPr>
          <p:cNvSpPr/>
          <p:nvPr/>
        </p:nvSpPr>
        <p:spPr>
          <a:xfrm>
            <a:off x="535318" y="883409"/>
            <a:ext cx="8100487" cy="360134"/>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1" anchor="ctr"/>
          <a:lstStyle/>
          <a:p>
            <a:pPr algn="ctr"/>
            <a:r>
              <a:rPr lang="he-IL" sz="2000" b="1" dirty="0"/>
              <a:t>בנינו סקר על סמך מידע שאספנו ושיחות עם נשים במגזר הבדואי בדרום:</a:t>
            </a:r>
          </a:p>
        </p:txBody>
      </p:sp>
      <p:pic>
        <p:nvPicPr>
          <p:cNvPr id="10" name="תמונה 9">
            <a:extLst>
              <a:ext uri="{FF2B5EF4-FFF2-40B4-BE49-F238E27FC236}">
                <a16:creationId xmlns:a16="http://schemas.microsoft.com/office/drawing/2014/main" id="{AB987739-06E8-4E70-8B89-D2FF7D4ABF07}"/>
              </a:ext>
            </a:extLst>
          </p:cNvPr>
          <p:cNvPicPr>
            <a:picLocks noChangeAspect="1"/>
          </p:cNvPicPr>
          <p:nvPr/>
        </p:nvPicPr>
        <p:blipFill>
          <a:blip r:embed="rId3"/>
          <a:stretch>
            <a:fillRect/>
          </a:stretch>
        </p:blipFill>
        <p:spPr>
          <a:xfrm>
            <a:off x="8165794" y="1"/>
            <a:ext cx="978206" cy="782664"/>
          </a:xfrm>
          <a:prstGeom prst="rect">
            <a:avLst/>
          </a:prstGeom>
        </p:spPr>
      </p:pic>
      <p:pic>
        <p:nvPicPr>
          <p:cNvPr id="11" name="תמונה 10">
            <a:extLst>
              <a:ext uri="{FF2B5EF4-FFF2-40B4-BE49-F238E27FC236}">
                <a16:creationId xmlns:a16="http://schemas.microsoft.com/office/drawing/2014/main" id="{2BF87A41-BFD3-4DDC-AB6A-AF6B85ADB4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 name="תיבת טקסט 2">
            <a:extLst>
              <a:ext uri="{FF2B5EF4-FFF2-40B4-BE49-F238E27FC236}">
                <a16:creationId xmlns:a16="http://schemas.microsoft.com/office/drawing/2014/main" id="{FF1A23F7-B6C2-7E1A-24D1-7454DA7556C6}"/>
              </a:ext>
            </a:extLst>
          </p:cNvPr>
          <p:cNvSpPr txBox="1"/>
          <p:nvPr/>
        </p:nvSpPr>
        <p:spPr>
          <a:xfrm>
            <a:off x="7177916" y="283029"/>
            <a:ext cx="862087" cy="257863"/>
          </a:xfrm>
          <a:prstGeom prst="rect">
            <a:avLst/>
          </a:prstGeom>
          <a:noFill/>
        </p:spPr>
        <p:txBody>
          <a:bodyPr wrap="square" rtlCol="1">
            <a:spAutoFit/>
          </a:bodyPr>
          <a:lstStyle/>
          <a:p>
            <a:r>
              <a:rPr lang="en-US" sz="1050" b="1" dirty="0"/>
              <a:t>4,5,6</a:t>
            </a:r>
            <a:endParaRPr lang="he-IL" sz="1050" b="1" dirty="0"/>
          </a:p>
        </p:txBody>
      </p:sp>
      <p:sp>
        <p:nvSpPr>
          <p:cNvPr id="7" name="תיבת טקסט 6">
            <a:extLst>
              <a:ext uri="{FF2B5EF4-FFF2-40B4-BE49-F238E27FC236}">
                <a16:creationId xmlns:a16="http://schemas.microsoft.com/office/drawing/2014/main" id="{928EF4A3-731F-56E1-0630-B7EB05F66B1D}"/>
              </a:ext>
            </a:extLst>
          </p:cNvPr>
          <p:cNvSpPr txBox="1"/>
          <p:nvPr/>
        </p:nvSpPr>
        <p:spPr>
          <a:xfrm>
            <a:off x="7344095" y="6259146"/>
            <a:ext cx="1718739" cy="577081"/>
          </a:xfrm>
          <a:prstGeom prst="rect">
            <a:avLst/>
          </a:prstGeom>
          <a:noFill/>
        </p:spPr>
        <p:txBody>
          <a:bodyPr wrap="none" rtlCol="1">
            <a:spAutoFit/>
          </a:bodyPr>
          <a:lstStyle/>
          <a:p>
            <a:pPr algn="r" rtl="1"/>
            <a:r>
              <a:rPr lang="he-IL" sz="1050" dirty="0">
                <a:solidFill>
                  <a:schemeClr val="bg1">
                    <a:lumMod val="50000"/>
                  </a:schemeClr>
                </a:solidFill>
                <a:latin typeface="Arial" panose="020B0604020202020204" pitchFamily="34" charset="0"/>
                <a:cs typeface="Arial" panose="020B0604020202020204" pitchFamily="34" charset="0"/>
              </a:rPr>
              <a:t>4.ראיון עם אם צעירה</a:t>
            </a:r>
          </a:p>
          <a:p>
            <a:pPr algn="r" rtl="1"/>
            <a:r>
              <a:rPr lang="he-IL" sz="1050" dirty="0">
                <a:solidFill>
                  <a:schemeClr val="bg1">
                    <a:lumMod val="50000"/>
                  </a:schemeClr>
                </a:solidFill>
                <a:latin typeface="Arial" panose="020B0604020202020204" pitchFamily="34" charset="0"/>
                <a:cs typeface="Arial" panose="020B0604020202020204" pitchFamily="34" charset="0"/>
              </a:rPr>
              <a:t>5.ראיון אם ותיקה</a:t>
            </a:r>
          </a:p>
          <a:p>
            <a:pPr algn="r" rtl="1"/>
            <a:r>
              <a:rPr lang="he-IL" sz="1050" dirty="0">
                <a:solidFill>
                  <a:schemeClr val="bg1">
                    <a:lumMod val="50000"/>
                  </a:schemeClr>
                </a:solidFill>
                <a:latin typeface="Arial" panose="020B0604020202020204" pitchFamily="34" charset="0"/>
                <a:cs typeface="Arial" panose="020B0604020202020204" pitchFamily="34" charset="0"/>
              </a:rPr>
              <a:t>6. סקר אימהות חדשות,2024</a:t>
            </a:r>
          </a:p>
        </p:txBody>
      </p:sp>
    </p:spTree>
    <p:extLst>
      <p:ext uri="{BB962C8B-B14F-4D97-AF65-F5344CB8AC3E}">
        <p14:creationId xmlns:p14="http://schemas.microsoft.com/office/powerpoint/2010/main" val="186209125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Rectangle 2"/>
          <p:cNvSpPr txBox="1">
            <a:spLocks noChangeArrowheads="1"/>
          </p:cNvSpPr>
          <p:nvPr/>
        </p:nvSpPr>
        <p:spPr bwMode="auto">
          <a:xfrm>
            <a:off x="1028588" y="177513"/>
            <a:ext cx="7498080" cy="948120"/>
          </a:xfrm>
          <a:prstGeom prst="rect">
            <a:avLst/>
          </a:prstGeom>
          <a:noFill/>
          <a:ln w="9525">
            <a:noFill/>
            <a:miter lim="800000"/>
            <a:headEnd/>
            <a:tailEnd/>
          </a:ln>
        </p:spPr>
        <p:txBody>
          <a:bodyPr lIns="54000" tIns="54000" rIns="54000" bIns="54000" anchor="ctr"/>
          <a:lstStyle/>
          <a:p>
            <a:pPr algn="ctr" rtl="1" eaLnBrk="1" hangingPunct="1">
              <a:defRPr/>
            </a:pPr>
            <a:r>
              <a:rPr lang="he-IL" sz="2400" b="1" u="sng" dirty="0">
                <a:latin typeface="Times New Roman" pitchFamily="18" charset="0"/>
              </a:rPr>
              <a:t>תיאור הצורך באתר אינטרנט-סקר אימהות חדשות</a:t>
            </a:r>
          </a:p>
          <a:p>
            <a:pPr algn="ctr" rtl="1" eaLnBrk="1" hangingPunct="1">
              <a:defRPr/>
            </a:pPr>
            <a:r>
              <a:rPr lang="he-IL" sz="2400" b="1" i="0" u="none" strike="noStrike" kern="1200" spc="0" baseline="0" dirty="0"/>
              <a:t>גיל האם מול ילד ראשון</a:t>
            </a:r>
          </a:p>
          <a:p>
            <a:pPr algn="ctr" rtl="1" eaLnBrk="1" hangingPunct="1">
              <a:defRPr/>
            </a:pPr>
            <a:r>
              <a:rPr lang="he-IL" sz="1600" b="1" dirty="0"/>
              <a:t>(שאלה 1-2)</a:t>
            </a:r>
            <a:r>
              <a:rPr lang="he-IL" sz="1600" b="1" i="0" u="none" strike="noStrike" kern="1200" spc="0" baseline="0" dirty="0"/>
              <a:t> </a:t>
            </a:r>
            <a:endParaRPr lang="he-IL" sz="2400" b="1" u="sng" dirty="0">
              <a:latin typeface="Times New Roman" pitchFamily="18" charset="0"/>
            </a:endParaRPr>
          </a:p>
        </p:txBody>
      </p:sp>
      <p:sp>
        <p:nvSpPr>
          <p:cNvPr id="2057" name="מציין מיקום של כותרת תחתונה 8"/>
          <p:cNvSpPr>
            <a:spLocks noGrp="1"/>
          </p:cNvSpPr>
          <p:nvPr>
            <p:ph type="ftr" sz="quarter" idx="11"/>
          </p:nvPr>
        </p:nvSpPr>
        <p:spPr>
          <a:xfrm>
            <a:off x="2832578" y="6494659"/>
            <a:ext cx="3858670" cy="342900"/>
          </a:xfrm>
          <a:noFill/>
        </p:spPr>
        <p:txBody>
          <a:bodyPr/>
          <a:lstStyle/>
          <a:p>
            <a:pPr rtl="1">
              <a:spcBef>
                <a:spcPct val="20000"/>
              </a:spcBef>
            </a:pPr>
            <a:r>
              <a:rPr lang="he-IL" b="1" dirty="0">
                <a:solidFill>
                  <a:schemeClr val="tx1"/>
                </a:solidFill>
              </a:rPr>
              <a:t>אתר אינטרנט לאימהות חדשות במגזר הבדואי                    </a:t>
            </a:r>
            <a:endParaRPr lang="en-US" b="1" dirty="0">
              <a:solidFill>
                <a:schemeClr val="tx1"/>
              </a:solidFill>
            </a:endParaRPr>
          </a:p>
          <a:p>
            <a:pPr rtl="1">
              <a:spcBef>
                <a:spcPct val="20000"/>
              </a:spcBef>
            </a:pPr>
            <a:r>
              <a:rPr lang="en-US" b="1" dirty="0">
                <a:solidFill>
                  <a:schemeClr val="tx1"/>
                </a:solidFill>
              </a:rPr>
              <a:t>Navon-13-2024-sem2</a:t>
            </a:r>
          </a:p>
        </p:txBody>
      </p:sp>
      <p:sp>
        <p:nvSpPr>
          <p:cNvPr id="2" name="מציין מיקום של מספר שקופית 1">
            <a:extLst>
              <a:ext uri="{FF2B5EF4-FFF2-40B4-BE49-F238E27FC236}">
                <a16:creationId xmlns:a16="http://schemas.microsoft.com/office/drawing/2014/main" id="{81CCDB81-AF1D-95FB-B70C-A2B9D35FE9B8}"/>
              </a:ext>
            </a:extLst>
          </p:cNvPr>
          <p:cNvSpPr>
            <a:spLocks noGrp="1"/>
          </p:cNvSpPr>
          <p:nvPr>
            <p:ph type="sldNum" sz="quarter" idx="12"/>
          </p:nvPr>
        </p:nvSpPr>
        <p:spPr>
          <a:xfrm>
            <a:off x="288510" y="6341884"/>
            <a:ext cx="2057400" cy="365125"/>
          </a:xfrm>
        </p:spPr>
        <p:txBody>
          <a:bodyPr/>
          <a:lstStyle/>
          <a:p>
            <a:pPr algn="l"/>
            <a:fld id="{F406CD6C-EFBE-497B-B02F-71827CD8C8E4}" type="slidenum">
              <a:rPr lang="he-IL" smtClean="0"/>
              <a:pPr algn="l"/>
              <a:t>6</a:t>
            </a:fld>
            <a:endParaRPr lang="he-IL"/>
          </a:p>
        </p:txBody>
      </p:sp>
      <p:sp>
        <p:nvSpPr>
          <p:cNvPr id="6" name="TextBox 15">
            <a:extLst>
              <a:ext uri="{FF2B5EF4-FFF2-40B4-BE49-F238E27FC236}">
                <a16:creationId xmlns:a16="http://schemas.microsoft.com/office/drawing/2014/main" id="{93DE0FB8-08CB-0C6E-58CB-8BED72B5DF19}"/>
              </a:ext>
            </a:extLst>
          </p:cNvPr>
          <p:cNvSpPr txBox="1"/>
          <p:nvPr/>
        </p:nvSpPr>
        <p:spPr>
          <a:xfrm>
            <a:off x="1097280" y="5523202"/>
            <a:ext cx="7360697" cy="830997"/>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1">
            <a:spAutoFit/>
          </a:bodyPr>
          <a:lstStyle/>
          <a:p>
            <a:pPr algn="ctr" rtl="1"/>
            <a:r>
              <a:rPr lang="he-IL" sz="2400" b="1" dirty="0"/>
              <a:t>76% מהאימהות הן בקבוצת גיל 18-25 </a:t>
            </a:r>
          </a:p>
          <a:p>
            <a:pPr algn="ctr" rtl="1"/>
            <a:r>
              <a:rPr lang="he-IL" sz="2400" b="1" dirty="0"/>
              <a:t>78% מהאימהות הן אימהות חדשות</a:t>
            </a:r>
          </a:p>
        </p:txBody>
      </p:sp>
      <p:graphicFrame>
        <p:nvGraphicFramePr>
          <p:cNvPr id="9" name="תרשים 8">
            <a:extLst>
              <a:ext uri="{FF2B5EF4-FFF2-40B4-BE49-F238E27FC236}">
                <a16:creationId xmlns:a16="http://schemas.microsoft.com/office/drawing/2014/main" id="{65CE9993-39D5-A900-D42E-793B6232A02A}"/>
              </a:ext>
            </a:extLst>
          </p:cNvPr>
          <p:cNvGraphicFramePr>
            <a:graphicFrameLocks/>
          </p:cNvGraphicFramePr>
          <p:nvPr>
            <p:extLst>
              <p:ext uri="{D42A27DB-BD31-4B8C-83A1-F6EECF244321}">
                <p14:modId xmlns:p14="http://schemas.microsoft.com/office/powerpoint/2010/main" val="3838292062"/>
              </p:ext>
            </p:extLst>
          </p:nvPr>
        </p:nvGraphicFramePr>
        <p:xfrm>
          <a:off x="686023" y="1266093"/>
          <a:ext cx="8035945" cy="4262510"/>
        </p:xfrm>
        <a:graphic>
          <a:graphicData uri="http://schemas.openxmlformats.org/drawingml/2006/chart">
            <c:chart xmlns:c="http://schemas.openxmlformats.org/drawingml/2006/chart" xmlns:r="http://schemas.openxmlformats.org/officeDocument/2006/relationships" r:id="rId3"/>
          </a:graphicData>
        </a:graphic>
      </p:graphicFrame>
      <p:pic>
        <p:nvPicPr>
          <p:cNvPr id="10" name="תמונה 9">
            <a:extLst>
              <a:ext uri="{FF2B5EF4-FFF2-40B4-BE49-F238E27FC236}">
                <a16:creationId xmlns:a16="http://schemas.microsoft.com/office/drawing/2014/main" id="{24410538-F362-4340-A9CF-38344656E001}"/>
              </a:ext>
            </a:extLst>
          </p:cNvPr>
          <p:cNvPicPr>
            <a:picLocks noChangeAspect="1"/>
          </p:cNvPicPr>
          <p:nvPr/>
        </p:nvPicPr>
        <p:blipFill>
          <a:blip r:embed="rId4"/>
          <a:stretch>
            <a:fillRect/>
          </a:stretch>
        </p:blipFill>
        <p:spPr>
          <a:xfrm>
            <a:off x="8165794" y="1"/>
            <a:ext cx="978206" cy="782664"/>
          </a:xfrm>
          <a:prstGeom prst="rect">
            <a:avLst/>
          </a:prstGeom>
        </p:spPr>
      </p:pic>
      <p:pic>
        <p:nvPicPr>
          <p:cNvPr id="11" name="תמונה 10">
            <a:extLst>
              <a:ext uri="{FF2B5EF4-FFF2-40B4-BE49-F238E27FC236}">
                <a16:creationId xmlns:a16="http://schemas.microsoft.com/office/drawing/2014/main" id="{1418E13C-8591-40C5-8729-AA71AB473A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 name="תיבת טקסט 2">
            <a:extLst>
              <a:ext uri="{FF2B5EF4-FFF2-40B4-BE49-F238E27FC236}">
                <a16:creationId xmlns:a16="http://schemas.microsoft.com/office/drawing/2014/main" id="{EBA0AB4B-5AA7-C4F4-C64F-A880C356B43B}"/>
              </a:ext>
            </a:extLst>
          </p:cNvPr>
          <p:cNvSpPr txBox="1"/>
          <p:nvPr/>
        </p:nvSpPr>
        <p:spPr>
          <a:xfrm>
            <a:off x="3572532" y="0"/>
            <a:ext cx="640239" cy="253916"/>
          </a:xfrm>
          <a:prstGeom prst="rect">
            <a:avLst/>
          </a:prstGeom>
          <a:noFill/>
        </p:spPr>
        <p:txBody>
          <a:bodyPr wrap="square" rtlCol="1">
            <a:spAutoFit/>
          </a:bodyPr>
          <a:lstStyle/>
          <a:p>
            <a:r>
              <a:rPr lang="en-US" sz="1050" b="1" dirty="0"/>
              <a:t>6</a:t>
            </a:r>
            <a:endParaRPr lang="he-IL" sz="1050" b="1" dirty="0"/>
          </a:p>
        </p:txBody>
      </p:sp>
      <p:sp>
        <p:nvSpPr>
          <p:cNvPr id="4" name="תיבת טקסט 3">
            <a:extLst>
              <a:ext uri="{FF2B5EF4-FFF2-40B4-BE49-F238E27FC236}">
                <a16:creationId xmlns:a16="http://schemas.microsoft.com/office/drawing/2014/main" id="{0BE9BD71-CCC3-B666-4AE4-9F6086A84227}"/>
              </a:ext>
            </a:extLst>
          </p:cNvPr>
          <p:cNvSpPr txBox="1"/>
          <p:nvPr/>
        </p:nvSpPr>
        <p:spPr>
          <a:xfrm>
            <a:off x="7299342" y="6460749"/>
            <a:ext cx="1713994" cy="577081"/>
          </a:xfrm>
          <a:prstGeom prst="rect">
            <a:avLst/>
          </a:prstGeom>
          <a:noFill/>
        </p:spPr>
        <p:txBody>
          <a:bodyPr wrap="none" rtlCol="1">
            <a:spAutoFit/>
          </a:bodyPr>
          <a:lstStyle/>
          <a:p>
            <a:pPr algn="r" rtl="1"/>
            <a:r>
              <a:rPr lang="he-IL" sz="1050" dirty="0">
                <a:solidFill>
                  <a:schemeClr val="bg1">
                    <a:lumMod val="50000"/>
                  </a:schemeClr>
                </a:solidFill>
                <a:latin typeface="Arial" panose="020B0604020202020204" pitchFamily="34" charset="0"/>
                <a:cs typeface="Arial" panose="020B0604020202020204" pitchFamily="34" charset="0"/>
              </a:rPr>
              <a:t>6.סקר אימהות ציעורת ,2024</a:t>
            </a:r>
          </a:p>
          <a:p>
            <a:pPr algn="r" rtl="1"/>
            <a:endParaRPr lang="he-IL" sz="1050" dirty="0">
              <a:solidFill>
                <a:schemeClr val="bg1">
                  <a:lumMod val="50000"/>
                </a:schemeClr>
              </a:solidFill>
              <a:highlight>
                <a:srgbClr val="FFFF00"/>
              </a:highlight>
            </a:endParaRPr>
          </a:p>
          <a:p>
            <a:pPr algn="r" rtl="1"/>
            <a:endParaRPr lang="he-IL" sz="1050" dirty="0">
              <a:solidFill>
                <a:schemeClr val="bg1">
                  <a:lumMod val="50000"/>
                </a:schemeClr>
              </a:solidFill>
              <a:highlight>
                <a:srgbClr val="FFFF00"/>
              </a:highlight>
            </a:endParaRPr>
          </a:p>
        </p:txBody>
      </p:sp>
    </p:spTree>
    <p:extLst>
      <p:ext uri="{BB962C8B-B14F-4D97-AF65-F5344CB8AC3E}">
        <p14:creationId xmlns:p14="http://schemas.microsoft.com/office/powerpoint/2010/main" val="108904986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Rectangle 2"/>
          <p:cNvSpPr txBox="1">
            <a:spLocks noChangeArrowheads="1"/>
          </p:cNvSpPr>
          <p:nvPr/>
        </p:nvSpPr>
        <p:spPr bwMode="auto">
          <a:xfrm>
            <a:off x="1541419" y="171689"/>
            <a:ext cx="6440987" cy="594122"/>
          </a:xfrm>
          <a:prstGeom prst="rect">
            <a:avLst/>
          </a:prstGeom>
          <a:noFill/>
          <a:ln w="9525">
            <a:noFill/>
            <a:miter lim="800000"/>
            <a:headEnd/>
            <a:tailEnd/>
          </a:ln>
        </p:spPr>
        <p:txBody>
          <a:bodyPr lIns="54000" tIns="54000" rIns="54000" bIns="54000" anchor="ctr"/>
          <a:lstStyle/>
          <a:p>
            <a:pPr algn="ctr" rtl="1">
              <a:lnSpc>
                <a:spcPts val="1400"/>
              </a:lnSpc>
              <a:spcBef>
                <a:spcPct val="50000"/>
              </a:spcBef>
            </a:pPr>
            <a:r>
              <a:rPr lang="he-IL" sz="2400" b="1" u="sng" dirty="0"/>
              <a:t>תיאור הצורך באתר אינטרנט-סקר אימהות חדשות </a:t>
            </a:r>
          </a:p>
          <a:p>
            <a:pPr algn="ctr" rtl="1">
              <a:lnSpc>
                <a:spcPts val="1400"/>
              </a:lnSpc>
              <a:spcBef>
                <a:spcPct val="50000"/>
              </a:spcBef>
            </a:pPr>
            <a:r>
              <a:rPr lang="he-IL" sz="2400" b="1" u="sng" dirty="0"/>
              <a:t>שאלות 3,8</a:t>
            </a:r>
          </a:p>
        </p:txBody>
      </p:sp>
      <p:sp>
        <p:nvSpPr>
          <p:cNvPr id="2057" name="מציין מיקום של כותרת תחתונה 8"/>
          <p:cNvSpPr>
            <a:spLocks noGrp="1"/>
          </p:cNvSpPr>
          <p:nvPr>
            <p:ph type="ftr" sz="quarter" idx="11"/>
          </p:nvPr>
        </p:nvSpPr>
        <p:spPr>
          <a:xfrm>
            <a:off x="2832578" y="6494659"/>
            <a:ext cx="3858670" cy="342900"/>
          </a:xfrm>
          <a:noFill/>
        </p:spPr>
        <p:txBody>
          <a:bodyPr/>
          <a:lstStyle/>
          <a:p>
            <a:pPr rtl="1">
              <a:spcBef>
                <a:spcPct val="20000"/>
              </a:spcBef>
            </a:pPr>
            <a:r>
              <a:rPr lang="he-IL" b="1" dirty="0">
                <a:solidFill>
                  <a:schemeClr val="tx1"/>
                </a:solidFill>
              </a:rPr>
              <a:t>אתר אינטרנט לאימהות חדשות במגזר הבדואי                    </a:t>
            </a:r>
            <a:endParaRPr lang="en-US" b="1" dirty="0">
              <a:solidFill>
                <a:schemeClr val="tx1"/>
              </a:solidFill>
            </a:endParaRPr>
          </a:p>
          <a:p>
            <a:pPr rtl="1">
              <a:spcBef>
                <a:spcPct val="20000"/>
              </a:spcBef>
            </a:pPr>
            <a:r>
              <a:rPr lang="en-US" b="1" dirty="0">
                <a:solidFill>
                  <a:schemeClr val="tx1"/>
                </a:solidFill>
              </a:rPr>
              <a:t>Navon-13-2024-sem2</a:t>
            </a:r>
          </a:p>
        </p:txBody>
      </p:sp>
      <p:sp>
        <p:nvSpPr>
          <p:cNvPr id="4" name="מציין מיקום של מספר שקופית 3">
            <a:extLst>
              <a:ext uri="{FF2B5EF4-FFF2-40B4-BE49-F238E27FC236}">
                <a16:creationId xmlns:a16="http://schemas.microsoft.com/office/drawing/2014/main" id="{7402B074-3020-FC99-48E9-19C2F50CF3CA}"/>
              </a:ext>
            </a:extLst>
          </p:cNvPr>
          <p:cNvSpPr>
            <a:spLocks noGrp="1"/>
          </p:cNvSpPr>
          <p:nvPr>
            <p:ph type="sldNum" sz="quarter" idx="12"/>
          </p:nvPr>
        </p:nvSpPr>
        <p:spPr>
          <a:xfrm>
            <a:off x="288510" y="6341884"/>
            <a:ext cx="2057400" cy="365125"/>
          </a:xfrm>
        </p:spPr>
        <p:txBody>
          <a:bodyPr/>
          <a:lstStyle/>
          <a:p>
            <a:pPr algn="l"/>
            <a:fld id="{F406CD6C-EFBE-497B-B02F-71827CD8C8E4}" type="slidenum">
              <a:rPr lang="he-IL" smtClean="0"/>
              <a:pPr algn="l"/>
              <a:t>7</a:t>
            </a:fld>
            <a:endParaRPr lang="he-IL" dirty="0"/>
          </a:p>
        </p:txBody>
      </p:sp>
      <p:sp>
        <p:nvSpPr>
          <p:cNvPr id="10" name="תיבת טקסט 9">
            <a:extLst>
              <a:ext uri="{FF2B5EF4-FFF2-40B4-BE49-F238E27FC236}">
                <a16:creationId xmlns:a16="http://schemas.microsoft.com/office/drawing/2014/main" id="{7CBFB8F4-0FF9-2EE7-C450-D13A1CD77F29}"/>
              </a:ext>
            </a:extLst>
          </p:cNvPr>
          <p:cNvSpPr txBox="1"/>
          <p:nvPr/>
        </p:nvSpPr>
        <p:spPr>
          <a:xfrm>
            <a:off x="4912440" y="5360583"/>
            <a:ext cx="4075718" cy="923330"/>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1">
            <a:spAutoFit/>
          </a:bodyPr>
          <a:lstStyle>
            <a:defPPr>
              <a:defRPr lang="en-US"/>
            </a:defPPr>
            <a:lvl1pPr algn="ctr" rtl="1">
              <a:defRPr sz="14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rtl="1"/>
            <a:r>
              <a:rPr lang="he-IL" sz="1800" b="1" dirty="0"/>
              <a:t>32% מהאימהות בקבוצת גיל 18-25 נשואות 0-1 שנה, </a:t>
            </a:r>
          </a:p>
          <a:p>
            <a:pPr algn="ctr" rtl="1"/>
            <a:r>
              <a:rPr lang="he-IL" sz="1800" b="1" dirty="0"/>
              <a:t>52% בקבוצת גיל 18-25 נשואות 2+ שנים</a:t>
            </a:r>
          </a:p>
        </p:txBody>
      </p:sp>
      <p:sp>
        <p:nvSpPr>
          <p:cNvPr id="11" name="תיבת טקסט 10">
            <a:extLst>
              <a:ext uri="{FF2B5EF4-FFF2-40B4-BE49-F238E27FC236}">
                <a16:creationId xmlns:a16="http://schemas.microsoft.com/office/drawing/2014/main" id="{63AED9BB-3562-81B0-6FFA-22217AC6128D}"/>
              </a:ext>
            </a:extLst>
          </p:cNvPr>
          <p:cNvSpPr txBox="1"/>
          <p:nvPr/>
        </p:nvSpPr>
        <p:spPr>
          <a:xfrm>
            <a:off x="288509" y="5421876"/>
            <a:ext cx="4243294" cy="923330"/>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1">
            <a:spAutoFit/>
          </a:bodyPr>
          <a:lstStyle>
            <a:defPPr>
              <a:defRPr lang="en-US"/>
            </a:defPPr>
            <a:lvl1pPr algn="ctr" rtl="1">
              <a:defRPr b="1">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he-IL" dirty="0"/>
              <a:t>26% מתביישות או חוששות לשאול</a:t>
            </a:r>
          </a:p>
          <a:p>
            <a:r>
              <a:rPr lang="he-IL" dirty="0"/>
              <a:t> </a:t>
            </a:r>
          </a:p>
          <a:p>
            <a:r>
              <a:rPr lang="he-IL" dirty="0"/>
              <a:t> 74% לא מתביישות לשאול שאלות</a:t>
            </a:r>
          </a:p>
        </p:txBody>
      </p:sp>
      <p:sp>
        <p:nvSpPr>
          <p:cNvPr id="2" name="TextBox 15">
            <a:extLst>
              <a:ext uri="{FF2B5EF4-FFF2-40B4-BE49-F238E27FC236}">
                <a16:creationId xmlns:a16="http://schemas.microsoft.com/office/drawing/2014/main" id="{03D8330C-AE7A-7DAA-5957-48243FEC50EA}"/>
              </a:ext>
            </a:extLst>
          </p:cNvPr>
          <p:cNvSpPr txBox="1"/>
          <p:nvPr/>
        </p:nvSpPr>
        <p:spPr>
          <a:xfrm>
            <a:off x="236520" y="822231"/>
            <a:ext cx="4295282" cy="1015663"/>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1">
            <a:spAutoFit/>
          </a:bodyPr>
          <a:lstStyle/>
          <a:p>
            <a:pPr algn="ctr" rtl="1"/>
            <a:r>
              <a:rPr lang="he-IL" b="1" dirty="0"/>
              <a:t>שאלה 8:</a:t>
            </a:r>
          </a:p>
          <a:p>
            <a:pPr algn="ctr" rtl="1"/>
            <a:r>
              <a:rPr lang="he-IL" b="1" dirty="0"/>
              <a:t>האם מתביישת או חוששת לשאול שאלות?</a:t>
            </a:r>
          </a:p>
          <a:p>
            <a:pPr algn="ctr" rtl="1"/>
            <a:endParaRPr lang="he-IL" sz="2400" b="1" dirty="0"/>
          </a:p>
        </p:txBody>
      </p:sp>
      <p:sp>
        <p:nvSpPr>
          <p:cNvPr id="5" name="מלבן 4">
            <a:extLst>
              <a:ext uri="{FF2B5EF4-FFF2-40B4-BE49-F238E27FC236}">
                <a16:creationId xmlns:a16="http://schemas.microsoft.com/office/drawing/2014/main" id="{54FA5FE7-1B23-4853-FF96-9148625A506D}"/>
              </a:ext>
            </a:extLst>
          </p:cNvPr>
          <p:cNvSpPr/>
          <p:nvPr/>
        </p:nvSpPr>
        <p:spPr>
          <a:xfrm>
            <a:off x="4912440" y="836816"/>
            <a:ext cx="4075719" cy="923330"/>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1">
            <a:spAutoFit/>
          </a:bodyPr>
          <a:lstStyle/>
          <a:p>
            <a:pPr algn="ctr" rtl="1"/>
            <a:r>
              <a:rPr lang="he-IL" sz="1800" b="1" u="none" strike="noStrike" dirty="0">
                <a:effectLst/>
              </a:rPr>
              <a:t>שאלה 3:</a:t>
            </a:r>
          </a:p>
          <a:p>
            <a:pPr algn="ctr" rtl="1"/>
            <a:r>
              <a:rPr lang="he-IL" sz="1800" b="1" u="none" strike="noStrike" dirty="0">
                <a:effectLst/>
              </a:rPr>
              <a:t> כמה זמן נשואה </a:t>
            </a:r>
          </a:p>
          <a:p>
            <a:pPr algn="ctr" rtl="1"/>
            <a:r>
              <a:rPr lang="he-IL" sz="1800" b="1" u="none" strike="noStrike" dirty="0">
                <a:effectLst/>
              </a:rPr>
              <a:t>בחתך קבוצת גיל </a:t>
            </a:r>
            <a:r>
              <a:rPr lang="he-IL" sz="1800" b="1" i="0" dirty="0">
                <a:solidFill>
                  <a:srgbClr val="000000"/>
                </a:solidFill>
                <a:latin typeface="Arial" panose="020B0604020202020204" pitchFamily="34" charset="0"/>
              </a:rPr>
              <a:t>אימהות לילד ראשון?</a:t>
            </a:r>
            <a:endParaRPr lang="he-IL" sz="1800" b="1" i="0" u="none" strike="noStrike" dirty="0">
              <a:solidFill>
                <a:srgbClr val="000000"/>
              </a:solidFill>
              <a:effectLst/>
              <a:latin typeface="Arial" panose="020B0604020202020204" pitchFamily="34" charset="0"/>
            </a:endParaRPr>
          </a:p>
        </p:txBody>
      </p:sp>
      <p:graphicFrame>
        <p:nvGraphicFramePr>
          <p:cNvPr id="6" name="תרשים 5">
            <a:extLst>
              <a:ext uri="{FF2B5EF4-FFF2-40B4-BE49-F238E27FC236}">
                <a16:creationId xmlns:a16="http://schemas.microsoft.com/office/drawing/2014/main" id="{B4D24531-692C-C651-15C0-2B0F88551866}"/>
              </a:ext>
            </a:extLst>
          </p:cNvPr>
          <p:cNvGraphicFramePr>
            <a:graphicFrameLocks noGrp="1"/>
          </p:cNvGraphicFramePr>
          <p:nvPr>
            <p:extLst>
              <p:ext uri="{D42A27DB-BD31-4B8C-83A1-F6EECF244321}">
                <p14:modId xmlns:p14="http://schemas.microsoft.com/office/powerpoint/2010/main" val="2615442681"/>
              </p:ext>
            </p:extLst>
          </p:nvPr>
        </p:nvGraphicFramePr>
        <p:xfrm>
          <a:off x="4641442" y="1815557"/>
          <a:ext cx="4099612" cy="37446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תרשים 12">
            <a:extLst>
              <a:ext uri="{FF2B5EF4-FFF2-40B4-BE49-F238E27FC236}">
                <a16:creationId xmlns:a16="http://schemas.microsoft.com/office/drawing/2014/main" id="{0F3EA8E4-C8BF-453A-BF46-CE83F609A5A5}"/>
              </a:ext>
            </a:extLst>
          </p:cNvPr>
          <p:cNvGraphicFramePr/>
          <p:nvPr>
            <p:extLst>
              <p:ext uri="{D42A27DB-BD31-4B8C-83A1-F6EECF244321}">
                <p14:modId xmlns:p14="http://schemas.microsoft.com/office/powerpoint/2010/main" val="2922757777"/>
              </p:ext>
            </p:extLst>
          </p:nvPr>
        </p:nvGraphicFramePr>
        <p:xfrm>
          <a:off x="4584655" y="1815556"/>
          <a:ext cx="4403505" cy="374468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תרשים 7">
            <a:extLst>
              <a:ext uri="{FF2B5EF4-FFF2-40B4-BE49-F238E27FC236}">
                <a16:creationId xmlns:a16="http://schemas.microsoft.com/office/drawing/2014/main" id="{666DF055-83DA-B7B2-C39F-347370D16C0C}"/>
              </a:ext>
            </a:extLst>
          </p:cNvPr>
          <p:cNvGraphicFramePr>
            <a:graphicFrameLocks noGrp="1"/>
          </p:cNvGraphicFramePr>
          <p:nvPr>
            <p:extLst>
              <p:ext uri="{D42A27DB-BD31-4B8C-83A1-F6EECF244321}">
                <p14:modId xmlns:p14="http://schemas.microsoft.com/office/powerpoint/2010/main" val="3661652564"/>
              </p:ext>
            </p:extLst>
          </p:nvPr>
        </p:nvGraphicFramePr>
        <p:xfrm>
          <a:off x="155842" y="1734275"/>
          <a:ext cx="4295282" cy="3690922"/>
        </p:xfrm>
        <a:graphic>
          <a:graphicData uri="http://schemas.openxmlformats.org/drawingml/2006/chart">
            <c:chart xmlns:c="http://schemas.openxmlformats.org/drawingml/2006/chart" xmlns:r="http://schemas.openxmlformats.org/officeDocument/2006/relationships" r:id="rId5"/>
          </a:graphicData>
        </a:graphic>
      </p:graphicFrame>
      <p:pic>
        <p:nvPicPr>
          <p:cNvPr id="15" name="תמונה 14">
            <a:extLst>
              <a:ext uri="{FF2B5EF4-FFF2-40B4-BE49-F238E27FC236}">
                <a16:creationId xmlns:a16="http://schemas.microsoft.com/office/drawing/2014/main" id="{0D99B245-3BDE-49AA-A0C2-1E2331E107FB}"/>
              </a:ext>
            </a:extLst>
          </p:cNvPr>
          <p:cNvPicPr>
            <a:picLocks noChangeAspect="1"/>
          </p:cNvPicPr>
          <p:nvPr/>
        </p:nvPicPr>
        <p:blipFill>
          <a:blip r:embed="rId6"/>
          <a:stretch>
            <a:fillRect/>
          </a:stretch>
        </p:blipFill>
        <p:spPr>
          <a:xfrm>
            <a:off x="8165794" y="1"/>
            <a:ext cx="978206" cy="782664"/>
          </a:xfrm>
          <a:prstGeom prst="rect">
            <a:avLst/>
          </a:prstGeom>
        </p:spPr>
      </p:pic>
      <p:pic>
        <p:nvPicPr>
          <p:cNvPr id="16" name="תמונה 15">
            <a:extLst>
              <a:ext uri="{FF2B5EF4-FFF2-40B4-BE49-F238E27FC236}">
                <a16:creationId xmlns:a16="http://schemas.microsoft.com/office/drawing/2014/main" id="{420D3BB7-45DC-4D92-9C36-6FAF41053E9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 name="תיבת טקסט 2">
            <a:extLst>
              <a:ext uri="{FF2B5EF4-FFF2-40B4-BE49-F238E27FC236}">
                <a16:creationId xmlns:a16="http://schemas.microsoft.com/office/drawing/2014/main" id="{82D46A45-A014-B994-8B08-DBF03E7ABA6A}"/>
              </a:ext>
            </a:extLst>
          </p:cNvPr>
          <p:cNvSpPr txBox="1"/>
          <p:nvPr/>
        </p:nvSpPr>
        <p:spPr>
          <a:xfrm>
            <a:off x="3543403" y="-29995"/>
            <a:ext cx="560511" cy="253916"/>
          </a:xfrm>
          <a:prstGeom prst="rect">
            <a:avLst/>
          </a:prstGeom>
          <a:noFill/>
        </p:spPr>
        <p:txBody>
          <a:bodyPr wrap="square" rtlCol="1">
            <a:spAutoFit/>
          </a:bodyPr>
          <a:lstStyle/>
          <a:p>
            <a:r>
              <a:rPr lang="en-US" sz="1050" b="1" dirty="0"/>
              <a:t>6</a:t>
            </a:r>
            <a:endParaRPr lang="he-IL" sz="1050" b="1" dirty="0"/>
          </a:p>
        </p:txBody>
      </p:sp>
      <p:sp>
        <p:nvSpPr>
          <p:cNvPr id="7" name="תיבת טקסט 6">
            <a:extLst>
              <a:ext uri="{FF2B5EF4-FFF2-40B4-BE49-F238E27FC236}">
                <a16:creationId xmlns:a16="http://schemas.microsoft.com/office/drawing/2014/main" id="{BDA17832-CF7E-91D2-1BD0-1412C3F24811}"/>
              </a:ext>
            </a:extLst>
          </p:cNvPr>
          <p:cNvSpPr txBox="1"/>
          <p:nvPr/>
        </p:nvSpPr>
        <p:spPr>
          <a:xfrm>
            <a:off x="7430006" y="6408467"/>
            <a:ext cx="1713994" cy="738664"/>
          </a:xfrm>
          <a:prstGeom prst="rect">
            <a:avLst/>
          </a:prstGeom>
          <a:noFill/>
        </p:spPr>
        <p:txBody>
          <a:bodyPr wrap="none" rtlCol="1">
            <a:spAutoFit/>
          </a:bodyPr>
          <a:lstStyle/>
          <a:p>
            <a:pPr algn="r" rtl="1"/>
            <a:r>
              <a:rPr lang="he-IL" sz="1050" dirty="0">
                <a:solidFill>
                  <a:schemeClr val="bg1">
                    <a:lumMod val="50000"/>
                  </a:schemeClr>
                </a:solidFill>
                <a:latin typeface="Arial" panose="020B0604020202020204" pitchFamily="34" charset="0"/>
              </a:rPr>
              <a:t>6.סקר אימהות ציעורת ,2024</a:t>
            </a:r>
          </a:p>
          <a:p>
            <a:pPr algn="r" rtl="1"/>
            <a:endParaRPr lang="he-IL" sz="1050" dirty="0">
              <a:solidFill>
                <a:schemeClr val="bg1">
                  <a:lumMod val="50000"/>
                </a:schemeClr>
              </a:solidFill>
              <a:highlight>
                <a:srgbClr val="FFFF00"/>
              </a:highlight>
            </a:endParaRPr>
          </a:p>
          <a:p>
            <a:pPr algn="r" rtl="1"/>
            <a:endParaRPr lang="he-IL" sz="1050" dirty="0">
              <a:solidFill>
                <a:schemeClr val="bg1">
                  <a:lumMod val="50000"/>
                </a:schemeClr>
              </a:solidFill>
              <a:highlight>
                <a:srgbClr val="FFFF00"/>
              </a:highlight>
            </a:endParaRPr>
          </a:p>
          <a:p>
            <a:pPr algn="r" rtl="1"/>
            <a:endParaRPr lang="he-IL" sz="1050" dirty="0">
              <a:solidFill>
                <a:schemeClr val="bg1">
                  <a:lumMod val="50000"/>
                </a:schemeClr>
              </a:solidFill>
              <a:highlight>
                <a:srgbClr val="FFFF00"/>
              </a:highlight>
            </a:endParaRPr>
          </a:p>
        </p:txBody>
      </p:sp>
    </p:spTree>
    <p:extLst>
      <p:ext uri="{BB962C8B-B14F-4D97-AF65-F5344CB8AC3E}">
        <p14:creationId xmlns:p14="http://schemas.microsoft.com/office/powerpoint/2010/main" val="397328994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כותרת תחתונה 1">
            <a:extLst>
              <a:ext uri="{FF2B5EF4-FFF2-40B4-BE49-F238E27FC236}">
                <a16:creationId xmlns:a16="http://schemas.microsoft.com/office/drawing/2014/main" id="{1307940F-0E3B-08D0-0911-72EC034C9272}"/>
              </a:ext>
            </a:extLst>
          </p:cNvPr>
          <p:cNvSpPr>
            <a:spLocks noGrp="1"/>
          </p:cNvSpPr>
          <p:nvPr>
            <p:ph type="ftr" sz="quarter" idx="11"/>
          </p:nvPr>
        </p:nvSpPr>
        <p:spPr>
          <a:xfrm>
            <a:off x="3028950" y="6492875"/>
            <a:ext cx="3086100" cy="365125"/>
          </a:xfrm>
        </p:spPr>
        <p:txBody>
          <a:bodyPr/>
          <a:lstStyle/>
          <a:p>
            <a:r>
              <a:rPr lang="he-IL" b="1" dirty="0">
                <a:solidFill>
                  <a:schemeClr val="tx1"/>
                </a:solidFill>
              </a:rPr>
              <a:t>אתר אינטרנט לאימהות חדשות במגזר הבדואי                      </a:t>
            </a:r>
            <a:r>
              <a:rPr lang="en-US" b="1" dirty="0">
                <a:solidFill>
                  <a:schemeClr val="tx1"/>
                </a:solidFill>
              </a:rPr>
              <a:t>Navon-13-2024-sem2</a:t>
            </a:r>
            <a:endParaRPr lang="he-IL" b="1" dirty="0">
              <a:solidFill>
                <a:schemeClr val="tx1"/>
              </a:solidFill>
            </a:endParaRPr>
          </a:p>
        </p:txBody>
      </p:sp>
      <p:sp>
        <p:nvSpPr>
          <p:cNvPr id="3" name="מציין מיקום של מספר שקופית 2">
            <a:extLst>
              <a:ext uri="{FF2B5EF4-FFF2-40B4-BE49-F238E27FC236}">
                <a16:creationId xmlns:a16="http://schemas.microsoft.com/office/drawing/2014/main" id="{FD818957-6CE8-E4F6-602E-45E703671A75}"/>
              </a:ext>
            </a:extLst>
          </p:cNvPr>
          <p:cNvSpPr>
            <a:spLocks noGrp="1"/>
          </p:cNvSpPr>
          <p:nvPr>
            <p:ph type="sldNum" sz="quarter" idx="12"/>
          </p:nvPr>
        </p:nvSpPr>
        <p:spPr>
          <a:xfrm>
            <a:off x="141556" y="6356351"/>
            <a:ext cx="2057400" cy="365125"/>
          </a:xfrm>
        </p:spPr>
        <p:txBody>
          <a:bodyPr/>
          <a:lstStyle/>
          <a:p>
            <a:pPr algn="l"/>
            <a:fld id="{F406CD6C-EFBE-497B-B02F-71827CD8C8E4}" type="slidenum">
              <a:rPr lang="he-IL" smtClean="0"/>
              <a:pPr algn="l"/>
              <a:t>8</a:t>
            </a:fld>
            <a:endParaRPr lang="he-IL" dirty="0"/>
          </a:p>
        </p:txBody>
      </p:sp>
      <p:sp>
        <p:nvSpPr>
          <p:cNvPr id="4" name="Rectangle 2">
            <a:extLst>
              <a:ext uri="{FF2B5EF4-FFF2-40B4-BE49-F238E27FC236}">
                <a16:creationId xmlns:a16="http://schemas.microsoft.com/office/drawing/2014/main" id="{071FF915-6B4B-DA93-2FEE-B6AA23DD7CE4}"/>
              </a:ext>
            </a:extLst>
          </p:cNvPr>
          <p:cNvSpPr txBox="1">
            <a:spLocks noChangeArrowheads="1"/>
          </p:cNvSpPr>
          <p:nvPr/>
        </p:nvSpPr>
        <p:spPr bwMode="auto">
          <a:xfrm>
            <a:off x="1326578" y="136524"/>
            <a:ext cx="6229602" cy="959247"/>
          </a:xfrm>
          <a:prstGeom prst="rect">
            <a:avLst/>
          </a:prstGeom>
          <a:noFill/>
          <a:ln w="9525">
            <a:noFill/>
            <a:miter lim="800000"/>
            <a:headEnd/>
            <a:tailEnd/>
          </a:ln>
        </p:spPr>
        <p:txBody>
          <a:bodyPr lIns="54000" tIns="54000" rIns="54000" bIns="54000" anchor="ctr"/>
          <a:lstStyle/>
          <a:p>
            <a:pPr algn="ctr" rtl="1">
              <a:lnSpc>
                <a:spcPts val="1400"/>
              </a:lnSpc>
              <a:spcBef>
                <a:spcPct val="50000"/>
              </a:spcBef>
            </a:pPr>
            <a:r>
              <a:rPr lang="he-IL" sz="2400" b="1" u="sng" dirty="0"/>
              <a:t>תיאור הצורך באתר אינטרנט- סקר אימהות חדשות</a:t>
            </a:r>
          </a:p>
          <a:p>
            <a:pPr algn="ctr" rtl="1">
              <a:lnSpc>
                <a:spcPts val="1400"/>
              </a:lnSpc>
              <a:spcBef>
                <a:spcPct val="50000"/>
              </a:spcBef>
            </a:pPr>
            <a:r>
              <a:rPr lang="he-IL" sz="2400" b="1" u="none" strike="noStrike" dirty="0">
                <a:effectLst/>
              </a:rPr>
              <a:t>(שאל</a:t>
            </a:r>
            <a:r>
              <a:rPr lang="he-IL" sz="2400" b="1" dirty="0"/>
              <a:t>ות 7-4 ו-9)</a:t>
            </a:r>
            <a:endParaRPr lang="he-IL" sz="2400" b="1" i="0" u="none" strike="noStrike" dirty="0">
              <a:solidFill>
                <a:srgbClr val="000000"/>
              </a:solidFill>
              <a:effectLst/>
              <a:latin typeface="Arial" panose="020B0604020202020204" pitchFamily="34" charset="0"/>
            </a:endParaRPr>
          </a:p>
          <a:p>
            <a:pPr algn="ctr" rtl="1">
              <a:lnSpc>
                <a:spcPts val="1400"/>
              </a:lnSpc>
              <a:spcBef>
                <a:spcPct val="50000"/>
              </a:spcBef>
            </a:pPr>
            <a:endParaRPr lang="he-IL" sz="2400" b="1" u="sng" dirty="0"/>
          </a:p>
        </p:txBody>
      </p:sp>
      <p:sp>
        <p:nvSpPr>
          <p:cNvPr id="8" name="TextBox 15">
            <a:extLst>
              <a:ext uri="{FF2B5EF4-FFF2-40B4-BE49-F238E27FC236}">
                <a16:creationId xmlns:a16="http://schemas.microsoft.com/office/drawing/2014/main" id="{C4EC2285-092B-DB5B-1EA8-64BA2AE24FDC}"/>
              </a:ext>
            </a:extLst>
          </p:cNvPr>
          <p:cNvSpPr txBox="1"/>
          <p:nvPr/>
        </p:nvSpPr>
        <p:spPr>
          <a:xfrm>
            <a:off x="218927" y="4842770"/>
            <a:ext cx="5071403" cy="1477328"/>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1">
            <a:spAutoFit/>
          </a:bodyPr>
          <a:lstStyle/>
          <a:p>
            <a:pPr algn="r" rtl="1"/>
            <a:r>
              <a:rPr lang="he-IL" b="1" u="sng" dirty="0"/>
              <a:t>שאלה 4:</a:t>
            </a:r>
            <a:r>
              <a:rPr lang="he-IL" b="1" dirty="0"/>
              <a:t> ניסיון בגידול תינוק 61% יש ו-39% אין</a:t>
            </a:r>
          </a:p>
          <a:p>
            <a:pPr algn="r" rtl="1"/>
            <a:r>
              <a:rPr lang="he-IL" b="1" u="sng" dirty="0"/>
              <a:t>שאלה 5:</a:t>
            </a:r>
            <a:r>
              <a:rPr lang="he-IL" b="1" dirty="0"/>
              <a:t> </a:t>
            </a:r>
            <a:r>
              <a:rPr lang="he-IL" sz="1800" b="1" u="none" strike="noStrike" dirty="0">
                <a:effectLst/>
              </a:rPr>
              <a:t>קבלת הדרכה כלשהי לטיפול בתינוק:</a:t>
            </a:r>
          </a:p>
          <a:p>
            <a:pPr algn="r" rtl="1"/>
            <a:r>
              <a:rPr lang="he-IL" b="1" dirty="0"/>
              <a:t> 79% כן, 21% לא </a:t>
            </a:r>
          </a:p>
          <a:p>
            <a:pPr algn="r" rtl="1"/>
            <a:r>
              <a:rPr lang="he-IL" b="1" u="sng" dirty="0"/>
              <a:t>שאלה 6:</a:t>
            </a:r>
            <a:r>
              <a:rPr lang="he-IL" b="1" dirty="0"/>
              <a:t> </a:t>
            </a:r>
            <a:r>
              <a:rPr lang="he-IL" sz="1800" b="1" u="none" strike="noStrike" dirty="0">
                <a:effectLst/>
              </a:rPr>
              <a:t>האם ההדרכה הייתה מקרובי משפחה? </a:t>
            </a:r>
            <a:endParaRPr lang="he-IL" sz="1800" b="1" i="0" u="none" strike="noStrike" dirty="0">
              <a:solidFill>
                <a:srgbClr val="202124"/>
              </a:solidFill>
              <a:effectLst/>
              <a:latin typeface="Arial" panose="020B0604020202020204" pitchFamily="34" charset="0"/>
            </a:endParaRPr>
          </a:p>
          <a:p>
            <a:pPr algn="r" rtl="1"/>
            <a:r>
              <a:rPr lang="he-IL" b="1" dirty="0"/>
              <a:t>78%  כן, 22% לא</a:t>
            </a:r>
          </a:p>
        </p:txBody>
      </p:sp>
      <p:graphicFrame>
        <p:nvGraphicFramePr>
          <p:cNvPr id="10" name="תרשים 9">
            <a:extLst>
              <a:ext uri="{FF2B5EF4-FFF2-40B4-BE49-F238E27FC236}">
                <a16:creationId xmlns:a16="http://schemas.microsoft.com/office/drawing/2014/main" id="{BC50E3C9-398E-44D6-B90A-C354B1C5A8A3}"/>
              </a:ext>
            </a:extLst>
          </p:cNvPr>
          <p:cNvGraphicFramePr/>
          <p:nvPr>
            <p:extLst>
              <p:ext uri="{D42A27DB-BD31-4B8C-83A1-F6EECF244321}">
                <p14:modId xmlns:p14="http://schemas.microsoft.com/office/powerpoint/2010/main" val="2533333554"/>
              </p:ext>
            </p:extLst>
          </p:nvPr>
        </p:nvGraphicFramePr>
        <p:xfrm>
          <a:off x="397597" y="972737"/>
          <a:ext cx="8348806" cy="402881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15">
            <a:extLst>
              <a:ext uri="{FF2B5EF4-FFF2-40B4-BE49-F238E27FC236}">
                <a16:creationId xmlns:a16="http://schemas.microsoft.com/office/drawing/2014/main" id="{884C742B-6DD1-3A53-7F67-0C695D064BFE}"/>
              </a:ext>
            </a:extLst>
          </p:cNvPr>
          <p:cNvSpPr txBox="1"/>
          <p:nvPr/>
        </p:nvSpPr>
        <p:spPr>
          <a:xfrm>
            <a:off x="5360670" y="4842770"/>
            <a:ext cx="3706836" cy="1477328"/>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1">
            <a:spAutoFit/>
          </a:bodyPr>
          <a:lstStyle/>
          <a:p>
            <a:pPr algn="r" rtl="1"/>
            <a:r>
              <a:rPr lang="he-IL" b="1" u="sng" dirty="0"/>
              <a:t>שאלה 7:</a:t>
            </a:r>
            <a:r>
              <a:rPr lang="he-IL" b="1" dirty="0"/>
              <a:t> </a:t>
            </a:r>
            <a:r>
              <a:rPr lang="he-IL" sz="1800" b="1" u="none" strike="noStrike" dirty="0">
                <a:effectLst/>
              </a:rPr>
              <a:t>קושי להתמודד עם התינוק בלי עזרה: 89%</a:t>
            </a:r>
            <a:r>
              <a:rPr lang="he-IL" b="1" dirty="0"/>
              <a:t>  כן ,11% לא</a:t>
            </a:r>
          </a:p>
          <a:p>
            <a:pPr algn="r" rtl="1"/>
            <a:endParaRPr lang="he-IL" b="1" dirty="0"/>
          </a:p>
          <a:p>
            <a:pPr algn="r" rtl="1"/>
            <a:r>
              <a:rPr lang="he-IL" b="1" u="sng" dirty="0"/>
              <a:t>שאלה 9:</a:t>
            </a:r>
            <a:r>
              <a:rPr lang="he-IL" b="1" dirty="0"/>
              <a:t> </a:t>
            </a:r>
            <a:r>
              <a:rPr lang="he-IL" sz="1800" b="1" u="none" strike="noStrike" dirty="0">
                <a:effectLst/>
              </a:rPr>
              <a:t>חסר לך מידע לטיפול בתינוק/ת?:</a:t>
            </a:r>
            <a:r>
              <a:rPr lang="he-IL" b="1" dirty="0"/>
              <a:t> 70% כן, 30%לא .</a:t>
            </a:r>
          </a:p>
        </p:txBody>
      </p:sp>
      <p:pic>
        <p:nvPicPr>
          <p:cNvPr id="11" name="תמונה 10">
            <a:extLst>
              <a:ext uri="{FF2B5EF4-FFF2-40B4-BE49-F238E27FC236}">
                <a16:creationId xmlns:a16="http://schemas.microsoft.com/office/drawing/2014/main" id="{5801848D-7F51-49E4-90D3-93743768B143}"/>
              </a:ext>
            </a:extLst>
          </p:cNvPr>
          <p:cNvPicPr>
            <a:picLocks noChangeAspect="1"/>
          </p:cNvPicPr>
          <p:nvPr/>
        </p:nvPicPr>
        <p:blipFill>
          <a:blip r:embed="rId3"/>
          <a:stretch>
            <a:fillRect/>
          </a:stretch>
        </p:blipFill>
        <p:spPr>
          <a:xfrm>
            <a:off x="8165794" y="1"/>
            <a:ext cx="978206" cy="782664"/>
          </a:xfrm>
          <a:prstGeom prst="rect">
            <a:avLst/>
          </a:prstGeom>
        </p:spPr>
      </p:pic>
      <p:pic>
        <p:nvPicPr>
          <p:cNvPr id="12" name="תמונה 11">
            <a:extLst>
              <a:ext uri="{FF2B5EF4-FFF2-40B4-BE49-F238E27FC236}">
                <a16:creationId xmlns:a16="http://schemas.microsoft.com/office/drawing/2014/main" id="{A71055F0-2929-4B40-BC8C-37B3227B03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5" name="תיבת טקסט 4">
            <a:extLst>
              <a:ext uri="{FF2B5EF4-FFF2-40B4-BE49-F238E27FC236}">
                <a16:creationId xmlns:a16="http://schemas.microsoft.com/office/drawing/2014/main" id="{BE4E4E94-B082-4F0F-715E-149979580545}"/>
              </a:ext>
            </a:extLst>
          </p:cNvPr>
          <p:cNvSpPr txBox="1"/>
          <p:nvPr/>
        </p:nvSpPr>
        <p:spPr>
          <a:xfrm>
            <a:off x="3178170" y="-89592"/>
            <a:ext cx="533859" cy="253916"/>
          </a:xfrm>
          <a:prstGeom prst="rect">
            <a:avLst/>
          </a:prstGeom>
          <a:noFill/>
        </p:spPr>
        <p:txBody>
          <a:bodyPr wrap="square" rtlCol="1">
            <a:spAutoFit/>
          </a:bodyPr>
          <a:lstStyle/>
          <a:p>
            <a:r>
              <a:rPr lang="en-US" sz="1050" b="1" dirty="0"/>
              <a:t>6</a:t>
            </a:r>
            <a:endParaRPr lang="he-IL" sz="1050" b="1" dirty="0"/>
          </a:p>
        </p:txBody>
      </p:sp>
      <p:sp>
        <p:nvSpPr>
          <p:cNvPr id="6" name="תיבת טקסט 5">
            <a:extLst>
              <a:ext uri="{FF2B5EF4-FFF2-40B4-BE49-F238E27FC236}">
                <a16:creationId xmlns:a16="http://schemas.microsoft.com/office/drawing/2014/main" id="{6C91CFC7-4C77-81AF-6742-DAB6AD5D2F09}"/>
              </a:ext>
            </a:extLst>
          </p:cNvPr>
          <p:cNvSpPr txBox="1"/>
          <p:nvPr/>
        </p:nvSpPr>
        <p:spPr>
          <a:xfrm>
            <a:off x="7430006" y="6468227"/>
            <a:ext cx="1713994" cy="738664"/>
          </a:xfrm>
          <a:prstGeom prst="rect">
            <a:avLst/>
          </a:prstGeom>
          <a:noFill/>
        </p:spPr>
        <p:txBody>
          <a:bodyPr wrap="none" rtlCol="1">
            <a:spAutoFit/>
          </a:bodyPr>
          <a:lstStyle/>
          <a:p>
            <a:pPr algn="r" rtl="1"/>
            <a:r>
              <a:rPr lang="he-IL" sz="1050" dirty="0">
                <a:solidFill>
                  <a:schemeClr val="bg1">
                    <a:lumMod val="50000"/>
                  </a:schemeClr>
                </a:solidFill>
                <a:latin typeface="Arial" panose="020B0604020202020204" pitchFamily="34" charset="0"/>
                <a:cs typeface="Arial" panose="020B0604020202020204" pitchFamily="34" charset="0"/>
              </a:rPr>
              <a:t>6.סקר אימהות ציעורת ,2024</a:t>
            </a:r>
          </a:p>
          <a:p>
            <a:pPr algn="r" rtl="1"/>
            <a:endParaRPr lang="he-IL" sz="1050" dirty="0">
              <a:solidFill>
                <a:schemeClr val="bg1">
                  <a:lumMod val="50000"/>
                </a:schemeClr>
              </a:solidFill>
              <a:highlight>
                <a:srgbClr val="FFFF00"/>
              </a:highlight>
            </a:endParaRPr>
          </a:p>
          <a:p>
            <a:pPr algn="r" rtl="1"/>
            <a:endParaRPr lang="he-IL" sz="1050" dirty="0">
              <a:solidFill>
                <a:schemeClr val="bg1">
                  <a:lumMod val="50000"/>
                </a:schemeClr>
              </a:solidFill>
              <a:highlight>
                <a:srgbClr val="FFFF00"/>
              </a:highlight>
            </a:endParaRPr>
          </a:p>
          <a:p>
            <a:pPr algn="r" rtl="1"/>
            <a:endParaRPr lang="he-IL" sz="1050" dirty="0">
              <a:solidFill>
                <a:schemeClr val="bg1">
                  <a:lumMod val="50000"/>
                </a:schemeClr>
              </a:solidFill>
            </a:endParaRPr>
          </a:p>
        </p:txBody>
      </p:sp>
    </p:spTree>
    <p:extLst>
      <p:ext uri="{BB962C8B-B14F-4D97-AF65-F5344CB8AC3E}">
        <p14:creationId xmlns:p14="http://schemas.microsoft.com/office/powerpoint/2010/main" val="2644208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7" name="מציין מיקום של כותרת תחתונה 8"/>
          <p:cNvSpPr>
            <a:spLocks noGrp="1"/>
          </p:cNvSpPr>
          <p:nvPr>
            <p:ph type="ftr" sz="quarter" idx="11"/>
          </p:nvPr>
        </p:nvSpPr>
        <p:spPr>
          <a:xfrm>
            <a:off x="2832578" y="6494659"/>
            <a:ext cx="3858670" cy="342900"/>
          </a:xfrm>
          <a:noFill/>
        </p:spPr>
        <p:txBody>
          <a:bodyPr/>
          <a:lstStyle/>
          <a:p>
            <a:pPr rtl="1">
              <a:spcBef>
                <a:spcPct val="20000"/>
              </a:spcBef>
            </a:pPr>
            <a:r>
              <a:rPr lang="he-IL" b="1" dirty="0">
                <a:solidFill>
                  <a:schemeClr val="tx1"/>
                </a:solidFill>
              </a:rPr>
              <a:t>אתר אינטרנט לאימהות חדשות במגזר הבדואי                     </a:t>
            </a:r>
            <a:endParaRPr lang="en-US" b="1" dirty="0">
              <a:solidFill>
                <a:schemeClr val="tx1"/>
              </a:solidFill>
            </a:endParaRPr>
          </a:p>
          <a:p>
            <a:pPr rtl="1">
              <a:spcBef>
                <a:spcPct val="20000"/>
              </a:spcBef>
            </a:pPr>
            <a:r>
              <a:rPr lang="en-US" b="1" dirty="0">
                <a:solidFill>
                  <a:schemeClr val="tx1"/>
                </a:solidFill>
              </a:rPr>
              <a:t>Navon-13-2024-sem2</a:t>
            </a:r>
          </a:p>
        </p:txBody>
      </p:sp>
      <p:sp>
        <p:nvSpPr>
          <p:cNvPr id="2" name="Text Box 6">
            <a:extLst>
              <a:ext uri="{FF2B5EF4-FFF2-40B4-BE49-F238E27FC236}">
                <a16:creationId xmlns:a16="http://schemas.microsoft.com/office/drawing/2014/main" id="{0ABD4892-B720-B921-375E-8684C4760AE7}"/>
              </a:ext>
            </a:extLst>
          </p:cNvPr>
          <p:cNvSpPr txBox="1">
            <a:spLocks noChangeArrowheads="1"/>
          </p:cNvSpPr>
          <p:nvPr/>
        </p:nvSpPr>
        <p:spPr bwMode="auto">
          <a:xfrm>
            <a:off x="1007960" y="-54984"/>
            <a:ext cx="7157834" cy="907793"/>
          </a:xfrm>
          <a:prstGeom prst="rect">
            <a:avLst/>
          </a:prstGeom>
          <a:noFill/>
          <a:ln w="9525">
            <a:noFill/>
            <a:miter lim="800000"/>
            <a:headEnd/>
            <a:tailEnd/>
          </a:ln>
        </p:spPr>
        <p:txBody>
          <a:bodyPr lIns="54000" tIns="54000" rIns="54000" bIns="54000" anchor="ctr"/>
          <a:lstStyle>
            <a:defPPr>
              <a:defRPr lang="en-US"/>
            </a:defPPr>
            <a:lvl1pPr algn="ctr" rtl="1">
              <a:lnSpc>
                <a:spcPts val="1400"/>
              </a:lnSpc>
              <a:spcBef>
                <a:spcPct val="50000"/>
              </a:spcBef>
              <a:defRPr sz="2400" b="1" u="sng"/>
            </a:lvl1pPr>
            <a:lvl2pPr marL="457200" algn="r" rtl="1" fontAlgn="base">
              <a:spcBef>
                <a:spcPct val="0"/>
              </a:spcBef>
              <a:spcAft>
                <a:spcPct val="0"/>
              </a:spcAft>
              <a:defRPr kern="1200">
                <a:solidFill>
                  <a:schemeClr val="tx1"/>
                </a:solidFill>
                <a:latin typeface="Arial" pitchFamily="34" charset="0"/>
                <a:ea typeface="+mn-ea"/>
                <a:cs typeface="Arial" pitchFamily="34" charset="0"/>
              </a:defRPr>
            </a:lvl2pPr>
            <a:lvl3pPr marL="914400" algn="r" rtl="1" fontAlgn="base">
              <a:spcBef>
                <a:spcPct val="0"/>
              </a:spcBef>
              <a:spcAft>
                <a:spcPct val="0"/>
              </a:spcAft>
              <a:defRPr kern="1200">
                <a:solidFill>
                  <a:schemeClr val="tx1"/>
                </a:solidFill>
                <a:latin typeface="Arial" pitchFamily="34" charset="0"/>
                <a:ea typeface="+mn-ea"/>
                <a:cs typeface="Arial" pitchFamily="34" charset="0"/>
              </a:defRPr>
            </a:lvl3pPr>
            <a:lvl4pPr marL="1371600" algn="r" rtl="1" fontAlgn="base">
              <a:spcBef>
                <a:spcPct val="0"/>
              </a:spcBef>
              <a:spcAft>
                <a:spcPct val="0"/>
              </a:spcAft>
              <a:defRPr kern="1200">
                <a:solidFill>
                  <a:schemeClr val="tx1"/>
                </a:solidFill>
                <a:latin typeface="Arial" pitchFamily="34" charset="0"/>
                <a:ea typeface="+mn-ea"/>
                <a:cs typeface="Arial" pitchFamily="34" charset="0"/>
              </a:defRPr>
            </a:lvl4pPr>
            <a:lvl5pPr marL="1828800" algn="r" rtl="1" fontAlgn="base">
              <a:spcBef>
                <a:spcPct val="0"/>
              </a:spcBef>
              <a:spcAft>
                <a:spcPct val="0"/>
              </a:spcAft>
              <a:defRPr kern="1200">
                <a:solidFill>
                  <a:schemeClr val="tx1"/>
                </a:solidFill>
                <a:latin typeface="Arial" pitchFamily="34" charset="0"/>
                <a:ea typeface="+mn-ea"/>
                <a:cs typeface="Arial" pitchFamily="34" charset="0"/>
              </a:defRPr>
            </a:lvl5pPr>
            <a:lvl6pPr marL="2286000" algn="r" defTabSz="914400" rtl="1" eaLnBrk="1" latinLnBrk="0" hangingPunct="1">
              <a:defRPr kern="1200">
                <a:solidFill>
                  <a:schemeClr val="tx1"/>
                </a:solidFill>
                <a:latin typeface="Arial" pitchFamily="34" charset="0"/>
                <a:ea typeface="+mn-ea"/>
                <a:cs typeface="Arial" pitchFamily="34" charset="0"/>
              </a:defRPr>
            </a:lvl6pPr>
            <a:lvl7pPr marL="2743200" algn="r" defTabSz="914400" rtl="1" eaLnBrk="1" latinLnBrk="0" hangingPunct="1">
              <a:defRPr kern="1200">
                <a:solidFill>
                  <a:schemeClr val="tx1"/>
                </a:solidFill>
                <a:latin typeface="Arial" pitchFamily="34" charset="0"/>
                <a:ea typeface="+mn-ea"/>
                <a:cs typeface="Arial" pitchFamily="34" charset="0"/>
              </a:defRPr>
            </a:lvl7pPr>
            <a:lvl8pPr marL="3200400" algn="r" defTabSz="914400" rtl="1" eaLnBrk="1" latinLnBrk="0" hangingPunct="1">
              <a:defRPr kern="1200">
                <a:solidFill>
                  <a:schemeClr val="tx1"/>
                </a:solidFill>
                <a:latin typeface="Arial" pitchFamily="34" charset="0"/>
                <a:ea typeface="+mn-ea"/>
                <a:cs typeface="Arial" pitchFamily="34" charset="0"/>
              </a:defRPr>
            </a:lvl8pPr>
            <a:lvl9pPr marL="3657600" algn="r" defTabSz="914400" rtl="1" eaLnBrk="1" latinLnBrk="0" hangingPunct="1">
              <a:defRPr kern="1200">
                <a:solidFill>
                  <a:schemeClr val="tx1"/>
                </a:solidFill>
                <a:latin typeface="Arial" pitchFamily="34" charset="0"/>
                <a:ea typeface="+mn-ea"/>
                <a:cs typeface="Arial" pitchFamily="34" charset="0"/>
              </a:defRPr>
            </a:lvl9pPr>
          </a:lstStyle>
          <a:p>
            <a:r>
              <a:rPr lang="he-IL" dirty="0"/>
              <a:t>תיאור הצורך </a:t>
            </a:r>
            <a:r>
              <a:rPr lang="he-IL" sz="2400" b="1" u="sng" dirty="0">
                <a:latin typeface="Times New Roman" pitchFamily="18" charset="0"/>
              </a:rPr>
              <a:t>באתר אינטרנט-סקר אימהות חדשות</a:t>
            </a:r>
            <a:endParaRPr lang="he-IL" sz="2000" dirty="0"/>
          </a:p>
        </p:txBody>
      </p:sp>
      <p:sp>
        <p:nvSpPr>
          <p:cNvPr id="4" name="מציין מיקום של מספר שקופית 3">
            <a:extLst>
              <a:ext uri="{FF2B5EF4-FFF2-40B4-BE49-F238E27FC236}">
                <a16:creationId xmlns:a16="http://schemas.microsoft.com/office/drawing/2014/main" id="{7D910093-5DBC-3502-47E8-81DFF9F7EAB6}"/>
              </a:ext>
            </a:extLst>
          </p:cNvPr>
          <p:cNvSpPr>
            <a:spLocks noGrp="1"/>
          </p:cNvSpPr>
          <p:nvPr>
            <p:ph type="sldNum" sz="quarter" idx="12"/>
          </p:nvPr>
        </p:nvSpPr>
        <p:spPr>
          <a:xfrm>
            <a:off x="288510" y="6300984"/>
            <a:ext cx="2057400" cy="365125"/>
          </a:xfrm>
        </p:spPr>
        <p:txBody>
          <a:bodyPr/>
          <a:lstStyle/>
          <a:p>
            <a:pPr algn="l"/>
            <a:fld id="{F406CD6C-EFBE-497B-B02F-71827CD8C8E4}" type="slidenum">
              <a:rPr lang="he-IL" smtClean="0"/>
              <a:pPr algn="l"/>
              <a:t>9</a:t>
            </a:fld>
            <a:endParaRPr lang="he-IL"/>
          </a:p>
        </p:txBody>
      </p:sp>
      <p:sp>
        <p:nvSpPr>
          <p:cNvPr id="8" name="תיבת טקסט 7">
            <a:extLst>
              <a:ext uri="{FF2B5EF4-FFF2-40B4-BE49-F238E27FC236}">
                <a16:creationId xmlns:a16="http://schemas.microsoft.com/office/drawing/2014/main" id="{3386145A-7937-C381-74C0-36FC489FCA57}"/>
              </a:ext>
            </a:extLst>
          </p:cNvPr>
          <p:cNvSpPr txBox="1"/>
          <p:nvPr/>
        </p:nvSpPr>
        <p:spPr>
          <a:xfrm>
            <a:off x="868681" y="5271985"/>
            <a:ext cx="3493592" cy="954107"/>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1">
            <a:spAutoFit/>
          </a:bodyPr>
          <a:lstStyle>
            <a:defPPr>
              <a:defRPr lang="en-US"/>
            </a:defPPr>
            <a:lvl1pPr algn="ctr" rtl="1">
              <a:defRPr sz="24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he-IL" sz="1800" b="1" dirty="0"/>
              <a:t>94% השיבו כן-</a:t>
            </a:r>
          </a:p>
          <a:p>
            <a:endParaRPr lang="he-IL" sz="1800" b="1" dirty="0"/>
          </a:p>
          <a:p>
            <a:r>
              <a:rPr lang="he-IL" sz="2000" b="1" dirty="0"/>
              <a:t>אתר ייעודי יכול לסייע</a:t>
            </a:r>
          </a:p>
        </p:txBody>
      </p:sp>
      <p:sp>
        <p:nvSpPr>
          <p:cNvPr id="11" name="תיבת טקסט 10">
            <a:extLst>
              <a:ext uri="{FF2B5EF4-FFF2-40B4-BE49-F238E27FC236}">
                <a16:creationId xmlns:a16="http://schemas.microsoft.com/office/drawing/2014/main" id="{A125EED1-4842-3C57-EB51-0929242E7DCA}"/>
              </a:ext>
            </a:extLst>
          </p:cNvPr>
          <p:cNvSpPr txBox="1"/>
          <p:nvPr/>
        </p:nvSpPr>
        <p:spPr>
          <a:xfrm>
            <a:off x="842448" y="727012"/>
            <a:ext cx="3493592" cy="1015663"/>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1">
            <a:spAutoFit/>
          </a:bodyPr>
          <a:lstStyle>
            <a:defPPr>
              <a:defRPr lang="en-US"/>
            </a:defPPr>
            <a:lvl1pPr algn="ctr" rtl="1">
              <a:defRPr sz="24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he-IL" sz="2000" b="1" dirty="0"/>
              <a:t>שאלה 11:</a:t>
            </a:r>
          </a:p>
          <a:p>
            <a:r>
              <a:rPr lang="he-IL" sz="2000" b="1" dirty="0"/>
              <a:t>האם אתר אינטרנט ייעודי יכול לסייע לאימהות חדשות? </a:t>
            </a:r>
          </a:p>
        </p:txBody>
      </p:sp>
      <p:sp>
        <p:nvSpPr>
          <p:cNvPr id="12" name="תיבת טקסט 11">
            <a:extLst>
              <a:ext uri="{FF2B5EF4-FFF2-40B4-BE49-F238E27FC236}">
                <a16:creationId xmlns:a16="http://schemas.microsoft.com/office/drawing/2014/main" id="{7F522016-92AE-988F-9301-26F3640705D5}"/>
              </a:ext>
            </a:extLst>
          </p:cNvPr>
          <p:cNvSpPr txBox="1"/>
          <p:nvPr/>
        </p:nvSpPr>
        <p:spPr>
          <a:xfrm>
            <a:off x="4761913" y="747479"/>
            <a:ext cx="3609703" cy="1015663"/>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1">
            <a:spAutoFit/>
          </a:bodyPr>
          <a:lstStyle>
            <a:defPPr>
              <a:defRPr lang="en-US"/>
            </a:defPPr>
            <a:lvl1pPr algn="ctr" rtl="1">
              <a:defRPr sz="24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ctr" rtl="1"/>
            <a:r>
              <a:rPr lang="he-IL" sz="2000" b="1" dirty="0">
                <a:solidFill>
                  <a:schemeClr val="dk1"/>
                </a:solidFill>
              </a:rPr>
              <a:t>שאלה 10: </a:t>
            </a:r>
          </a:p>
          <a:p>
            <a:pPr algn="ctr" rtl="1"/>
            <a:r>
              <a:rPr lang="he-IL" sz="2000" b="1" dirty="0">
                <a:solidFill>
                  <a:schemeClr val="dk1"/>
                </a:solidFill>
              </a:rPr>
              <a:t>היכן מחפשת מידע על טיפול בתינוק/ת?</a:t>
            </a:r>
          </a:p>
        </p:txBody>
      </p:sp>
      <p:sp>
        <p:nvSpPr>
          <p:cNvPr id="13" name="תיבת טקסט 12">
            <a:extLst>
              <a:ext uri="{FF2B5EF4-FFF2-40B4-BE49-F238E27FC236}">
                <a16:creationId xmlns:a16="http://schemas.microsoft.com/office/drawing/2014/main" id="{8E903C04-4E44-8645-CA4C-CD62FF1C3E10}"/>
              </a:ext>
            </a:extLst>
          </p:cNvPr>
          <p:cNvSpPr txBox="1"/>
          <p:nvPr/>
        </p:nvSpPr>
        <p:spPr>
          <a:xfrm>
            <a:off x="4954673" y="5271985"/>
            <a:ext cx="3609703" cy="923330"/>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1">
            <a:spAutoFit/>
          </a:bodyPr>
          <a:lstStyle>
            <a:defPPr>
              <a:defRPr lang="en-US"/>
            </a:defPPr>
            <a:lvl1pPr algn="ctr" rtl="1">
              <a:defRPr sz="1400">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r"/>
            <a:r>
              <a:rPr lang="he-IL" sz="1800" b="1" dirty="0"/>
              <a:t>84% נעזרות בקרובי משפחה </a:t>
            </a:r>
          </a:p>
          <a:p>
            <a:pPr algn="r"/>
            <a:r>
              <a:rPr lang="he-IL" sz="1800" b="1" dirty="0"/>
              <a:t>7% בחברים ו-9% באחר</a:t>
            </a:r>
          </a:p>
          <a:p>
            <a:pPr algn="r"/>
            <a:r>
              <a:rPr lang="he-IL" sz="1800" b="1" dirty="0"/>
              <a:t>(מרפאה, אינטרנט, טיפת חלב, רופא)</a:t>
            </a:r>
          </a:p>
        </p:txBody>
      </p:sp>
      <p:graphicFrame>
        <p:nvGraphicFramePr>
          <p:cNvPr id="14" name="תרשים 13">
            <a:extLst>
              <a:ext uri="{FF2B5EF4-FFF2-40B4-BE49-F238E27FC236}">
                <a16:creationId xmlns:a16="http://schemas.microsoft.com/office/drawing/2014/main" id="{BEEAA195-1928-4E2F-9D34-555DE78F4636}"/>
              </a:ext>
            </a:extLst>
          </p:cNvPr>
          <p:cNvGraphicFramePr/>
          <p:nvPr>
            <p:extLst>
              <p:ext uri="{D42A27DB-BD31-4B8C-83A1-F6EECF244321}">
                <p14:modId xmlns:p14="http://schemas.microsoft.com/office/powerpoint/2010/main" val="2273736259"/>
              </p:ext>
            </p:extLst>
          </p:nvPr>
        </p:nvGraphicFramePr>
        <p:xfrm>
          <a:off x="4569151" y="1810867"/>
          <a:ext cx="3995225" cy="381796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תרשים 16">
            <a:extLst>
              <a:ext uri="{FF2B5EF4-FFF2-40B4-BE49-F238E27FC236}">
                <a16:creationId xmlns:a16="http://schemas.microsoft.com/office/drawing/2014/main" id="{6E114E8A-BAD1-4623-AC87-545A2B6EE0E5}"/>
              </a:ext>
            </a:extLst>
          </p:cNvPr>
          <p:cNvGraphicFramePr/>
          <p:nvPr>
            <p:extLst>
              <p:ext uri="{D42A27DB-BD31-4B8C-83A1-F6EECF244321}">
                <p14:modId xmlns:p14="http://schemas.microsoft.com/office/powerpoint/2010/main" val="2086557887"/>
              </p:ext>
            </p:extLst>
          </p:nvPr>
        </p:nvGraphicFramePr>
        <p:xfrm>
          <a:off x="847966" y="1733010"/>
          <a:ext cx="3493592" cy="3778534"/>
        </p:xfrm>
        <a:graphic>
          <a:graphicData uri="http://schemas.openxmlformats.org/drawingml/2006/chart">
            <c:chart xmlns:c="http://schemas.openxmlformats.org/drawingml/2006/chart" xmlns:r="http://schemas.openxmlformats.org/officeDocument/2006/relationships" r:id="rId4"/>
          </a:graphicData>
        </a:graphic>
      </p:graphicFrame>
      <p:pic>
        <p:nvPicPr>
          <p:cNvPr id="15" name="תמונה 14">
            <a:extLst>
              <a:ext uri="{FF2B5EF4-FFF2-40B4-BE49-F238E27FC236}">
                <a16:creationId xmlns:a16="http://schemas.microsoft.com/office/drawing/2014/main" id="{3009EC7E-3E87-4610-81C5-C0BDEF39D5AE}"/>
              </a:ext>
            </a:extLst>
          </p:cNvPr>
          <p:cNvPicPr>
            <a:picLocks noChangeAspect="1"/>
          </p:cNvPicPr>
          <p:nvPr/>
        </p:nvPicPr>
        <p:blipFill>
          <a:blip r:embed="rId5"/>
          <a:stretch>
            <a:fillRect/>
          </a:stretch>
        </p:blipFill>
        <p:spPr>
          <a:xfrm>
            <a:off x="8165794" y="1"/>
            <a:ext cx="978206" cy="782664"/>
          </a:xfrm>
          <a:prstGeom prst="rect">
            <a:avLst/>
          </a:prstGeom>
        </p:spPr>
      </p:pic>
      <p:pic>
        <p:nvPicPr>
          <p:cNvPr id="16" name="תמונה 15">
            <a:extLst>
              <a:ext uri="{FF2B5EF4-FFF2-40B4-BE49-F238E27FC236}">
                <a16:creationId xmlns:a16="http://schemas.microsoft.com/office/drawing/2014/main" id="{F3C336FB-1D7E-4736-922D-EFF9D209379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 name="תיבת טקסט 2">
            <a:extLst>
              <a:ext uri="{FF2B5EF4-FFF2-40B4-BE49-F238E27FC236}">
                <a16:creationId xmlns:a16="http://schemas.microsoft.com/office/drawing/2014/main" id="{6861A1F6-4631-FD49-4288-3FC2E9E17DFC}"/>
              </a:ext>
            </a:extLst>
          </p:cNvPr>
          <p:cNvSpPr txBox="1"/>
          <p:nvPr/>
        </p:nvSpPr>
        <p:spPr>
          <a:xfrm>
            <a:off x="3426944" y="20441"/>
            <a:ext cx="448370" cy="253916"/>
          </a:xfrm>
          <a:prstGeom prst="rect">
            <a:avLst/>
          </a:prstGeom>
          <a:noFill/>
        </p:spPr>
        <p:txBody>
          <a:bodyPr wrap="square" rtlCol="1">
            <a:spAutoFit/>
          </a:bodyPr>
          <a:lstStyle/>
          <a:p>
            <a:r>
              <a:rPr lang="en-US" sz="1050" b="1" dirty="0"/>
              <a:t>6</a:t>
            </a:r>
            <a:endParaRPr lang="he-IL" sz="1050" b="1" dirty="0"/>
          </a:p>
        </p:txBody>
      </p:sp>
      <p:sp>
        <p:nvSpPr>
          <p:cNvPr id="5" name="תיבת טקסט 4">
            <a:extLst>
              <a:ext uri="{FF2B5EF4-FFF2-40B4-BE49-F238E27FC236}">
                <a16:creationId xmlns:a16="http://schemas.microsoft.com/office/drawing/2014/main" id="{1E1028C6-2C55-84E7-38DA-471E0A08B239}"/>
              </a:ext>
            </a:extLst>
          </p:cNvPr>
          <p:cNvSpPr txBox="1"/>
          <p:nvPr/>
        </p:nvSpPr>
        <p:spPr>
          <a:xfrm>
            <a:off x="7365396" y="6402225"/>
            <a:ext cx="1713994" cy="738664"/>
          </a:xfrm>
          <a:prstGeom prst="rect">
            <a:avLst/>
          </a:prstGeom>
          <a:noFill/>
        </p:spPr>
        <p:txBody>
          <a:bodyPr wrap="none" rtlCol="1">
            <a:spAutoFit/>
          </a:bodyPr>
          <a:lstStyle/>
          <a:p>
            <a:pPr algn="r" rtl="1"/>
            <a:r>
              <a:rPr lang="he-IL" sz="1050" dirty="0">
                <a:solidFill>
                  <a:schemeClr val="bg1">
                    <a:lumMod val="50000"/>
                  </a:schemeClr>
                </a:solidFill>
                <a:latin typeface="Arial" panose="020B0604020202020204" pitchFamily="34" charset="0"/>
                <a:cs typeface="Arial" panose="020B0604020202020204" pitchFamily="34" charset="0"/>
              </a:rPr>
              <a:t>6.סקר אימהות ציעורת ,2024</a:t>
            </a:r>
          </a:p>
          <a:p>
            <a:pPr algn="r" rtl="1"/>
            <a:endParaRPr lang="he-IL" sz="1050" dirty="0">
              <a:solidFill>
                <a:schemeClr val="bg1">
                  <a:lumMod val="50000"/>
                </a:schemeClr>
              </a:solidFill>
              <a:highlight>
                <a:srgbClr val="FFFF00"/>
              </a:highlight>
            </a:endParaRPr>
          </a:p>
          <a:p>
            <a:pPr algn="r" rtl="1"/>
            <a:endParaRPr lang="he-IL" sz="1050" dirty="0">
              <a:solidFill>
                <a:schemeClr val="bg1">
                  <a:lumMod val="50000"/>
                </a:schemeClr>
              </a:solidFill>
              <a:highlight>
                <a:srgbClr val="FFFF00"/>
              </a:highlight>
            </a:endParaRPr>
          </a:p>
          <a:p>
            <a:pPr algn="r" rtl="1"/>
            <a:endParaRPr lang="he-IL" sz="1050" dirty="0">
              <a:solidFill>
                <a:schemeClr val="bg1">
                  <a:lumMod val="50000"/>
                </a:schemeClr>
              </a:solidFill>
            </a:endParaRPr>
          </a:p>
        </p:txBody>
      </p:sp>
    </p:spTree>
    <p:extLst>
      <p:ext uri="{BB962C8B-B14F-4D97-AF65-F5344CB8AC3E}">
        <p14:creationId xmlns:p14="http://schemas.microsoft.com/office/powerpoint/2010/main" val="293427646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7" name="מציין מיקום של כותרת תחתונה 8"/>
          <p:cNvSpPr>
            <a:spLocks noGrp="1"/>
          </p:cNvSpPr>
          <p:nvPr>
            <p:ph type="ftr" sz="quarter" idx="11"/>
          </p:nvPr>
        </p:nvSpPr>
        <p:spPr>
          <a:xfrm>
            <a:off x="2832578" y="6494659"/>
            <a:ext cx="3858670" cy="342900"/>
          </a:xfrm>
          <a:noFill/>
        </p:spPr>
        <p:txBody>
          <a:bodyPr/>
          <a:lstStyle/>
          <a:p>
            <a:pPr rtl="1">
              <a:spcBef>
                <a:spcPct val="20000"/>
              </a:spcBef>
            </a:pPr>
            <a:r>
              <a:rPr lang="he-IL" b="1" dirty="0">
                <a:solidFill>
                  <a:schemeClr val="tx1"/>
                </a:solidFill>
              </a:rPr>
              <a:t>אתר אינטרנט לאימהות חדשות במגזר הבדואי                     </a:t>
            </a:r>
            <a:endParaRPr lang="en-US" b="1" dirty="0">
              <a:solidFill>
                <a:schemeClr val="tx1"/>
              </a:solidFill>
            </a:endParaRPr>
          </a:p>
          <a:p>
            <a:pPr rtl="1">
              <a:spcBef>
                <a:spcPct val="20000"/>
              </a:spcBef>
            </a:pPr>
            <a:r>
              <a:rPr lang="en-US" b="1" dirty="0">
                <a:solidFill>
                  <a:schemeClr val="tx1"/>
                </a:solidFill>
              </a:rPr>
              <a:t>Navon-13-2024-sem2</a:t>
            </a:r>
          </a:p>
        </p:txBody>
      </p:sp>
      <p:sp>
        <p:nvSpPr>
          <p:cNvPr id="2" name="TextBox 5">
            <a:extLst>
              <a:ext uri="{FF2B5EF4-FFF2-40B4-BE49-F238E27FC236}">
                <a16:creationId xmlns:a16="http://schemas.microsoft.com/office/drawing/2014/main" id="{F945C521-9F72-7C61-D706-C915BFBAF614}"/>
              </a:ext>
            </a:extLst>
          </p:cNvPr>
          <p:cNvSpPr txBox="1">
            <a:spLocks noChangeArrowheads="1"/>
          </p:cNvSpPr>
          <p:nvPr/>
        </p:nvSpPr>
        <p:spPr bwMode="auto">
          <a:xfrm>
            <a:off x="1867301" y="382253"/>
            <a:ext cx="5715000" cy="461665"/>
          </a:xfrm>
          <a:prstGeom prst="rect">
            <a:avLst/>
          </a:prstGeom>
          <a:noFill/>
          <a:ln w="9525">
            <a:noFill/>
            <a:miter lim="800000"/>
            <a:headEnd/>
            <a:tailEnd/>
          </a:ln>
        </p:spPr>
        <p:txBody>
          <a:bodyPr>
            <a:spAutoFit/>
          </a:bodyPr>
          <a:lstStyle>
            <a:defPPr>
              <a:defRPr lang="he-IL"/>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57200" algn="r" rtl="1" fontAlgn="base">
              <a:spcBef>
                <a:spcPct val="0"/>
              </a:spcBef>
              <a:spcAft>
                <a:spcPct val="0"/>
              </a:spcAft>
              <a:defRPr kern="1200">
                <a:solidFill>
                  <a:schemeClr val="tx1"/>
                </a:solidFill>
                <a:latin typeface="Arial" pitchFamily="34" charset="0"/>
                <a:ea typeface="+mn-ea"/>
                <a:cs typeface="Arial" pitchFamily="34" charset="0"/>
              </a:defRPr>
            </a:lvl2pPr>
            <a:lvl3pPr marL="914400" algn="r" rtl="1" fontAlgn="base">
              <a:spcBef>
                <a:spcPct val="0"/>
              </a:spcBef>
              <a:spcAft>
                <a:spcPct val="0"/>
              </a:spcAft>
              <a:defRPr kern="1200">
                <a:solidFill>
                  <a:schemeClr val="tx1"/>
                </a:solidFill>
                <a:latin typeface="Arial" pitchFamily="34" charset="0"/>
                <a:ea typeface="+mn-ea"/>
                <a:cs typeface="Arial" pitchFamily="34" charset="0"/>
              </a:defRPr>
            </a:lvl3pPr>
            <a:lvl4pPr marL="1371600" algn="r" rtl="1" fontAlgn="base">
              <a:spcBef>
                <a:spcPct val="0"/>
              </a:spcBef>
              <a:spcAft>
                <a:spcPct val="0"/>
              </a:spcAft>
              <a:defRPr kern="1200">
                <a:solidFill>
                  <a:schemeClr val="tx1"/>
                </a:solidFill>
                <a:latin typeface="Arial" pitchFamily="34" charset="0"/>
                <a:ea typeface="+mn-ea"/>
                <a:cs typeface="Arial" pitchFamily="34" charset="0"/>
              </a:defRPr>
            </a:lvl4pPr>
            <a:lvl5pPr marL="1828800" algn="r" rtl="1" fontAlgn="base">
              <a:spcBef>
                <a:spcPct val="0"/>
              </a:spcBef>
              <a:spcAft>
                <a:spcPct val="0"/>
              </a:spcAft>
              <a:defRPr kern="1200">
                <a:solidFill>
                  <a:schemeClr val="tx1"/>
                </a:solidFill>
                <a:latin typeface="Arial" pitchFamily="34" charset="0"/>
                <a:ea typeface="+mn-ea"/>
                <a:cs typeface="Arial" pitchFamily="34" charset="0"/>
              </a:defRPr>
            </a:lvl5pPr>
            <a:lvl6pPr marL="2286000" algn="r" defTabSz="914400" rtl="1" eaLnBrk="1" latinLnBrk="0" hangingPunct="1">
              <a:defRPr kern="1200">
                <a:solidFill>
                  <a:schemeClr val="tx1"/>
                </a:solidFill>
                <a:latin typeface="Arial" pitchFamily="34" charset="0"/>
                <a:ea typeface="+mn-ea"/>
                <a:cs typeface="Arial" pitchFamily="34" charset="0"/>
              </a:defRPr>
            </a:lvl6pPr>
            <a:lvl7pPr marL="2743200" algn="r" defTabSz="914400" rtl="1" eaLnBrk="1" latinLnBrk="0" hangingPunct="1">
              <a:defRPr kern="1200">
                <a:solidFill>
                  <a:schemeClr val="tx1"/>
                </a:solidFill>
                <a:latin typeface="Arial" pitchFamily="34" charset="0"/>
                <a:ea typeface="+mn-ea"/>
                <a:cs typeface="Arial" pitchFamily="34" charset="0"/>
              </a:defRPr>
            </a:lvl7pPr>
            <a:lvl8pPr marL="3200400" algn="r" defTabSz="914400" rtl="1" eaLnBrk="1" latinLnBrk="0" hangingPunct="1">
              <a:defRPr kern="1200">
                <a:solidFill>
                  <a:schemeClr val="tx1"/>
                </a:solidFill>
                <a:latin typeface="Arial" pitchFamily="34" charset="0"/>
                <a:ea typeface="+mn-ea"/>
                <a:cs typeface="Arial" pitchFamily="34" charset="0"/>
              </a:defRPr>
            </a:lvl8pPr>
            <a:lvl9pPr marL="3657600" algn="r" defTabSz="914400" rtl="1" eaLnBrk="1" latinLnBrk="0" hangingPunct="1">
              <a:defRPr kern="1200">
                <a:solidFill>
                  <a:schemeClr val="tx1"/>
                </a:solidFill>
                <a:latin typeface="Arial" pitchFamily="34" charset="0"/>
                <a:ea typeface="+mn-ea"/>
                <a:cs typeface="Arial" pitchFamily="34" charset="0"/>
              </a:defRPr>
            </a:lvl9pPr>
          </a:lstStyle>
          <a:p>
            <a:pPr algn="ctr"/>
            <a:r>
              <a:rPr lang="he-IL" sz="2400" b="1" u="sng" dirty="0">
                <a:latin typeface="Calibri" pitchFamily="34" charset="0"/>
              </a:rPr>
              <a:t>הפרויקט</a:t>
            </a:r>
          </a:p>
        </p:txBody>
      </p:sp>
      <p:sp>
        <p:nvSpPr>
          <p:cNvPr id="4" name="TextBox 17">
            <a:extLst>
              <a:ext uri="{FF2B5EF4-FFF2-40B4-BE49-F238E27FC236}">
                <a16:creationId xmlns:a16="http://schemas.microsoft.com/office/drawing/2014/main" id="{80905EFE-8F68-83E6-424D-61600C74B35C}"/>
              </a:ext>
            </a:extLst>
          </p:cNvPr>
          <p:cNvSpPr txBox="1"/>
          <p:nvPr/>
        </p:nvSpPr>
        <p:spPr>
          <a:xfrm>
            <a:off x="384542" y="1005510"/>
            <a:ext cx="8470948" cy="1427635"/>
          </a:xfrm>
          <a:prstGeom prst="rect">
            <a:avLst/>
          </a:prstGeom>
          <a:noFill/>
        </p:spPr>
        <p:txBody>
          <a:bodyPr wrap="square" rtlCol="1">
            <a:spAutoFit/>
          </a:bodyPr>
          <a:lstStyle/>
          <a:p>
            <a:pPr algn="just" rtl="1">
              <a:lnSpc>
                <a:spcPct val="150000"/>
              </a:lnSpc>
            </a:pPr>
            <a:r>
              <a:rPr lang="he-IL" sz="2000" b="1" u="sng" dirty="0"/>
              <a:t>מטרה עיקרית</a:t>
            </a:r>
          </a:p>
          <a:p>
            <a:pPr marL="285750" indent="-285750" algn="just" rtl="1">
              <a:lnSpc>
                <a:spcPct val="150000"/>
              </a:lnSpc>
              <a:buFont typeface="Arial" panose="020B0604020202020204" pitchFamily="34" charset="0"/>
              <a:buChar char="•"/>
            </a:pPr>
            <a:r>
              <a:rPr lang="he-IL" sz="2000" dirty="0"/>
              <a:t>הקמת אתר אינטרנט לאימהות חדשות</a:t>
            </a:r>
          </a:p>
          <a:p>
            <a:pPr marL="285750" indent="-285750" algn="just" rtl="1">
              <a:lnSpc>
                <a:spcPct val="150000"/>
              </a:lnSpc>
              <a:buFont typeface="Arial" panose="020B0604020202020204" pitchFamily="34" charset="0"/>
              <a:buChar char="•"/>
            </a:pPr>
            <a:r>
              <a:rPr lang="he-IL" sz="2000" dirty="0"/>
              <a:t>בנית אב טיפוס</a:t>
            </a:r>
            <a:endParaRPr lang="en-US" sz="2000" dirty="0"/>
          </a:p>
        </p:txBody>
      </p:sp>
      <p:sp>
        <p:nvSpPr>
          <p:cNvPr id="5" name="TextBox 18">
            <a:extLst>
              <a:ext uri="{FF2B5EF4-FFF2-40B4-BE49-F238E27FC236}">
                <a16:creationId xmlns:a16="http://schemas.microsoft.com/office/drawing/2014/main" id="{F6B6853D-A2B4-EF73-61DA-5FC3294BBE2D}"/>
              </a:ext>
            </a:extLst>
          </p:cNvPr>
          <p:cNvSpPr txBox="1"/>
          <p:nvPr/>
        </p:nvSpPr>
        <p:spPr>
          <a:xfrm>
            <a:off x="1246803" y="2756817"/>
            <a:ext cx="7561770" cy="2805320"/>
          </a:xfrm>
          <a:prstGeom prst="rect">
            <a:avLst/>
          </a:prstGeom>
          <a:noFill/>
        </p:spPr>
        <p:txBody>
          <a:bodyPr wrap="square" rtlCol="1">
            <a:spAutoFit/>
          </a:bodyPr>
          <a:lstStyle/>
          <a:p>
            <a:pPr algn="r" rtl="1">
              <a:lnSpc>
                <a:spcPct val="150000"/>
              </a:lnSpc>
            </a:pPr>
            <a:r>
              <a:rPr lang="he-IL" sz="2000" b="1" u="sng" dirty="0"/>
              <a:t>תהליכי עבודה-תיחום</a:t>
            </a:r>
          </a:p>
          <a:p>
            <a:pPr marL="285750" indent="-285750" algn="r" rtl="1">
              <a:lnSpc>
                <a:spcPct val="150000"/>
              </a:lnSpc>
              <a:buFont typeface="Arial" panose="020B0604020202020204" pitchFamily="34" charset="0"/>
              <a:buChar char="•"/>
            </a:pPr>
            <a:r>
              <a:rPr lang="he-IL" sz="2000" dirty="0"/>
              <a:t>חיפוש מידע בקטגוריה ספציפית</a:t>
            </a:r>
          </a:p>
          <a:p>
            <a:pPr marL="285750" indent="-285750" algn="r" rtl="1">
              <a:lnSpc>
                <a:spcPct val="150000"/>
              </a:lnSpc>
              <a:buFont typeface="Arial" panose="020B0604020202020204" pitchFamily="34" charset="0"/>
              <a:buChar char="•"/>
            </a:pPr>
            <a:r>
              <a:rPr lang="he-IL" sz="2000" dirty="0"/>
              <a:t>ניהול קשר עם אימהות אחרות- עתידי</a:t>
            </a:r>
          </a:p>
          <a:p>
            <a:pPr algn="r" rtl="1">
              <a:lnSpc>
                <a:spcPct val="150000"/>
              </a:lnSpc>
            </a:pPr>
            <a:r>
              <a:rPr lang="he-IL" sz="2000" b="1" u="sng" dirty="0"/>
              <a:t>מדדי הצלחה ארגוניים או עסקיים</a:t>
            </a:r>
          </a:p>
          <a:p>
            <a:pPr marL="285750" indent="-285750" algn="r" rtl="1">
              <a:lnSpc>
                <a:spcPct val="150000"/>
              </a:lnSpc>
              <a:buFont typeface="Arial" panose="020B0604020202020204" pitchFamily="34" charset="0"/>
              <a:buChar char="•"/>
            </a:pPr>
            <a:r>
              <a:rPr lang="he-IL" sz="2000" dirty="0"/>
              <a:t>תוך חצי שנה כניסה של  מעל 1000 איש לאתר.</a:t>
            </a:r>
          </a:p>
          <a:p>
            <a:pPr marL="285750" indent="-285750" algn="r" rtl="1">
              <a:lnSpc>
                <a:spcPct val="150000"/>
              </a:lnSpc>
              <a:buFont typeface="Arial" panose="020B0604020202020204" pitchFamily="34" charset="0"/>
              <a:buChar char="•"/>
            </a:pPr>
            <a:r>
              <a:rPr lang="he-IL" sz="2000" dirty="0"/>
              <a:t>איתור משקיע להקמת האתר לאחר פיילוט</a:t>
            </a:r>
          </a:p>
        </p:txBody>
      </p:sp>
      <p:sp>
        <p:nvSpPr>
          <p:cNvPr id="6" name="מציין מיקום של מספר שקופית 5">
            <a:extLst>
              <a:ext uri="{FF2B5EF4-FFF2-40B4-BE49-F238E27FC236}">
                <a16:creationId xmlns:a16="http://schemas.microsoft.com/office/drawing/2014/main" id="{36DF479B-089B-AEB3-AFF0-685A75B7AB23}"/>
              </a:ext>
            </a:extLst>
          </p:cNvPr>
          <p:cNvSpPr>
            <a:spLocks noGrp="1"/>
          </p:cNvSpPr>
          <p:nvPr>
            <p:ph type="sldNum" sz="quarter" idx="12"/>
          </p:nvPr>
        </p:nvSpPr>
        <p:spPr>
          <a:xfrm>
            <a:off x="218103" y="6354622"/>
            <a:ext cx="2057400" cy="365125"/>
          </a:xfrm>
        </p:spPr>
        <p:txBody>
          <a:bodyPr/>
          <a:lstStyle/>
          <a:p>
            <a:pPr algn="l"/>
            <a:fld id="{F406CD6C-EFBE-497B-B02F-71827CD8C8E4}" type="slidenum">
              <a:rPr lang="he-IL" smtClean="0"/>
              <a:pPr algn="l"/>
              <a:t>10</a:t>
            </a:fld>
            <a:endParaRPr lang="he-IL"/>
          </a:p>
        </p:txBody>
      </p:sp>
      <p:pic>
        <p:nvPicPr>
          <p:cNvPr id="9" name="תמונה 8">
            <a:extLst>
              <a:ext uri="{FF2B5EF4-FFF2-40B4-BE49-F238E27FC236}">
                <a16:creationId xmlns:a16="http://schemas.microsoft.com/office/drawing/2014/main" id="{1FB2374C-91D7-4F76-B3AF-B2771A0CA3A3}"/>
              </a:ext>
            </a:extLst>
          </p:cNvPr>
          <p:cNvPicPr>
            <a:picLocks noChangeAspect="1"/>
          </p:cNvPicPr>
          <p:nvPr/>
        </p:nvPicPr>
        <p:blipFill>
          <a:blip r:embed="rId3"/>
          <a:stretch>
            <a:fillRect/>
          </a:stretch>
        </p:blipFill>
        <p:spPr>
          <a:xfrm>
            <a:off x="8165794" y="1"/>
            <a:ext cx="978206" cy="782664"/>
          </a:xfrm>
          <a:prstGeom prst="rect">
            <a:avLst/>
          </a:prstGeom>
        </p:spPr>
      </p:pic>
      <p:pic>
        <p:nvPicPr>
          <p:cNvPr id="10" name="תמונה 9">
            <a:extLst>
              <a:ext uri="{FF2B5EF4-FFF2-40B4-BE49-F238E27FC236}">
                <a16:creationId xmlns:a16="http://schemas.microsoft.com/office/drawing/2014/main" id="{C4CDA07E-3005-4C01-A7DB-2C75F32615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626787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7" name="מציין מיקום של כותרת תחתונה 8"/>
          <p:cNvSpPr>
            <a:spLocks noGrp="1"/>
          </p:cNvSpPr>
          <p:nvPr>
            <p:ph type="ftr" sz="quarter" idx="11"/>
          </p:nvPr>
        </p:nvSpPr>
        <p:spPr>
          <a:xfrm>
            <a:off x="2832578" y="6494659"/>
            <a:ext cx="3858670" cy="342900"/>
          </a:xfrm>
          <a:noFill/>
        </p:spPr>
        <p:txBody>
          <a:bodyPr/>
          <a:lstStyle/>
          <a:p>
            <a:pPr rtl="1">
              <a:spcBef>
                <a:spcPct val="20000"/>
              </a:spcBef>
            </a:pPr>
            <a:r>
              <a:rPr lang="he-IL" b="1" dirty="0">
                <a:solidFill>
                  <a:schemeClr val="tx1"/>
                </a:solidFill>
              </a:rPr>
              <a:t>אתר אינטרנט לאימהות חדשות במגזר הבדואי                     </a:t>
            </a:r>
            <a:endParaRPr lang="en-US" b="1" dirty="0">
              <a:solidFill>
                <a:schemeClr val="tx1"/>
              </a:solidFill>
            </a:endParaRPr>
          </a:p>
          <a:p>
            <a:pPr rtl="1">
              <a:spcBef>
                <a:spcPct val="20000"/>
              </a:spcBef>
            </a:pPr>
            <a:r>
              <a:rPr lang="en-US" b="1" dirty="0">
                <a:solidFill>
                  <a:schemeClr val="tx1"/>
                </a:solidFill>
              </a:rPr>
              <a:t>Navon-13-2024-sem2</a:t>
            </a:r>
          </a:p>
        </p:txBody>
      </p:sp>
      <p:sp>
        <p:nvSpPr>
          <p:cNvPr id="2" name="TextBox 5">
            <a:extLst>
              <a:ext uri="{FF2B5EF4-FFF2-40B4-BE49-F238E27FC236}">
                <a16:creationId xmlns:a16="http://schemas.microsoft.com/office/drawing/2014/main" id="{D46FC529-1679-22B8-1A62-16D557943458}"/>
              </a:ext>
            </a:extLst>
          </p:cNvPr>
          <p:cNvSpPr txBox="1">
            <a:spLocks noChangeArrowheads="1"/>
          </p:cNvSpPr>
          <p:nvPr/>
        </p:nvSpPr>
        <p:spPr bwMode="auto">
          <a:xfrm>
            <a:off x="1904413" y="116851"/>
            <a:ext cx="5715000" cy="461665"/>
          </a:xfrm>
          <a:prstGeom prst="rect">
            <a:avLst/>
          </a:prstGeom>
          <a:noFill/>
          <a:ln w="9525">
            <a:noFill/>
            <a:miter lim="800000"/>
            <a:headEnd/>
            <a:tailEnd/>
          </a:ln>
        </p:spPr>
        <p:txBody>
          <a:bodyPr>
            <a:spAutoFit/>
          </a:bodyPr>
          <a:lstStyle>
            <a:defPPr>
              <a:defRPr lang="he-IL"/>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57200" algn="r" rtl="1" fontAlgn="base">
              <a:spcBef>
                <a:spcPct val="0"/>
              </a:spcBef>
              <a:spcAft>
                <a:spcPct val="0"/>
              </a:spcAft>
              <a:defRPr kern="1200">
                <a:solidFill>
                  <a:schemeClr val="tx1"/>
                </a:solidFill>
                <a:latin typeface="Arial" pitchFamily="34" charset="0"/>
                <a:ea typeface="+mn-ea"/>
                <a:cs typeface="Arial" pitchFamily="34" charset="0"/>
              </a:defRPr>
            </a:lvl2pPr>
            <a:lvl3pPr marL="914400" algn="r" rtl="1" fontAlgn="base">
              <a:spcBef>
                <a:spcPct val="0"/>
              </a:spcBef>
              <a:spcAft>
                <a:spcPct val="0"/>
              </a:spcAft>
              <a:defRPr kern="1200">
                <a:solidFill>
                  <a:schemeClr val="tx1"/>
                </a:solidFill>
                <a:latin typeface="Arial" pitchFamily="34" charset="0"/>
                <a:ea typeface="+mn-ea"/>
                <a:cs typeface="Arial" pitchFamily="34" charset="0"/>
              </a:defRPr>
            </a:lvl3pPr>
            <a:lvl4pPr marL="1371600" algn="r" rtl="1" fontAlgn="base">
              <a:spcBef>
                <a:spcPct val="0"/>
              </a:spcBef>
              <a:spcAft>
                <a:spcPct val="0"/>
              </a:spcAft>
              <a:defRPr kern="1200">
                <a:solidFill>
                  <a:schemeClr val="tx1"/>
                </a:solidFill>
                <a:latin typeface="Arial" pitchFamily="34" charset="0"/>
                <a:ea typeface="+mn-ea"/>
                <a:cs typeface="Arial" pitchFamily="34" charset="0"/>
              </a:defRPr>
            </a:lvl4pPr>
            <a:lvl5pPr marL="1828800" algn="r" rtl="1" fontAlgn="base">
              <a:spcBef>
                <a:spcPct val="0"/>
              </a:spcBef>
              <a:spcAft>
                <a:spcPct val="0"/>
              </a:spcAft>
              <a:defRPr kern="1200">
                <a:solidFill>
                  <a:schemeClr val="tx1"/>
                </a:solidFill>
                <a:latin typeface="Arial" pitchFamily="34" charset="0"/>
                <a:ea typeface="+mn-ea"/>
                <a:cs typeface="Arial" pitchFamily="34" charset="0"/>
              </a:defRPr>
            </a:lvl5pPr>
            <a:lvl6pPr marL="2286000" algn="r" defTabSz="914400" rtl="1" eaLnBrk="1" latinLnBrk="0" hangingPunct="1">
              <a:defRPr kern="1200">
                <a:solidFill>
                  <a:schemeClr val="tx1"/>
                </a:solidFill>
                <a:latin typeface="Arial" pitchFamily="34" charset="0"/>
                <a:ea typeface="+mn-ea"/>
                <a:cs typeface="Arial" pitchFamily="34" charset="0"/>
              </a:defRPr>
            </a:lvl6pPr>
            <a:lvl7pPr marL="2743200" algn="r" defTabSz="914400" rtl="1" eaLnBrk="1" latinLnBrk="0" hangingPunct="1">
              <a:defRPr kern="1200">
                <a:solidFill>
                  <a:schemeClr val="tx1"/>
                </a:solidFill>
                <a:latin typeface="Arial" pitchFamily="34" charset="0"/>
                <a:ea typeface="+mn-ea"/>
                <a:cs typeface="Arial" pitchFamily="34" charset="0"/>
              </a:defRPr>
            </a:lvl7pPr>
            <a:lvl8pPr marL="3200400" algn="r" defTabSz="914400" rtl="1" eaLnBrk="1" latinLnBrk="0" hangingPunct="1">
              <a:defRPr kern="1200">
                <a:solidFill>
                  <a:schemeClr val="tx1"/>
                </a:solidFill>
                <a:latin typeface="Arial" pitchFamily="34" charset="0"/>
                <a:ea typeface="+mn-ea"/>
                <a:cs typeface="Arial" pitchFamily="34" charset="0"/>
              </a:defRPr>
            </a:lvl8pPr>
            <a:lvl9pPr marL="3657600" algn="r" defTabSz="914400" rtl="1" eaLnBrk="1" latinLnBrk="0" hangingPunct="1">
              <a:defRPr kern="1200">
                <a:solidFill>
                  <a:schemeClr val="tx1"/>
                </a:solidFill>
                <a:latin typeface="Arial" pitchFamily="34" charset="0"/>
                <a:ea typeface="+mn-ea"/>
                <a:cs typeface="Arial" pitchFamily="34" charset="0"/>
              </a:defRPr>
            </a:lvl9pPr>
          </a:lstStyle>
          <a:p>
            <a:pPr algn="ctr"/>
            <a:r>
              <a:rPr lang="he-IL" sz="2400" b="1" u="sng" dirty="0">
                <a:latin typeface="Calibri" pitchFamily="34" charset="0"/>
              </a:rPr>
              <a:t> תהליך עבודה ושיטות</a:t>
            </a:r>
          </a:p>
        </p:txBody>
      </p:sp>
      <p:sp>
        <p:nvSpPr>
          <p:cNvPr id="4" name="מציין מיקום של מספר שקופית 3">
            <a:extLst>
              <a:ext uri="{FF2B5EF4-FFF2-40B4-BE49-F238E27FC236}">
                <a16:creationId xmlns:a16="http://schemas.microsoft.com/office/drawing/2014/main" id="{A0DC1740-847F-2970-25D0-3ABC1495A311}"/>
              </a:ext>
            </a:extLst>
          </p:cNvPr>
          <p:cNvSpPr>
            <a:spLocks noGrp="1"/>
          </p:cNvSpPr>
          <p:nvPr>
            <p:ph type="sldNum" sz="quarter" idx="12"/>
          </p:nvPr>
        </p:nvSpPr>
        <p:spPr>
          <a:xfrm>
            <a:off x="288510" y="6341884"/>
            <a:ext cx="2057400" cy="365125"/>
          </a:xfrm>
        </p:spPr>
        <p:txBody>
          <a:bodyPr/>
          <a:lstStyle/>
          <a:p>
            <a:pPr algn="l"/>
            <a:fld id="{F406CD6C-EFBE-497B-B02F-71827CD8C8E4}" type="slidenum">
              <a:rPr lang="he-IL" smtClean="0"/>
              <a:pPr algn="l"/>
              <a:t>11</a:t>
            </a:fld>
            <a:endParaRPr lang="he-IL" dirty="0"/>
          </a:p>
        </p:txBody>
      </p:sp>
      <p:graphicFrame>
        <p:nvGraphicFramePr>
          <p:cNvPr id="8" name="טבלה 7">
            <a:extLst>
              <a:ext uri="{FF2B5EF4-FFF2-40B4-BE49-F238E27FC236}">
                <a16:creationId xmlns:a16="http://schemas.microsoft.com/office/drawing/2014/main" id="{E36B9912-2E19-48D4-8D18-C29EA9A2C84B}"/>
              </a:ext>
            </a:extLst>
          </p:cNvPr>
          <p:cNvGraphicFramePr>
            <a:graphicFrameLocks noGrp="1"/>
          </p:cNvGraphicFramePr>
          <p:nvPr>
            <p:extLst>
              <p:ext uri="{D42A27DB-BD31-4B8C-83A1-F6EECF244321}">
                <p14:modId xmlns:p14="http://schemas.microsoft.com/office/powerpoint/2010/main" val="1118697960"/>
              </p:ext>
            </p:extLst>
          </p:nvPr>
        </p:nvGraphicFramePr>
        <p:xfrm>
          <a:off x="288510" y="998806"/>
          <a:ext cx="8672610" cy="5343078"/>
        </p:xfrm>
        <a:graphic>
          <a:graphicData uri="http://schemas.openxmlformats.org/drawingml/2006/table">
            <a:tbl>
              <a:tblPr firstRow="1" bandRow="1">
                <a:tableStyleId>{5940675A-B579-460E-94D1-54222C63F5DA}</a:tableStyleId>
              </a:tblPr>
              <a:tblGrid>
                <a:gridCol w="3372682">
                  <a:extLst>
                    <a:ext uri="{9D8B030D-6E8A-4147-A177-3AD203B41FA5}">
                      <a16:colId xmlns:a16="http://schemas.microsoft.com/office/drawing/2014/main" val="1833756598"/>
                    </a:ext>
                  </a:extLst>
                </a:gridCol>
                <a:gridCol w="3823739">
                  <a:extLst>
                    <a:ext uri="{9D8B030D-6E8A-4147-A177-3AD203B41FA5}">
                      <a16:colId xmlns:a16="http://schemas.microsoft.com/office/drawing/2014/main" val="3856817206"/>
                    </a:ext>
                  </a:extLst>
                </a:gridCol>
                <a:gridCol w="1476189">
                  <a:extLst>
                    <a:ext uri="{9D8B030D-6E8A-4147-A177-3AD203B41FA5}">
                      <a16:colId xmlns:a16="http://schemas.microsoft.com/office/drawing/2014/main" val="1541279435"/>
                    </a:ext>
                  </a:extLst>
                </a:gridCol>
              </a:tblGrid>
              <a:tr h="799094">
                <a:tc>
                  <a:txBody>
                    <a:bodyPr/>
                    <a:lstStyle/>
                    <a:p>
                      <a:pPr algn="ctr" rtl="1"/>
                      <a:r>
                        <a:rPr lang="he-IL" sz="2000" b="1" dirty="0">
                          <a:solidFill>
                            <a:schemeClr val="tx1"/>
                          </a:solidFill>
                        </a:rPr>
                        <a:t>כלים ושיטות </a:t>
                      </a:r>
                      <a:endParaRPr lang="en-US" sz="2000" b="1" dirty="0">
                        <a:solidFill>
                          <a:schemeClr val="tx1"/>
                        </a:solidFill>
                        <a:latin typeface="David" panose="020E0502060401010101" pitchFamily="34" charset="-79"/>
                        <a:cs typeface="+mn-cs"/>
                      </a:endParaRPr>
                    </a:p>
                  </a:txBody>
                  <a:tcPr marL="68580" marR="6858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a:txBody>
                    <a:bodyPr/>
                    <a:lstStyle/>
                    <a:p>
                      <a:pPr algn="ctr" rtl="1"/>
                      <a:r>
                        <a:rPr lang="he-IL" sz="2000" b="1" baseline="0" dirty="0">
                          <a:solidFill>
                            <a:schemeClr val="tx1"/>
                          </a:solidFill>
                        </a:rPr>
                        <a:t>שלב</a:t>
                      </a:r>
                      <a:endParaRPr lang="en-US" sz="2000" b="1" dirty="0">
                        <a:solidFill>
                          <a:schemeClr val="tx1"/>
                        </a:solidFill>
                        <a:latin typeface="David" panose="020E0502060401010101" pitchFamily="34" charset="-79"/>
                        <a:cs typeface="+mn-cs"/>
                      </a:endParaRPr>
                    </a:p>
                  </a:txBody>
                  <a:tcPr marL="68580" marR="6858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a:txBody>
                    <a:bodyPr/>
                    <a:lstStyle/>
                    <a:p>
                      <a:pPr algn="ctr" rtl="1"/>
                      <a:r>
                        <a:rPr lang="he-IL" sz="2000" b="1" dirty="0">
                          <a:solidFill>
                            <a:schemeClr val="tx1"/>
                          </a:solidFill>
                        </a:rPr>
                        <a:t>תהליך</a:t>
                      </a:r>
                    </a:p>
                    <a:p>
                      <a:pPr algn="ctr" rtl="1"/>
                      <a:r>
                        <a:rPr lang="he-IL" sz="2000" b="1" dirty="0">
                          <a:solidFill>
                            <a:schemeClr val="tx1"/>
                          </a:solidFill>
                        </a:rPr>
                        <a:t>העבודה</a:t>
                      </a:r>
                      <a:endParaRPr lang="en-US" sz="2000" b="1" dirty="0">
                        <a:solidFill>
                          <a:schemeClr val="tx1"/>
                        </a:solidFill>
                        <a:latin typeface="David" panose="020E0502060401010101" pitchFamily="34" charset="-79"/>
                        <a:cs typeface="+mn-cs"/>
                      </a:endParaRPr>
                    </a:p>
                  </a:txBody>
                  <a:tcPr marL="68580" marR="6858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extLst>
                  <a:ext uri="{0D108BD9-81ED-4DB2-BD59-A6C34878D82A}">
                    <a16:rowId xmlns:a16="http://schemas.microsoft.com/office/drawing/2014/main" val="3082442351"/>
                  </a:ext>
                </a:extLst>
              </a:tr>
              <a:tr h="259462">
                <a:tc rowSpan="2">
                  <a:txBody>
                    <a:bodyPr/>
                    <a:lstStyle/>
                    <a:p>
                      <a:pPr marL="285750" indent="-285750" algn="r" rtl="1">
                        <a:buFont typeface="Arial" panose="020B0604020202020204" pitchFamily="34" charset="0"/>
                        <a:buChar char="•"/>
                      </a:pPr>
                      <a:r>
                        <a:rPr lang="he-IL" sz="1600" dirty="0">
                          <a:solidFill>
                            <a:schemeClr val="tx1"/>
                          </a:solidFill>
                        </a:rPr>
                        <a:t>סקר אימהות חדשות</a:t>
                      </a:r>
                      <a:endParaRPr lang="he-IL" sz="1600" dirty="0">
                        <a:solidFill>
                          <a:schemeClr val="tx1"/>
                        </a:solidFill>
                        <a:effectLst/>
                      </a:endParaRP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600" b="0" dirty="0">
                          <a:solidFill>
                            <a:schemeClr val="tx1"/>
                          </a:solidFill>
                          <a:effectLst/>
                          <a:latin typeface="Arial" panose="020B0604020202020204" pitchFamily="34" charset="0"/>
                          <a:cs typeface="Arial" panose="020B0604020202020204" pitchFamily="34" charset="0"/>
                        </a:rPr>
                        <a:t>איסוף נתונים כמותיים</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600" b="0" dirty="0">
                          <a:solidFill>
                            <a:schemeClr val="tx1"/>
                          </a:solidFill>
                          <a:effectLst/>
                          <a:latin typeface="Arial" panose="020B0604020202020204" pitchFamily="34" charset="0"/>
                          <a:cs typeface="Arial" panose="020B0604020202020204" pitchFamily="34" charset="0"/>
                        </a:rPr>
                        <a:t>ניתוח תוצאות סקר</a:t>
                      </a:r>
                      <a:endParaRPr lang="he-IL" sz="1600" b="0" dirty="0">
                        <a:solidFill>
                          <a:schemeClr val="tx1"/>
                        </a:solidFill>
                        <a:latin typeface="Arial" panose="020B0604020202020204" pitchFamily="34" charset="0"/>
                        <a:cs typeface="Arial" panose="020B0604020202020204" pitchFamily="34" charset="0"/>
                      </a:endParaRPr>
                    </a:p>
                  </a:txBody>
                  <a:tcPr marL="68580" marR="6858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a:txBody>
                    <a:bodyPr/>
                    <a:lstStyle/>
                    <a:p>
                      <a:pPr algn="r" rtl="1"/>
                      <a:r>
                        <a:rPr lang="he-IL" sz="1400" dirty="0">
                          <a:solidFill>
                            <a:schemeClr val="tx1"/>
                          </a:solidFill>
                          <a:effectLst/>
                        </a:rPr>
                        <a:t>חקר מצב קיים</a:t>
                      </a:r>
                      <a:endParaRPr lang="he-IL" sz="1400" b="0" dirty="0">
                        <a:solidFill>
                          <a:schemeClr val="tx1"/>
                        </a:solidFill>
                        <a:effectLst/>
                        <a:latin typeface="Arial" panose="020B0604020202020204" pitchFamily="34" charset="0"/>
                        <a:cs typeface="Arial" panose="020B0604020202020204" pitchFamily="34" charset="0"/>
                      </a:endParaRPr>
                    </a:p>
                  </a:txBody>
                  <a:tcPr marL="51435" marR="51435" marT="0" marB="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rowSpan="5">
                  <a:txBody>
                    <a:bodyPr/>
                    <a:lstStyle/>
                    <a:p>
                      <a:pPr algn="ctr" rtl="1"/>
                      <a:r>
                        <a:rPr lang="he-IL" sz="1800" b="1" dirty="0">
                          <a:solidFill>
                            <a:schemeClr val="tx1"/>
                          </a:solidFill>
                        </a:rPr>
                        <a:t>תכנון</a:t>
                      </a:r>
                      <a:endParaRPr lang="en-US" sz="1800" b="1" dirty="0">
                        <a:solidFill>
                          <a:schemeClr val="tx1"/>
                        </a:solidFill>
                        <a:latin typeface="David" panose="020E0502060401010101" pitchFamily="34" charset="-79"/>
                        <a:cs typeface="+mn-cs"/>
                      </a:endParaRPr>
                    </a:p>
                  </a:txBody>
                  <a:tcPr marL="68580" marR="6858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extLst>
                  <a:ext uri="{0D108BD9-81ED-4DB2-BD59-A6C34878D82A}">
                    <a16:rowId xmlns:a16="http://schemas.microsoft.com/office/drawing/2014/main" val="3022201986"/>
                  </a:ext>
                </a:extLst>
              </a:tr>
              <a:tr h="653169">
                <a:tc vMerge="1">
                  <a:txBody>
                    <a:bodyPr/>
                    <a:lstStyle/>
                    <a:p>
                      <a:endParaRPr lang="en-US"/>
                    </a:p>
                  </a:txBody>
                  <a:tcPr/>
                </a:tc>
                <a:tc>
                  <a:txBody>
                    <a:bodyPr/>
                    <a:lstStyle/>
                    <a:p>
                      <a:pPr algn="r" rtl="1"/>
                      <a:r>
                        <a:rPr lang="he-IL" sz="1400" dirty="0">
                          <a:solidFill>
                            <a:schemeClr val="tx1"/>
                          </a:solidFill>
                          <a:effectLst/>
                        </a:rPr>
                        <a:t>הגדרת הצורך בפרויקט ומטרותיו</a:t>
                      </a:r>
                      <a:endParaRPr lang="he-IL" sz="1400" b="0" dirty="0">
                        <a:solidFill>
                          <a:schemeClr val="tx1"/>
                        </a:solidFill>
                        <a:effectLst/>
                        <a:latin typeface="Arial" panose="020B0604020202020204" pitchFamily="34" charset="0"/>
                        <a:cs typeface="Arial" panose="020B0604020202020204" pitchFamily="34" charset="0"/>
                      </a:endParaRPr>
                    </a:p>
                  </a:txBody>
                  <a:tcPr marL="51435" marR="51435" marT="0" marB="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900678435"/>
                  </a:ext>
                </a:extLst>
              </a:tr>
              <a:tr h="486405">
                <a:tc>
                  <a:txBody>
                    <a:bodyPr/>
                    <a:lstStyle/>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400" b="0" dirty="0">
                          <a:solidFill>
                            <a:schemeClr val="tx1"/>
                          </a:solidFill>
                        </a:rPr>
                        <a:t>תרשים תהליך (תרשים חיפוש מידע)</a:t>
                      </a:r>
                      <a:endParaRPr lang="en-US" sz="1400" b="0" dirty="0">
                        <a:solidFill>
                          <a:schemeClr val="tx1"/>
                        </a:solidFill>
                        <a:latin typeface="Arial" panose="020B0604020202020204" pitchFamily="34" charset="0"/>
                        <a:cs typeface="Arial" panose="020B0604020202020204" pitchFamily="34" charset="0"/>
                      </a:endParaRPr>
                    </a:p>
                  </a:txBody>
                  <a:tcPr marL="68580" marR="6858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400" baseline="0" dirty="0">
                          <a:solidFill>
                            <a:schemeClr val="tx1"/>
                          </a:solidFill>
                        </a:rPr>
                        <a:t>מיפוי תהליך חיפוש ומייצאת מידע</a:t>
                      </a:r>
                      <a:r>
                        <a:rPr lang="he-IL" sz="1400" dirty="0">
                          <a:solidFill>
                            <a:schemeClr val="tx1"/>
                          </a:solidFill>
                        </a:rPr>
                        <a:t>-מצב קיים</a:t>
                      </a:r>
                    </a:p>
                    <a:p>
                      <a:pPr algn="r" rtl="1"/>
                      <a:endParaRPr lang="he-IL" sz="1400" b="0" dirty="0">
                        <a:solidFill>
                          <a:schemeClr val="tx1"/>
                        </a:solidFill>
                        <a:effectLst/>
                        <a:latin typeface="Arial" panose="020B0604020202020204" pitchFamily="34" charset="0"/>
                        <a:cs typeface="Arial" panose="020B0604020202020204" pitchFamily="34" charset="0"/>
                      </a:endParaRPr>
                    </a:p>
                  </a:txBody>
                  <a:tcPr marL="51435" marR="51435" marT="0" marB="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485898073"/>
                  </a:ext>
                </a:extLst>
              </a:tr>
              <a:tr h="630122">
                <a:tc>
                  <a:txBody>
                    <a:bodyPr/>
                    <a:lstStyle/>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tx1"/>
                          </a:solidFill>
                        </a:rPr>
                        <a:t>FR</a:t>
                      </a:r>
                      <a:r>
                        <a:rPr lang="he-IL" sz="1400" b="0" kern="1200" dirty="0">
                          <a:solidFill>
                            <a:schemeClr val="tx1"/>
                          </a:solidFill>
                        </a:rPr>
                        <a:t>/ </a:t>
                      </a:r>
                      <a:r>
                        <a:rPr lang="en-US" sz="1400" b="0" kern="1200" dirty="0">
                          <a:solidFill>
                            <a:schemeClr val="tx1"/>
                          </a:solidFill>
                        </a:rPr>
                        <a:t>NFR</a:t>
                      </a: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400" b="0" kern="1200" dirty="0">
                          <a:solidFill>
                            <a:schemeClr val="tx1"/>
                          </a:solidFill>
                        </a:rPr>
                        <a:t>עץ תהליכים מוצע</a:t>
                      </a:r>
                      <a:endParaRPr lang="he-IL" sz="1400" b="0" kern="1200" dirty="0">
                        <a:solidFill>
                          <a:schemeClr val="tx1"/>
                        </a:solidFill>
                        <a:latin typeface="Arial" panose="020B0604020202020204" pitchFamily="34" charset="0"/>
                        <a:ea typeface="+mn-ea"/>
                        <a:cs typeface="Arial" panose="020B0604020202020204" pitchFamily="34" charset="0"/>
                      </a:endParaRPr>
                    </a:p>
                  </a:txBody>
                  <a:tcPr marL="68580" marR="6858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a:txBody>
                    <a:bodyPr/>
                    <a:lstStyle/>
                    <a:p>
                      <a:pPr algn="r" rtl="1"/>
                      <a:r>
                        <a:rPr lang="he-IL" sz="1400" dirty="0">
                          <a:solidFill>
                            <a:schemeClr val="tx1"/>
                          </a:solidFill>
                          <a:effectLst/>
                        </a:rPr>
                        <a:t>הגדרת דרישות פונקציונליות/ לא פונקציונליות</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400" dirty="0">
                          <a:effectLst/>
                        </a:rPr>
                        <a:t>מיפוי תהליכים מצב מוצע</a:t>
                      </a:r>
                      <a:endParaRPr lang="he-IL" sz="1400" b="0" dirty="0">
                        <a:solidFill>
                          <a:schemeClr val="tx1"/>
                        </a:solidFill>
                        <a:effectLst/>
                        <a:latin typeface="Arial" panose="020B0604020202020204" pitchFamily="34" charset="0"/>
                        <a:cs typeface="Arial" panose="020B0604020202020204" pitchFamily="34" charset="0"/>
                      </a:endParaRPr>
                    </a:p>
                  </a:txBody>
                  <a:tcPr marL="51435" marR="51435" marT="0" marB="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616735081"/>
                  </a:ext>
                </a:extLst>
              </a:tr>
              <a:tr h="590635">
                <a:tc>
                  <a:txBody>
                    <a:bodyPr/>
                    <a:lstStyle/>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400" b="0" kern="1200" dirty="0">
                          <a:solidFill>
                            <a:schemeClr val="tx1"/>
                          </a:solidFill>
                        </a:rPr>
                        <a:t>ע"י  מודל קבלת החלטות  </a:t>
                      </a:r>
                    </a:p>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lang="he-IL" sz="1400" b="0" kern="1200" dirty="0">
                        <a:solidFill>
                          <a:schemeClr val="tx1"/>
                        </a:solidFill>
                        <a:latin typeface="Arial" panose="020B0604020202020204" pitchFamily="34" charset="0"/>
                        <a:ea typeface="+mn-ea"/>
                        <a:cs typeface="Arial" panose="020B0604020202020204" pitchFamily="34" charset="0"/>
                      </a:endParaRPr>
                    </a:p>
                  </a:txBody>
                  <a:tcPr marL="68580" marR="6858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a:txBody>
                    <a:bodyPr/>
                    <a:lstStyle/>
                    <a:p>
                      <a:pPr algn="r" rtl="1"/>
                      <a:r>
                        <a:rPr lang="he-IL" sz="1400" dirty="0">
                          <a:solidFill>
                            <a:schemeClr val="tx1"/>
                          </a:solidFill>
                          <a:effectLst/>
                        </a:rPr>
                        <a:t>חקר ישימות- בחינת חלופות לפתרון</a:t>
                      </a:r>
                      <a:endParaRPr lang="he-IL" sz="1400" b="0" dirty="0">
                        <a:solidFill>
                          <a:schemeClr val="tx1"/>
                        </a:solidFill>
                        <a:effectLst/>
                        <a:latin typeface="Arial" panose="020B0604020202020204" pitchFamily="34" charset="0"/>
                        <a:cs typeface="Arial" panose="020B0604020202020204" pitchFamily="34" charset="0"/>
                      </a:endParaRPr>
                    </a:p>
                  </a:txBody>
                  <a:tcPr marL="51435" marR="51435" marT="0" marB="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823655770"/>
                  </a:ext>
                </a:extLst>
              </a:tr>
              <a:tr h="490180">
                <a:tc>
                  <a:txBody>
                    <a:bodyPr/>
                    <a:lstStyle/>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400" b="0" kern="1200" dirty="0">
                          <a:solidFill>
                            <a:schemeClr val="tx1"/>
                          </a:solidFill>
                        </a:rPr>
                        <a:t>תרשים על </a:t>
                      </a:r>
                      <a:r>
                        <a:rPr lang="en-US" sz="1400" b="0" kern="1200" dirty="0">
                          <a:solidFill>
                            <a:schemeClr val="tx1"/>
                          </a:solidFill>
                        </a:rPr>
                        <a:t>Use Case</a:t>
                      </a:r>
                    </a:p>
                  </a:txBody>
                  <a:tcPr marL="68580" marR="6858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400" dirty="0">
                          <a:solidFill>
                            <a:schemeClr val="tx1"/>
                          </a:solidFill>
                          <a:effectLst/>
                        </a:rPr>
                        <a:t>אפיון אירועים וישויות</a:t>
                      </a:r>
                      <a:endParaRPr lang="he-IL" sz="1400" b="0" dirty="0">
                        <a:solidFill>
                          <a:schemeClr val="tx1"/>
                        </a:solidFill>
                        <a:effectLst/>
                        <a:latin typeface="Arial" panose="020B0604020202020204" pitchFamily="34" charset="0"/>
                        <a:cs typeface="Arial" panose="020B0604020202020204" pitchFamily="34" charset="0"/>
                      </a:endParaRPr>
                    </a:p>
                  </a:txBody>
                  <a:tcPr marL="68580" marR="6858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a:txBody>
                    <a:bodyPr/>
                    <a:lstStyle/>
                    <a:p>
                      <a:pPr algn="ctr" rtl="1"/>
                      <a:r>
                        <a:rPr lang="he-IL" sz="1800" b="1" dirty="0">
                          <a:solidFill>
                            <a:schemeClr val="tx1"/>
                          </a:solidFill>
                        </a:rPr>
                        <a:t>ניתוח</a:t>
                      </a:r>
                      <a:endParaRPr lang="en-US" sz="1800" b="1" dirty="0">
                        <a:solidFill>
                          <a:schemeClr val="tx1"/>
                        </a:solidFill>
                        <a:latin typeface="David" panose="020E0502060401010101" pitchFamily="34" charset="-79"/>
                        <a:cs typeface="+mn-cs"/>
                      </a:endParaRPr>
                    </a:p>
                  </a:txBody>
                  <a:tcPr marL="68580" marR="6858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extLst>
                  <a:ext uri="{0D108BD9-81ED-4DB2-BD59-A6C34878D82A}">
                    <a16:rowId xmlns:a16="http://schemas.microsoft.com/office/drawing/2014/main" val="1218688119"/>
                  </a:ext>
                </a:extLst>
              </a:tr>
              <a:tr h="444791">
                <a:tc>
                  <a:txBody>
                    <a:bodyPr/>
                    <a:lstStyle/>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400" b="0" kern="1200" dirty="0">
                          <a:solidFill>
                            <a:schemeClr val="tx1"/>
                          </a:solidFill>
                        </a:rPr>
                        <a:t>כלי עיצוב- יוחלט בהמשך</a:t>
                      </a:r>
                      <a:endParaRPr lang="en-US" sz="1400" b="0" kern="1200" dirty="0">
                        <a:solidFill>
                          <a:schemeClr val="tx1"/>
                        </a:solidFill>
                        <a:latin typeface="Arial" panose="020B0604020202020204" pitchFamily="34" charset="0"/>
                        <a:ea typeface="+mn-ea"/>
                        <a:cs typeface="Arial" panose="020B0604020202020204" pitchFamily="34" charset="0"/>
                      </a:endParaRPr>
                    </a:p>
                  </a:txBody>
                  <a:tcPr marL="68580" marR="6858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a:txBody>
                    <a:bodyPr/>
                    <a:lstStyle/>
                    <a:p>
                      <a:pPr algn="r" rtl="1"/>
                      <a:r>
                        <a:rPr lang="he-IL" sz="1400" dirty="0">
                          <a:solidFill>
                            <a:schemeClr val="tx1"/>
                          </a:solidFill>
                          <a:effectLst/>
                        </a:rPr>
                        <a:t>עיצוב מסכים</a:t>
                      </a:r>
                      <a:endParaRPr lang="he-IL" sz="1400" b="0" dirty="0">
                        <a:solidFill>
                          <a:schemeClr val="tx1"/>
                        </a:solidFill>
                        <a:effectLst/>
                        <a:latin typeface="Arial" panose="020B0604020202020204" pitchFamily="34" charset="0"/>
                        <a:cs typeface="Arial" panose="020B0604020202020204" pitchFamily="34" charset="0"/>
                      </a:endParaRPr>
                    </a:p>
                  </a:txBody>
                  <a:tcPr marL="51435" marR="51435" marT="0" marB="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a:txBody>
                    <a:bodyPr/>
                    <a:lstStyle/>
                    <a:p>
                      <a:pPr algn="ctr"/>
                      <a:r>
                        <a:rPr lang="he-IL" sz="1800" b="1" kern="1200" dirty="0">
                          <a:solidFill>
                            <a:schemeClr val="tx1"/>
                          </a:solidFill>
                        </a:rPr>
                        <a:t>עיצוב</a:t>
                      </a:r>
                      <a:endParaRPr lang="en-US" sz="1800" b="1" kern="1200" dirty="0">
                        <a:solidFill>
                          <a:schemeClr val="tx1"/>
                        </a:solidFill>
                        <a:latin typeface="+mn-lt"/>
                        <a:ea typeface="+mn-ea"/>
                        <a:cs typeface="+mn-cs"/>
                      </a:endParaRPr>
                    </a:p>
                  </a:txBody>
                  <a:tcPr>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extLst>
                  <a:ext uri="{0D108BD9-81ED-4DB2-BD59-A6C34878D82A}">
                    <a16:rowId xmlns:a16="http://schemas.microsoft.com/office/drawing/2014/main" val="2991777390"/>
                  </a:ext>
                </a:extLst>
              </a:tr>
              <a:tr h="486405">
                <a:tc>
                  <a:txBody>
                    <a:bodyPr/>
                    <a:lstStyle/>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400" b="0" kern="1200" dirty="0">
                          <a:solidFill>
                            <a:schemeClr val="tx1"/>
                          </a:solidFill>
                        </a:rPr>
                        <a:t>עיצוב אב טיפוס</a:t>
                      </a:r>
                      <a:endParaRPr lang="en-US" sz="1400" b="0" kern="1200" dirty="0">
                        <a:solidFill>
                          <a:schemeClr val="tx1"/>
                        </a:solidFill>
                        <a:latin typeface="Arial" panose="020B0604020202020204" pitchFamily="34" charset="0"/>
                        <a:ea typeface="+mn-ea"/>
                        <a:cs typeface="Arial" panose="020B0604020202020204" pitchFamily="34" charset="0"/>
                      </a:endParaRPr>
                    </a:p>
                  </a:txBody>
                  <a:tcPr marL="51435" marR="51435" marT="0" marB="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a:txBody>
                    <a:bodyPr/>
                    <a:lstStyle/>
                    <a:p>
                      <a:pPr algn="r" rtl="1"/>
                      <a:r>
                        <a:rPr lang="he-IL" sz="1400" dirty="0">
                          <a:solidFill>
                            <a:schemeClr val="tx1"/>
                          </a:solidFill>
                          <a:effectLst/>
                        </a:rPr>
                        <a:t>אב טיפוס</a:t>
                      </a:r>
                    </a:p>
                    <a:p>
                      <a:pPr algn="r" rtl="1"/>
                      <a:endParaRPr lang="he-IL" sz="1400" b="0" dirty="0">
                        <a:solidFill>
                          <a:schemeClr val="tx1"/>
                        </a:solidFill>
                        <a:effectLst/>
                        <a:latin typeface="Arial" panose="020B0604020202020204" pitchFamily="34" charset="0"/>
                        <a:cs typeface="Arial" panose="020B0604020202020204" pitchFamily="34" charset="0"/>
                      </a:endParaRPr>
                    </a:p>
                  </a:txBody>
                  <a:tcPr marL="51435" marR="51435" marT="0" marB="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rowSpan="2">
                  <a:txBody>
                    <a:bodyPr/>
                    <a:lstStyle/>
                    <a:p>
                      <a:pPr marL="0" algn="ctr" defTabSz="457200" rtl="1" eaLnBrk="1" latinLnBrk="0" hangingPunct="1"/>
                      <a:r>
                        <a:rPr lang="he-IL" sz="1800" b="1" kern="1200" dirty="0">
                          <a:solidFill>
                            <a:schemeClr val="tx1"/>
                          </a:solidFill>
                        </a:rPr>
                        <a:t>יישום/פיתוח</a:t>
                      </a:r>
                    </a:p>
                  </a:txBody>
                  <a:tcPr marL="68580" marR="6858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extLst>
                  <a:ext uri="{0D108BD9-81ED-4DB2-BD59-A6C34878D82A}">
                    <a16:rowId xmlns:a16="http://schemas.microsoft.com/office/drawing/2014/main" val="1583288460"/>
                  </a:ext>
                </a:extLst>
              </a:tr>
              <a:tr h="502815">
                <a:tc>
                  <a:txBody>
                    <a:bodyPr/>
                    <a:lstStyle/>
                    <a:p>
                      <a:pPr marL="285750" marR="0" lvl="0" indent="-28575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1400" b="0" kern="1200" dirty="0">
                          <a:solidFill>
                            <a:schemeClr val="tx1"/>
                          </a:solidFill>
                        </a:rPr>
                        <a:t>מצגת אב טיפוס      </a:t>
                      </a:r>
                      <a:endParaRPr lang="he-IL" sz="1400" b="0" kern="1200" dirty="0">
                        <a:solidFill>
                          <a:schemeClr val="tx1"/>
                        </a:solidFill>
                        <a:latin typeface="Arial" panose="020B0604020202020204" pitchFamily="34" charset="0"/>
                        <a:ea typeface="+mn-ea"/>
                        <a:cs typeface="Arial" panose="020B0604020202020204" pitchFamily="34" charset="0"/>
                      </a:endParaRPr>
                    </a:p>
                  </a:txBody>
                  <a:tcPr marL="51435" marR="51435" marT="0" marB="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a:txBody>
                    <a:bodyPr/>
                    <a:lstStyle/>
                    <a:p>
                      <a:pPr algn="r" rtl="1"/>
                      <a:r>
                        <a:rPr lang="he-IL" sz="1400" kern="1200" dirty="0">
                          <a:solidFill>
                            <a:schemeClr val="tx1"/>
                          </a:solidFill>
                          <a:effectLst/>
                        </a:rPr>
                        <a:t>הצגת ממצאים והמלצות</a:t>
                      </a:r>
                      <a:endParaRPr lang="he-IL" sz="1400" kern="1200" dirty="0">
                        <a:solidFill>
                          <a:schemeClr val="tx1"/>
                        </a:solidFill>
                        <a:effectLst/>
                        <a:latin typeface="+mn-lt"/>
                        <a:ea typeface="+mn-ea"/>
                        <a:cs typeface="+mn-cs"/>
                      </a:endParaRPr>
                    </a:p>
                  </a:txBody>
                  <a:tcPr marL="51435" marR="51435" marT="0" marB="0">
                    <a:lnL w="38100" cap="flat" cmpd="sng" algn="ctr">
                      <a:solidFill>
                        <a:schemeClr val="accent1">
                          <a:lumMod val="75000"/>
                        </a:schemeClr>
                      </a:solidFill>
                      <a:prstDash val="solid"/>
                      <a:round/>
                      <a:headEnd type="none" w="med" len="med"/>
                      <a:tailEnd type="none" w="med" len="med"/>
                    </a:lnL>
                    <a:lnR w="38100" cap="flat" cmpd="sng" algn="ctr">
                      <a:solidFill>
                        <a:schemeClr val="accent1">
                          <a:lumMod val="75000"/>
                        </a:schemeClr>
                      </a:solidFill>
                      <a:prstDash val="solid"/>
                      <a:round/>
                      <a:headEnd type="none" w="med" len="med"/>
                      <a:tailEnd type="none" w="med" len="med"/>
                    </a:lnR>
                    <a:lnT w="38100" cap="flat" cmpd="sng" algn="ctr">
                      <a:solidFill>
                        <a:schemeClr val="accent1">
                          <a:lumMod val="75000"/>
                        </a:schemeClr>
                      </a:solidFill>
                      <a:prstDash val="solid"/>
                      <a:round/>
                      <a:headEnd type="none" w="med" len="med"/>
                      <a:tailEnd type="none" w="med" len="med"/>
                    </a:lnT>
                    <a:lnB w="38100" cap="flat" cmpd="sng" algn="ctr">
                      <a:solidFill>
                        <a:schemeClr val="accent1">
                          <a:lumMod val="75000"/>
                        </a:schemeClr>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814092139"/>
                  </a:ext>
                </a:extLst>
              </a:tr>
            </a:tbl>
          </a:graphicData>
        </a:graphic>
      </p:graphicFrame>
      <p:sp>
        <p:nvSpPr>
          <p:cNvPr id="6" name="חץ: שמאלה 5">
            <a:extLst>
              <a:ext uri="{FF2B5EF4-FFF2-40B4-BE49-F238E27FC236}">
                <a16:creationId xmlns:a16="http://schemas.microsoft.com/office/drawing/2014/main" id="{69217CB6-9402-4CDD-8E3C-F4571951A1DF}"/>
              </a:ext>
            </a:extLst>
          </p:cNvPr>
          <p:cNvSpPr/>
          <p:nvPr/>
        </p:nvSpPr>
        <p:spPr>
          <a:xfrm>
            <a:off x="7877284" y="3803077"/>
            <a:ext cx="978206" cy="461665"/>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1" anchor="ctr"/>
          <a:lstStyle/>
          <a:p>
            <a:pPr algn="ctr"/>
            <a:endParaRPr lang="he-IL"/>
          </a:p>
        </p:txBody>
      </p:sp>
      <p:pic>
        <p:nvPicPr>
          <p:cNvPr id="9" name="תמונה 8">
            <a:extLst>
              <a:ext uri="{FF2B5EF4-FFF2-40B4-BE49-F238E27FC236}">
                <a16:creationId xmlns:a16="http://schemas.microsoft.com/office/drawing/2014/main" id="{CB066F53-9435-4379-AA8A-ACEF834A5D99}"/>
              </a:ext>
            </a:extLst>
          </p:cNvPr>
          <p:cNvPicPr>
            <a:picLocks noChangeAspect="1"/>
          </p:cNvPicPr>
          <p:nvPr/>
        </p:nvPicPr>
        <p:blipFill>
          <a:blip r:embed="rId3"/>
          <a:stretch>
            <a:fillRect/>
          </a:stretch>
        </p:blipFill>
        <p:spPr>
          <a:xfrm>
            <a:off x="8165794" y="1"/>
            <a:ext cx="978206" cy="782664"/>
          </a:xfrm>
          <a:prstGeom prst="rect">
            <a:avLst/>
          </a:prstGeom>
        </p:spPr>
      </p:pic>
      <p:pic>
        <p:nvPicPr>
          <p:cNvPr id="10" name="תמונה 9">
            <a:extLst>
              <a:ext uri="{FF2B5EF4-FFF2-40B4-BE49-F238E27FC236}">
                <a16:creationId xmlns:a16="http://schemas.microsoft.com/office/drawing/2014/main" id="{F8AB4B3A-A86E-41BA-B1F8-7223DEA3A4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 name="תיבת טקסט 2">
            <a:extLst>
              <a:ext uri="{FF2B5EF4-FFF2-40B4-BE49-F238E27FC236}">
                <a16:creationId xmlns:a16="http://schemas.microsoft.com/office/drawing/2014/main" id="{E37D55E0-9CE6-4D55-BDFA-E093AD92E259}"/>
              </a:ext>
            </a:extLst>
          </p:cNvPr>
          <p:cNvSpPr txBox="1"/>
          <p:nvPr/>
        </p:nvSpPr>
        <p:spPr>
          <a:xfrm>
            <a:off x="2832578" y="1741711"/>
            <a:ext cx="677437" cy="253916"/>
          </a:xfrm>
          <a:prstGeom prst="rect">
            <a:avLst/>
          </a:prstGeom>
          <a:noFill/>
        </p:spPr>
        <p:txBody>
          <a:bodyPr wrap="square" rtlCol="1">
            <a:spAutoFit/>
          </a:bodyPr>
          <a:lstStyle/>
          <a:p>
            <a:r>
              <a:rPr lang="en-US" sz="1050" b="1" dirty="0"/>
              <a:t>6</a:t>
            </a:r>
            <a:endParaRPr lang="he-IL" sz="1050" b="1" dirty="0"/>
          </a:p>
        </p:txBody>
      </p:sp>
      <p:sp>
        <p:nvSpPr>
          <p:cNvPr id="7" name="תיבת טקסט 6">
            <a:extLst>
              <a:ext uri="{FF2B5EF4-FFF2-40B4-BE49-F238E27FC236}">
                <a16:creationId xmlns:a16="http://schemas.microsoft.com/office/drawing/2014/main" id="{04FE5AFF-355A-13C7-945F-8365B0F605A8}"/>
              </a:ext>
            </a:extLst>
          </p:cNvPr>
          <p:cNvSpPr txBox="1"/>
          <p:nvPr/>
        </p:nvSpPr>
        <p:spPr>
          <a:xfrm>
            <a:off x="1533360" y="2234162"/>
            <a:ext cx="742105" cy="253916"/>
          </a:xfrm>
          <a:prstGeom prst="rect">
            <a:avLst/>
          </a:prstGeom>
          <a:noFill/>
        </p:spPr>
        <p:txBody>
          <a:bodyPr wrap="square" rtlCol="1">
            <a:spAutoFit/>
          </a:bodyPr>
          <a:lstStyle/>
          <a:p>
            <a:r>
              <a:rPr lang="en-US" sz="1050" b="1" dirty="0"/>
              <a:t>4,5,6</a:t>
            </a:r>
            <a:endParaRPr lang="he-IL" sz="1050" b="1" dirty="0"/>
          </a:p>
        </p:txBody>
      </p:sp>
      <p:sp>
        <p:nvSpPr>
          <p:cNvPr id="12" name="תיבת טקסט 11">
            <a:extLst>
              <a:ext uri="{FF2B5EF4-FFF2-40B4-BE49-F238E27FC236}">
                <a16:creationId xmlns:a16="http://schemas.microsoft.com/office/drawing/2014/main" id="{61DB7A7A-F991-AE26-CA95-BEFA96F9F2DF}"/>
              </a:ext>
            </a:extLst>
          </p:cNvPr>
          <p:cNvSpPr txBox="1"/>
          <p:nvPr/>
        </p:nvSpPr>
        <p:spPr>
          <a:xfrm>
            <a:off x="2275465" y="3175084"/>
            <a:ext cx="571460" cy="253916"/>
          </a:xfrm>
          <a:prstGeom prst="rect">
            <a:avLst/>
          </a:prstGeom>
          <a:noFill/>
        </p:spPr>
        <p:txBody>
          <a:bodyPr wrap="square" rtlCol="1">
            <a:spAutoFit/>
          </a:bodyPr>
          <a:lstStyle/>
          <a:p>
            <a:r>
              <a:rPr lang="en-US" sz="1050" b="1" dirty="0"/>
              <a:t>10,11</a:t>
            </a:r>
            <a:endParaRPr lang="he-IL" sz="1050" b="1" dirty="0"/>
          </a:p>
        </p:txBody>
      </p:sp>
      <p:sp>
        <p:nvSpPr>
          <p:cNvPr id="13" name="תיבת טקסט 12">
            <a:extLst>
              <a:ext uri="{FF2B5EF4-FFF2-40B4-BE49-F238E27FC236}">
                <a16:creationId xmlns:a16="http://schemas.microsoft.com/office/drawing/2014/main" id="{1A9B4EAA-A5E1-28DC-6A6D-5DB835938C9F}"/>
              </a:ext>
            </a:extLst>
          </p:cNvPr>
          <p:cNvSpPr txBox="1"/>
          <p:nvPr/>
        </p:nvSpPr>
        <p:spPr>
          <a:xfrm>
            <a:off x="2973571" y="5597274"/>
            <a:ext cx="6001617" cy="1304203"/>
          </a:xfrm>
          <a:prstGeom prst="rect">
            <a:avLst/>
          </a:prstGeom>
          <a:noFill/>
        </p:spPr>
        <p:txBody>
          <a:bodyPr wrap="square" rtlCol="1">
            <a:spAutoFit/>
          </a:bodyPr>
          <a:lstStyle/>
          <a:p>
            <a:pPr algn="r" rtl="1"/>
            <a:r>
              <a:rPr lang="he-IL" sz="1050" dirty="0">
                <a:solidFill>
                  <a:schemeClr val="bg1">
                    <a:lumMod val="50000"/>
                  </a:schemeClr>
                </a:solidFill>
                <a:latin typeface="Arial" panose="020B0604020202020204" pitchFamily="34" charset="0"/>
              </a:rPr>
              <a:t>4.ראיון עם אם צעירה</a:t>
            </a:r>
          </a:p>
          <a:p>
            <a:pPr algn="r" rtl="1"/>
            <a:r>
              <a:rPr lang="he-IL" sz="1050" dirty="0">
                <a:solidFill>
                  <a:schemeClr val="bg1">
                    <a:lumMod val="50000"/>
                  </a:schemeClr>
                </a:solidFill>
                <a:latin typeface="Arial" panose="020B0604020202020204" pitchFamily="34" charset="0"/>
              </a:rPr>
              <a:t>5.ראיון אם ותיקה</a:t>
            </a:r>
          </a:p>
          <a:p>
            <a:pPr algn="r" rtl="1"/>
            <a:r>
              <a:rPr lang="he-IL" sz="1050" dirty="0">
                <a:solidFill>
                  <a:schemeClr val="bg1">
                    <a:lumMod val="50000"/>
                  </a:schemeClr>
                </a:solidFill>
                <a:latin typeface="Arial" panose="020B0604020202020204" pitchFamily="34" charset="0"/>
              </a:rPr>
              <a:t>6. סרק אימהות חדשות,2024</a:t>
            </a:r>
            <a:endParaRPr lang="he-IL" sz="1050" b="1" u="sng" dirty="0">
              <a:solidFill>
                <a:schemeClr val="bg1">
                  <a:lumMod val="50000"/>
                </a:schemeClr>
              </a:solidFill>
              <a:latin typeface="Arial" panose="020B0604020202020204" pitchFamily="34" charset="0"/>
            </a:endParaRPr>
          </a:p>
          <a:p>
            <a:pPr algn="r" rtl="1">
              <a:lnSpc>
                <a:spcPct val="150000"/>
              </a:lnSpc>
            </a:pPr>
            <a:r>
              <a:rPr lang="en-US" sz="1050" dirty="0">
                <a:solidFill>
                  <a:schemeClr val="bg1">
                    <a:lumMod val="50000"/>
                  </a:schemeClr>
                </a:solidFill>
                <a:latin typeface="Arial" panose="020B0604020202020204" pitchFamily="34" charset="0"/>
              </a:rPr>
              <a:t>9. Stories into UML Use </a:t>
            </a:r>
            <a:r>
              <a:rPr lang="en-US" sz="1050" dirty="0" err="1">
                <a:solidFill>
                  <a:schemeClr val="bg1">
                    <a:lumMod val="50000"/>
                  </a:schemeClr>
                </a:solidFill>
                <a:latin typeface="Arial" panose="020B0604020202020204" pitchFamily="34" charset="0"/>
              </a:rPr>
              <a:t>CaseDiagrams</a:t>
            </a:r>
            <a:r>
              <a:rPr lang="en-US" sz="1050" dirty="0">
                <a:solidFill>
                  <a:schemeClr val="bg1">
                    <a:lumMod val="50000"/>
                  </a:schemeClr>
                </a:solidFill>
                <a:latin typeface="Arial" panose="020B0604020202020204" pitchFamily="34" charset="0"/>
              </a:rPr>
              <a:t> using NLP Techniques. Procedia Computer Science</a:t>
            </a:r>
            <a:endParaRPr lang="he-IL" sz="1050" dirty="0">
              <a:solidFill>
                <a:schemeClr val="bg1">
                  <a:lumMod val="50000"/>
                </a:schemeClr>
              </a:solidFill>
              <a:latin typeface="Arial" panose="020B0604020202020204" pitchFamily="34" charset="0"/>
            </a:endParaRPr>
          </a:p>
          <a:p>
            <a:pPr algn="r" rtl="1"/>
            <a:r>
              <a:rPr lang="he-IL" sz="1050" dirty="0">
                <a:solidFill>
                  <a:schemeClr val="bg1">
                    <a:lumMod val="50000"/>
                  </a:schemeClr>
                </a:solidFill>
                <a:latin typeface="Arial" panose="020B0604020202020204" pitchFamily="34" charset="0"/>
              </a:rPr>
              <a:t>10.שובל, פ. (2017) תכנון, ניתוח ועיצוב מערכות מידע. האוניברסיטה הפתוחה.</a:t>
            </a:r>
          </a:p>
          <a:p>
            <a:pPr algn="r" rtl="1"/>
            <a:r>
              <a:rPr lang="he-IL" sz="1050" dirty="0">
                <a:solidFill>
                  <a:schemeClr val="bg1">
                    <a:lumMod val="50000"/>
                  </a:schemeClr>
                </a:solidFill>
                <a:latin typeface="Arial" panose="020B0604020202020204" pitchFamily="34" charset="0"/>
              </a:rPr>
              <a:t>11.שרגא, ש. , </a:t>
            </a:r>
            <a:r>
              <a:rPr lang="he-IL" sz="1050" dirty="0" err="1">
                <a:solidFill>
                  <a:schemeClr val="bg1">
                    <a:lumMod val="50000"/>
                  </a:schemeClr>
                </a:solidFill>
                <a:latin typeface="Arial" panose="020B0604020202020204" pitchFamily="34" charset="0"/>
              </a:rPr>
              <a:t>רובינוביץ</a:t>
            </a:r>
            <a:r>
              <a:rPr lang="he-IL" sz="1050" dirty="0">
                <a:solidFill>
                  <a:schemeClr val="bg1">
                    <a:lumMod val="50000"/>
                  </a:schemeClr>
                </a:solidFill>
                <a:latin typeface="Arial" panose="020B0604020202020204" pitchFamily="34" charset="0"/>
              </a:rPr>
              <a:t>, י. (2012)</a:t>
            </a:r>
            <a:r>
              <a:rPr lang="he-IL" sz="1050" b="1" u="sng" dirty="0">
                <a:solidFill>
                  <a:schemeClr val="bg1">
                    <a:lumMod val="50000"/>
                  </a:schemeClr>
                </a:solidFill>
                <a:latin typeface="Arial" panose="020B0604020202020204" pitchFamily="34" charset="0"/>
              </a:rPr>
              <a:t> </a:t>
            </a:r>
          </a:p>
          <a:p>
            <a:pPr algn="r" rtl="1"/>
            <a:r>
              <a:rPr lang="en-US" sz="1050" dirty="0">
                <a:solidFill>
                  <a:schemeClr val="bg1">
                    <a:lumMod val="50000"/>
                  </a:schemeClr>
                </a:solidFill>
                <a:latin typeface="Arial" panose="020B0604020202020204" pitchFamily="34" charset="0"/>
              </a:rPr>
              <a:t>12.Martin </a:t>
            </a:r>
            <a:r>
              <a:rPr lang="en-US" sz="1050" dirty="0" err="1">
                <a:solidFill>
                  <a:schemeClr val="bg1">
                    <a:lumMod val="50000"/>
                  </a:schemeClr>
                </a:solidFill>
                <a:latin typeface="Arial" panose="020B0604020202020204" pitchFamily="34" charset="0"/>
              </a:rPr>
              <a:t>Sarnovsky</a:t>
            </a:r>
            <a:r>
              <a:rPr lang="en-US" sz="1050" dirty="0">
                <a:solidFill>
                  <a:schemeClr val="bg1">
                    <a:lumMod val="50000"/>
                  </a:schemeClr>
                </a:solidFill>
                <a:latin typeface="Arial" panose="020B0604020202020204" pitchFamily="34" charset="0"/>
              </a:rPr>
              <a:t>, Peter Bednar and Miroslav </a:t>
            </a:r>
            <a:r>
              <a:rPr lang="en-US" sz="1050" dirty="0" err="1">
                <a:solidFill>
                  <a:schemeClr val="bg1">
                    <a:lumMod val="50000"/>
                  </a:schemeClr>
                </a:solidFill>
                <a:latin typeface="Arial" panose="020B0604020202020204" pitchFamily="34" charset="0"/>
              </a:rPr>
              <a:t>Smatana</a:t>
            </a:r>
            <a:r>
              <a:rPr lang="en-US" sz="1050" dirty="0">
                <a:solidFill>
                  <a:schemeClr val="bg1">
                    <a:lumMod val="50000"/>
                  </a:schemeClr>
                </a:solidFill>
                <a:latin typeface="Arial" panose="020B0604020202020204" pitchFamily="34" charset="0"/>
              </a:rPr>
              <a:t>. Big Data Processing and Analytics</a:t>
            </a:r>
            <a:endParaRPr lang="he-IL" sz="1050" dirty="0">
              <a:solidFill>
                <a:schemeClr val="bg1">
                  <a:lumMod val="50000"/>
                </a:schemeClr>
              </a:solidFill>
              <a:highlight>
                <a:srgbClr val="FFFF00"/>
              </a:highlight>
            </a:endParaRPr>
          </a:p>
        </p:txBody>
      </p:sp>
      <p:sp>
        <p:nvSpPr>
          <p:cNvPr id="14" name="תיבת טקסט 13">
            <a:extLst>
              <a:ext uri="{FF2B5EF4-FFF2-40B4-BE49-F238E27FC236}">
                <a16:creationId xmlns:a16="http://schemas.microsoft.com/office/drawing/2014/main" id="{D15DAE0F-4382-96EE-521F-60BE054D4121}"/>
              </a:ext>
            </a:extLst>
          </p:cNvPr>
          <p:cNvSpPr txBox="1"/>
          <p:nvPr/>
        </p:nvSpPr>
        <p:spPr>
          <a:xfrm>
            <a:off x="6400483" y="3676119"/>
            <a:ext cx="860288" cy="253916"/>
          </a:xfrm>
          <a:prstGeom prst="rect">
            <a:avLst/>
          </a:prstGeom>
          <a:noFill/>
        </p:spPr>
        <p:txBody>
          <a:bodyPr wrap="square" rtlCol="1">
            <a:spAutoFit/>
          </a:bodyPr>
          <a:lstStyle/>
          <a:p>
            <a:r>
              <a:rPr lang="en-US" sz="1050" b="1" dirty="0"/>
              <a:t>4,5,10</a:t>
            </a:r>
            <a:endParaRPr lang="he-IL" sz="1050" b="1" dirty="0"/>
          </a:p>
        </p:txBody>
      </p:sp>
      <p:sp>
        <p:nvSpPr>
          <p:cNvPr id="15" name="תיבת טקסט 14">
            <a:extLst>
              <a:ext uri="{FF2B5EF4-FFF2-40B4-BE49-F238E27FC236}">
                <a16:creationId xmlns:a16="http://schemas.microsoft.com/office/drawing/2014/main" id="{FADC5961-440A-1C80-4038-6EF31E1EFC6F}"/>
              </a:ext>
            </a:extLst>
          </p:cNvPr>
          <p:cNvSpPr txBox="1"/>
          <p:nvPr/>
        </p:nvSpPr>
        <p:spPr>
          <a:xfrm>
            <a:off x="1317210" y="4369923"/>
            <a:ext cx="742104" cy="253916"/>
          </a:xfrm>
          <a:prstGeom prst="rect">
            <a:avLst/>
          </a:prstGeom>
          <a:noFill/>
        </p:spPr>
        <p:txBody>
          <a:bodyPr wrap="square" rtlCol="1">
            <a:spAutoFit/>
          </a:bodyPr>
          <a:lstStyle/>
          <a:p>
            <a:r>
              <a:rPr lang="en-US" sz="1050" b="1" dirty="0"/>
              <a:t>9,10,11</a:t>
            </a:r>
            <a:endParaRPr lang="he-IL" sz="1050" b="1" dirty="0"/>
          </a:p>
        </p:txBody>
      </p:sp>
      <p:sp>
        <p:nvSpPr>
          <p:cNvPr id="16" name="תיבת טקסט 15">
            <a:extLst>
              <a:ext uri="{FF2B5EF4-FFF2-40B4-BE49-F238E27FC236}">
                <a16:creationId xmlns:a16="http://schemas.microsoft.com/office/drawing/2014/main" id="{99600731-451F-7B42-A998-A9D0681A73B7}"/>
              </a:ext>
            </a:extLst>
          </p:cNvPr>
          <p:cNvSpPr txBox="1"/>
          <p:nvPr/>
        </p:nvSpPr>
        <p:spPr>
          <a:xfrm>
            <a:off x="6477001" y="5302128"/>
            <a:ext cx="388190" cy="253916"/>
          </a:xfrm>
          <a:prstGeom prst="rect">
            <a:avLst/>
          </a:prstGeom>
          <a:noFill/>
        </p:spPr>
        <p:txBody>
          <a:bodyPr wrap="square" rtlCol="1">
            <a:spAutoFit/>
          </a:bodyPr>
          <a:lstStyle/>
          <a:p>
            <a:r>
              <a:rPr lang="en-US" sz="1050" b="1" dirty="0"/>
              <a:t>10</a:t>
            </a:r>
            <a:endParaRPr lang="he-IL" sz="1050" b="1" dirty="0"/>
          </a:p>
        </p:txBody>
      </p:sp>
    </p:spTree>
    <p:extLst>
      <p:ext uri="{BB962C8B-B14F-4D97-AF65-F5344CB8AC3E}">
        <p14:creationId xmlns:p14="http://schemas.microsoft.com/office/powerpoint/2010/main" val="309552820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כותרת תחתונה 1">
            <a:extLst>
              <a:ext uri="{FF2B5EF4-FFF2-40B4-BE49-F238E27FC236}">
                <a16:creationId xmlns:a16="http://schemas.microsoft.com/office/drawing/2014/main" id="{0EC68977-67F0-43D4-AD79-934FC77B8DFA}"/>
              </a:ext>
            </a:extLst>
          </p:cNvPr>
          <p:cNvSpPr>
            <a:spLocks noGrp="1"/>
          </p:cNvSpPr>
          <p:nvPr>
            <p:ph type="ftr" sz="quarter" idx="11"/>
          </p:nvPr>
        </p:nvSpPr>
        <p:spPr/>
        <p:txBody>
          <a:bodyPr/>
          <a:lstStyle/>
          <a:p>
            <a:r>
              <a:rPr lang="he-IL" b="1" dirty="0">
                <a:solidFill>
                  <a:schemeClr val="tx1"/>
                </a:solidFill>
              </a:rPr>
              <a:t>אתר אינטרנט לאימהות חדשות במגזר הבדואי                      </a:t>
            </a:r>
            <a:r>
              <a:rPr lang="en-US" b="1" dirty="0">
                <a:solidFill>
                  <a:schemeClr val="tx1"/>
                </a:solidFill>
              </a:rPr>
              <a:t>Navon-13-2024-sem2</a:t>
            </a:r>
            <a:endParaRPr lang="he-IL" b="1" dirty="0">
              <a:solidFill>
                <a:schemeClr val="tx1"/>
              </a:solidFill>
            </a:endParaRPr>
          </a:p>
        </p:txBody>
      </p:sp>
      <p:sp>
        <p:nvSpPr>
          <p:cNvPr id="3" name="מציין מיקום של מספר שקופית 2">
            <a:extLst>
              <a:ext uri="{FF2B5EF4-FFF2-40B4-BE49-F238E27FC236}">
                <a16:creationId xmlns:a16="http://schemas.microsoft.com/office/drawing/2014/main" id="{91EF7365-F42F-417F-AB4A-7EF333DBE695}"/>
              </a:ext>
            </a:extLst>
          </p:cNvPr>
          <p:cNvSpPr>
            <a:spLocks noGrp="1"/>
          </p:cNvSpPr>
          <p:nvPr>
            <p:ph type="sldNum" sz="quarter" idx="12"/>
          </p:nvPr>
        </p:nvSpPr>
        <p:spPr>
          <a:xfrm>
            <a:off x="0" y="6356351"/>
            <a:ext cx="2057400" cy="365125"/>
          </a:xfrm>
        </p:spPr>
        <p:txBody>
          <a:bodyPr/>
          <a:lstStyle/>
          <a:p>
            <a:pPr algn="l" rtl="1"/>
            <a:fld id="{F406CD6C-EFBE-497B-B02F-71827CD8C8E4}" type="slidenum">
              <a:rPr lang="he-IL" smtClean="0"/>
              <a:pPr algn="l" rtl="1"/>
              <a:t>12</a:t>
            </a:fld>
            <a:endParaRPr lang="he-IL" dirty="0"/>
          </a:p>
        </p:txBody>
      </p:sp>
      <p:sp>
        <p:nvSpPr>
          <p:cNvPr id="4" name="TextBox 5">
            <a:extLst>
              <a:ext uri="{FF2B5EF4-FFF2-40B4-BE49-F238E27FC236}">
                <a16:creationId xmlns:a16="http://schemas.microsoft.com/office/drawing/2014/main" id="{A8B2A4B2-FCCA-4B03-8843-9CF5D2DC44B1}"/>
              </a:ext>
            </a:extLst>
          </p:cNvPr>
          <p:cNvSpPr txBox="1">
            <a:spLocks noChangeArrowheads="1"/>
          </p:cNvSpPr>
          <p:nvPr/>
        </p:nvSpPr>
        <p:spPr bwMode="auto">
          <a:xfrm>
            <a:off x="1904413" y="116851"/>
            <a:ext cx="5715000" cy="461665"/>
          </a:xfrm>
          <a:prstGeom prst="rect">
            <a:avLst/>
          </a:prstGeom>
          <a:noFill/>
          <a:ln w="9525">
            <a:noFill/>
            <a:miter lim="800000"/>
            <a:headEnd/>
            <a:tailEnd/>
          </a:ln>
        </p:spPr>
        <p:txBody>
          <a:bodyPr>
            <a:spAutoFit/>
          </a:bodyPr>
          <a:lstStyle>
            <a:defPPr>
              <a:defRPr lang="he-IL"/>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57200" algn="r" rtl="1" fontAlgn="base">
              <a:spcBef>
                <a:spcPct val="0"/>
              </a:spcBef>
              <a:spcAft>
                <a:spcPct val="0"/>
              </a:spcAft>
              <a:defRPr kern="1200">
                <a:solidFill>
                  <a:schemeClr val="tx1"/>
                </a:solidFill>
                <a:latin typeface="Arial" pitchFamily="34" charset="0"/>
                <a:ea typeface="+mn-ea"/>
                <a:cs typeface="Arial" pitchFamily="34" charset="0"/>
              </a:defRPr>
            </a:lvl2pPr>
            <a:lvl3pPr marL="914400" algn="r" rtl="1" fontAlgn="base">
              <a:spcBef>
                <a:spcPct val="0"/>
              </a:spcBef>
              <a:spcAft>
                <a:spcPct val="0"/>
              </a:spcAft>
              <a:defRPr kern="1200">
                <a:solidFill>
                  <a:schemeClr val="tx1"/>
                </a:solidFill>
                <a:latin typeface="Arial" pitchFamily="34" charset="0"/>
                <a:ea typeface="+mn-ea"/>
                <a:cs typeface="Arial" pitchFamily="34" charset="0"/>
              </a:defRPr>
            </a:lvl3pPr>
            <a:lvl4pPr marL="1371600" algn="r" rtl="1" fontAlgn="base">
              <a:spcBef>
                <a:spcPct val="0"/>
              </a:spcBef>
              <a:spcAft>
                <a:spcPct val="0"/>
              </a:spcAft>
              <a:defRPr kern="1200">
                <a:solidFill>
                  <a:schemeClr val="tx1"/>
                </a:solidFill>
                <a:latin typeface="Arial" pitchFamily="34" charset="0"/>
                <a:ea typeface="+mn-ea"/>
                <a:cs typeface="Arial" pitchFamily="34" charset="0"/>
              </a:defRPr>
            </a:lvl4pPr>
            <a:lvl5pPr marL="1828800" algn="r" rtl="1" fontAlgn="base">
              <a:spcBef>
                <a:spcPct val="0"/>
              </a:spcBef>
              <a:spcAft>
                <a:spcPct val="0"/>
              </a:spcAft>
              <a:defRPr kern="1200">
                <a:solidFill>
                  <a:schemeClr val="tx1"/>
                </a:solidFill>
                <a:latin typeface="Arial" pitchFamily="34" charset="0"/>
                <a:ea typeface="+mn-ea"/>
                <a:cs typeface="Arial" pitchFamily="34" charset="0"/>
              </a:defRPr>
            </a:lvl5pPr>
            <a:lvl6pPr marL="2286000" algn="r" defTabSz="914400" rtl="1" eaLnBrk="1" latinLnBrk="0" hangingPunct="1">
              <a:defRPr kern="1200">
                <a:solidFill>
                  <a:schemeClr val="tx1"/>
                </a:solidFill>
                <a:latin typeface="Arial" pitchFamily="34" charset="0"/>
                <a:ea typeface="+mn-ea"/>
                <a:cs typeface="Arial" pitchFamily="34" charset="0"/>
              </a:defRPr>
            </a:lvl6pPr>
            <a:lvl7pPr marL="2743200" algn="r" defTabSz="914400" rtl="1" eaLnBrk="1" latinLnBrk="0" hangingPunct="1">
              <a:defRPr kern="1200">
                <a:solidFill>
                  <a:schemeClr val="tx1"/>
                </a:solidFill>
                <a:latin typeface="Arial" pitchFamily="34" charset="0"/>
                <a:ea typeface="+mn-ea"/>
                <a:cs typeface="Arial" pitchFamily="34" charset="0"/>
              </a:defRPr>
            </a:lvl7pPr>
            <a:lvl8pPr marL="3200400" algn="r" defTabSz="914400" rtl="1" eaLnBrk="1" latinLnBrk="0" hangingPunct="1">
              <a:defRPr kern="1200">
                <a:solidFill>
                  <a:schemeClr val="tx1"/>
                </a:solidFill>
                <a:latin typeface="Arial" pitchFamily="34" charset="0"/>
                <a:ea typeface="+mn-ea"/>
                <a:cs typeface="Arial" pitchFamily="34" charset="0"/>
              </a:defRPr>
            </a:lvl8pPr>
            <a:lvl9pPr marL="3657600" algn="r" defTabSz="914400" rtl="1" eaLnBrk="1" latinLnBrk="0" hangingPunct="1">
              <a:defRPr kern="1200">
                <a:solidFill>
                  <a:schemeClr val="tx1"/>
                </a:solidFill>
                <a:latin typeface="Arial" pitchFamily="34" charset="0"/>
                <a:ea typeface="+mn-ea"/>
                <a:cs typeface="Arial" pitchFamily="34" charset="0"/>
              </a:defRPr>
            </a:lvl9pPr>
          </a:lstStyle>
          <a:p>
            <a:pPr algn="ctr"/>
            <a:r>
              <a:rPr lang="he-IL" sz="2400" b="1" u="sng" dirty="0">
                <a:latin typeface="Calibri" pitchFamily="34" charset="0"/>
              </a:rPr>
              <a:t>דרישות פונקציונליות (</a:t>
            </a:r>
            <a:r>
              <a:rPr lang="en-US" sz="2400" b="1" u="sng" dirty="0">
                <a:latin typeface="Calibri" pitchFamily="34" charset="0"/>
              </a:rPr>
              <a:t>FR</a:t>
            </a:r>
            <a:r>
              <a:rPr lang="he-IL" sz="2400" b="1" u="sng" dirty="0">
                <a:latin typeface="Calibri" pitchFamily="34" charset="0"/>
              </a:rPr>
              <a:t>)</a:t>
            </a:r>
          </a:p>
        </p:txBody>
      </p:sp>
      <p:pic>
        <p:nvPicPr>
          <p:cNvPr id="7" name="תמונה 6">
            <a:extLst>
              <a:ext uri="{FF2B5EF4-FFF2-40B4-BE49-F238E27FC236}">
                <a16:creationId xmlns:a16="http://schemas.microsoft.com/office/drawing/2014/main" id="{C6990E85-B239-4047-B1D0-3C7EFFA8C9FD}"/>
              </a:ext>
            </a:extLst>
          </p:cNvPr>
          <p:cNvPicPr>
            <a:picLocks noChangeAspect="1"/>
          </p:cNvPicPr>
          <p:nvPr/>
        </p:nvPicPr>
        <p:blipFill>
          <a:blip r:embed="rId2"/>
          <a:stretch>
            <a:fillRect/>
          </a:stretch>
        </p:blipFill>
        <p:spPr>
          <a:xfrm>
            <a:off x="8165794" y="1"/>
            <a:ext cx="978206" cy="782664"/>
          </a:xfrm>
          <a:prstGeom prst="rect">
            <a:avLst/>
          </a:prstGeom>
        </p:spPr>
      </p:pic>
      <p:pic>
        <p:nvPicPr>
          <p:cNvPr id="8" name="תמונה 7">
            <a:extLst>
              <a:ext uri="{FF2B5EF4-FFF2-40B4-BE49-F238E27FC236}">
                <a16:creationId xmlns:a16="http://schemas.microsoft.com/office/drawing/2014/main" id="{2011CEC8-3F61-4822-8E17-02B751AFA1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5" name="תיבת טקסט 4">
            <a:extLst>
              <a:ext uri="{FF2B5EF4-FFF2-40B4-BE49-F238E27FC236}">
                <a16:creationId xmlns:a16="http://schemas.microsoft.com/office/drawing/2014/main" id="{32858E88-B3AB-82DC-E4DA-F64BF053DCE9}"/>
              </a:ext>
            </a:extLst>
          </p:cNvPr>
          <p:cNvSpPr txBox="1"/>
          <p:nvPr/>
        </p:nvSpPr>
        <p:spPr>
          <a:xfrm>
            <a:off x="2819400" y="116851"/>
            <a:ext cx="519355" cy="253916"/>
          </a:xfrm>
          <a:prstGeom prst="rect">
            <a:avLst/>
          </a:prstGeom>
          <a:noFill/>
        </p:spPr>
        <p:txBody>
          <a:bodyPr wrap="square" rtlCol="1">
            <a:spAutoFit/>
          </a:bodyPr>
          <a:lstStyle/>
          <a:p>
            <a:r>
              <a:rPr lang="en-US" sz="1050" b="1" dirty="0"/>
              <a:t>10,12</a:t>
            </a:r>
            <a:endParaRPr lang="he-IL" sz="1050" b="1" dirty="0"/>
          </a:p>
        </p:txBody>
      </p:sp>
      <p:sp>
        <p:nvSpPr>
          <p:cNvPr id="9" name="תיבת טקסט 8">
            <a:extLst>
              <a:ext uri="{FF2B5EF4-FFF2-40B4-BE49-F238E27FC236}">
                <a16:creationId xmlns:a16="http://schemas.microsoft.com/office/drawing/2014/main" id="{09B6CDEC-9EEE-3A96-9B1F-ED05DBE48C6C}"/>
              </a:ext>
            </a:extLst>
          </p:cNvPr>
          <p:cNvSpPr txBox="1"/>
          <p:nvPr/>
        </p:nvSpPr>
        <p:spPr>
          <a:xfrm>
            <a:off x="6090377" y="6008256"/>
            <a:ext cx="3086100" cy="1465786"/>
          </a:xfrm>
          <a:prstGeom prst="rect">
            <a:avLst/>
          </a:prstGeom>
          <a:noFill/>
        </p:spPr>
        <p:txBody>
          <a:bodyPr wrap="square" rtlCol="1">
            <a:spAutoFit/>
          </a:bodyPr>
          <a:lstStyle/>
          <a:p>
            <a:pPr algn="r" rtl="1"/>
            <a:r>
              <a:rPr lang="he-IL" sz="1050" dirty="0">
                <a:solidFill>
                  <a:schemeClr val="bg1">
                    <a:lumMod val="50000"/>
                  </a:schemeClr>
                </a:solidFill>
                <a:latin typeface="Arial" panose="020B0604020202020204" pitchFamily="34" charset="0"/>
                <a:cs typeface="Arial" panose="020B0604020202020204" pitchFamily="34" charset="0"/>
              </a:rPr>
              <a:t>10.שובל, פ. (2017) תכנון, ניתוח ועיצוב מערכות מידע. האוניברסיטה הפתוחה.</a:t>
            </a:r>
          </a:p>
          <a:p>
            <a:pPr algn="l" rtl="1">
              <a:lnSpc>
                <a:spcPct val="150000"/>
              </a:lnSpc>
            </a:pPr>
            <a:r>
              <a:rPr lang="en-US" sz="1050" dirty="0">
                <a:solidFill>
                  <a:schemeClr val="bg1">
                    <a:lumMod val="50000"/>
                  </a:schemeClr>
                </a:solidFill>
                <a:latin typeface="Arial" panose="020B0604020202020204" pitchFamily="34" charset="0"/>
                <a:cs typeface="Arial" panose="020B0604020202020204" pitchFamily="34" charset="0"/>
              </a:rPr>
              <a:t>12.Martin </a:t>
            </a:r>
            <a:r>
              <a:rPr lang="en-US" sz="1050" dirty="0" err="1">
                <a:solidFill>
                  <a:schemeClr val="bg1">
                    <a:lumMod val="50000"/>
                  </a:schemeClr>
                </a:solidFill>
                <a:latin typeface="Arial" panose="020B0604020202020204" pitchFamily="34" charset="0"/>
                <a:cs typeface="Arial" panose="020B0604020202020204" pitchFamily="34" charset="0"/>
              </a:rPr>
              <a:t>Sarnovsky</a:t>
            </a:r>
            <a:r>
              <a:rPr lang="en-US" sz="1050" dirty="0">
                <a:solidFill>
                  <a:schemeClr val="bg1">
                    <a:lumMod val="50000"/>
                  </a:schemeClr>
                </a:solidFill>
                <a:latin typeface="Arial" panose="020B0604020202020204" pitchFamily="34" charset="0"/>
                <a:cs typeface="Arial" panose="020B0604020202020204" pitchFamily="34" charset="0"/>
              </a:rPr>
              <a:t>, Peter Bednar and Miroslav </a:t>
            </a:r>
            <a:r>
              <a:rPr lang="en-US" sz="1050" dirty="0" err="1">
                <a:solidFill>
                  <a:schemeClr val="bg1">
                    <a:lumMod val="50000"/>
                  </a:schemeClr>
                </a:solidFill>
                <a:latin typeface="Arial" panose="020B0604020202020204" pitchFamily="34" charset="0"/>
                <a:cs typeface="Arial" panose="020B0604020202020204" pitchFamily="34" charset="0"/>
              </a:rPr>
              <a:t>Smatana</a:t>
            </a:r>
            <a:r>
              <a:rPr lang="en-US" sz="1050" dirty="0">
                <a:solidFill>
                  <a:schemeClr val="bg1">
                    <a:lumMod val="50000"/>
                  </a:schemeClr>
                </a:solidFill>
                <a:latin typeface="Arial" panose="020B0604020202020204" pitchFamily="34" charset="0"/>
                <a:cs typeface="Arial" panose="020B0604020202020204" pitchFamily="34" charset="0"/>
              </a:rPr>
              <a:t>. Big Data Processing and Analytics</a:t>
            </a:r>
            <a:endParaRPr lang="he-IL" sz="1050" dirty="0">
              <a:solidFill>
                <a:schemeClr val="bg1">
                  <a:lumMod val="50000"/>
                </a:schemeClr>
              </a:solidFill>
              <a:latin typeface="Arial" panose="020B0604020202020204" pitchFamily="34" charset="0"/>
              <a:cs typeface="Arial" panose="020B0604020202020204" pitchFamily="34" charset="0"/>
            </a:endParaRPr>
          </a:p>
          <a:p>
            <a:pPr algn="r" rtl="0">
              <a:lnSpc>
                <a:spcPct val="150000"/>
              </a:lnSpc>
            </a:pPr>
            <a:endParaRPr lang="he-IL" sz="1050" b="1" u="sng" dirty="0">
              <a:solidFill>
                <a:schemeClr val="bg1">
                  <a:lumMod val="50000"/>
                </a:schemeClr>
              </a:solidFill>
              <a:latin typeface="Arial" panose="020B0604020202020204" pitchFamily="34" charset="0"/>
              <a:cs typeface="Arial" panose="020B0604020202020204" pitchFamily="34" charset="0"/>
            </a:endParaRPr>
          </a:p>
          <a:p>
            <a:pPr algn="r" rtl="1"/>
            <a:endParaRPr lang="he-IL" sz="1050" dirty="0">
              <a:solidFill>
                <a:schemeClr val="bg1">
                  <a:lumMod val="50000"/>
                </a:schemeClr>
              </a:solidFill>
              <a:latin typeface="Arial" panose="020B0604020202020204" pitchFamily="34" charset="0"/>
              <a:cs typeface="Arial" panose="020B0604020202020204" pitchFamily="34" charset="0"/>
            </a:endParaRPr>
          </a:p>
          <a:p>
            <a:pPr algn="r" rtl="1"/>
            <a:endParaRPr lang="he-IL" sz="1050" dirty="0">
              <a:solidFill>
                <a:schemeClr val="bg1">
                  <a:lumMod val="50000"/>
                </a:schemeClr>
              </a:solidFill>
              <a:highlight>
                <a:srgbClr val="FFFF00"/>
              </a:highlight>
            </a:endParaRPr>
          </a:p>
        </p:txBody>
      </p:sp>
      <p:graphicFrame>
        <p:nvGraphicFramePr>
          <p:cNvPr id="11" name="טבלה 10">
            <a:extLst>
              <a:ext uri="{FF2B5EF4-FFF2-40B4-BE49-F238E27FC236}">
                <a16:creationId xmlns:a16="http://schemas.microsoft.com/office/drawing/2014/main" id="{0B9F6566-AC9E-709F-87F2-5C0C96C79CF3}"/>
              </a:ext>
            </a:extLst>
          </p:cNvPr>
          <p:cNvGraphicFramePr>
            <a:graphicFrameLocks noGrp="1"/>
          </p:cNvGraphicFramePr>
          <p:nvPr>
            <p:extLst>
              <p:ext uri="{D42A27DB-BD31-4B8C-83A1-F6EECF244321}">
                <p14:modId xmlns:p14="http://schemas.microsoft.com/office/powerpoint/2010/main" val="1590683291"/>
              </p:ext>
            </p:extLst>
          </p:nvPr>
        </p:nvGraphicFramePr>
        <p:xfrm>
          <a:off x="868679" y="665731"/>
          <a:ext cx="7336248" cy="5386167"/>
        </p:xfrm>
        <a:graphic>
          <a:graphicData uri="http://schemas.openxmlformats.org/drawingml/2006/table">
            <a:tbl>
              <a:tblPr rtl="1" firstRow="1" bandRow="1">
                <a:tableStyleId>{5C22544A-7EE6-4342-B048-85BDC9FD1C3A}</a:tableStyleId>
              </a:tblPr>
              <a:tblGrid>
                <a:gridCol w="1839897">
                  <a:extLst>
                    <a:ext uri="{9D8B030D-6E8A-4147-A177-3AD203B41FA5}">
                      <a16:colId xmlns:a16="http://schemas.microsoft.com/office/drawing/2014/main" val="2867188370"/>
                    </a:ext>
                  </a:extLst>
                </a:gridCol>
                <a:gridCol w="4011516">
                  <a:extLst>
                    <a:ext uri="{9D8B030D-6E8A-4147-A177-3AD203B41FA5}">
                      <a16:colId xmlns:a16="http://schemas.microsoft.com/office/drawing/2014/main" val="677371361"/>
                    </a:ext>
                  </a:extLst>
                </a:gridCol>
                <a:gridCol w="1484835">
                  <a:extLst>
                    <a:ext uri="{9D8B030D-6E8A-4147-A177-3AD203B41FA5}">
                      <a16:colId xmlns:a16="http://schemas.microsoft.com/office/drawing/2014/main" val="3202396566"/>
                    </a:ext>
                  </a:extLst>
                </a:gridCol>
              </a:tblGrid>
              <a:tr h="636281">
                <a:tc>
                  <a:txBody>
                    <a:bodyPr/>
                    <a:lstStyle/>
                    <a:p>
                      <a:pPr algn="ctr" rtl="1"/>
                      <a:r>
                        <a:rPr lang="he-IL" sz="1400" dirty="0"/>
                        <a:t>תהליך</a:t>
                      </a:r>
                      <a:endParaRPr lang="he-IL" sz="1400" dirty="0">
                        <a:cs typeface="+mn-cs"/>
                      </a:endParaRPr>
                    </a:p>
                  </a:txBody>
                  <a:tcPr/>
                </a:tc>
                <a:tc>
                  <a:txBody>
                    <a:bodyPr/>
                    <a:lstStyle/>
                    <a:p>
                      <a:pPr algn="ctr" rtl="1"/>
                      <a:r>
                        <a:rPr lang="he-IL" sz="1400" dirty="0"/>
                        <a:t>תיאור </a:t>
                      </a:r>
                      <a:r>
                        <a:rPr lang="en-US" sz="1400" dirty="0"/>
                        <a:t>FR</a:t>
                      </a:r>
                      <a:r>
                        <a:rPr lang="he-IL" sz="1400" dirty="0"/>
                        <a:t>- קריטיות </a:t>
                      </a:r>
                      <a:endParaRPr lang="he-IL" sz="1400" u="sng" dirty="0"/>
                    </a:p>
                    <a:p>
                      <a:pPr algn="ctr" rtl="1"/>
                      <a:r>
                        <a:rPr lang="he-IL" sz="1400" u="sng" dirty="0"/>
                        <a:t>המערכת תאפשר :</a:t>
                      </a:r>
                      <a:endParaRPr lang="he-IL" sz="1400" u="sng" dirty="0">
                        <a:cs typeface="+mn-cs"/>
                      </a:endParaRPr>
                    </a:p>
                  </a:txBody>
                  <a:tcPr/>
                </a:tc>
                <a:tc>
                  <a:txBody>
                    <a:bodyPr/>
                    <a:lstStyle/>
                    <a:p>
                      <a:pPr algn="ctr" rtl="1"/>
                      <a:r>
                        <a:rPr lang="he-IL" sz="1400" dirty="0"/>
                        <a:t>יישום באב טיפוס</a:t>
                      </a:r>
                      <a:endParaRPr lang="he-IL" sz="1400" dirty="0">
                        <a:cs typeface="+mn-cs"/>
                      </a:endParaRPr>
                    </a:p>
                  </a:txBody>
                  <a:tcPr/>
                </a:tc>
                <a:extLst>
                  <a:ext uri="{0D108BD9-81ED-4DB2-BD59-A6C34878D82A}">
                    <a16:rowId xmlns:a16="http://schemas.microsoft.com/office/drawing/2014/main" val="3458455029"/>
                  </a:ext>
                </a:extLst>
              </a:tr>
              <a:tr h="368640">
                <a:tc rowSpan="4">
                  <a:txBody>
                    <a:bodyPr/>
                    <a:lstStyle/>
                    <a:p>
                      <a:pPr algn="ctr" rtl="1"/>
                      <a:r>
                        <a:rPr lang="he-IL" sz="1400" dirty="0"/>
                        <a:t>הרשמה</a:t>
                      </a:r>
                    </a:p>
                    <a:p>
                      <a:pPr algn="ctr" rtl="1"/>
                      <a:r>
                        <a:rPr lang="he-IL" sz="1400" dirty="0"/>
                        <a:t>לאתר</a:t>
                      </a:r>
                    </a:p>
                    <a:p>
                      <a:pPr algn="ctr" rtl="1"/>
                      <a:endParaRPr lang="he-IL" sz="1400" dirty="0"/>
                    </a:p>
                  </a:txBody>
                  <a:tcPr anchor="ctr">
                    <a:solidFill>
                      <a:schemeClr val="accent1">
                        <a:lumMod val="20000"/>
                        <a:lumOff val="80000"/>
                      </a:schemeClr>
                    </a:solidFill>
                  </a:tcPr>
                </a:tc>
                <a:tc>
                  <a:txBody>
                    <a:bodyPr/>
                    <a:lstStyle/>
                    <a:p>
                      <a:pPr marL="0" indent="0" rtl="1">
                        <a:buFont typeface="+mj-lt"/>
                        <a:buNone/>
                      </a:pPr>
                      <a:r>
                        <a:rPr lang="he-IL" sz="1400" dirty="0"/>
                        <a:t>1. כניסה להרשמה</a:t>
                      </a:r>
                    </a:p>
                  </a:txBody>
                  <a:tcPr/>
                </a:tc>
                <a:tc>
                  <a:txBody>
                    <a:bodyPr/>
                    <a:lstStyle/>
                    <a:p>
                      <a:pPr algn="ctr" rtl="1"/>
                      <a:r>
                        <a:rPr lang="en-US" sz="1400" dirty="0"/>
                        <a:t>V</a:t>
                      </a:r>
                      <a:endParaRPr lang="he-IL" sz="1400" dirty="0"/>
                    </a:p>
                  </a:txBody>
                  <a:tcPr/>
                </a:tc>
                <a:extLst>
                  <a:ext uri="{0D108BD9-81ED-4DB2-BD59-A6C34878D82A}">
                    <a16:rowId xmlns:a16="http://schemas.microsoft.com/office/drawing/2014/main" val="522845236"/>
                  </a:ext>
                </a:extLst>
              </a:tr>
              <a:tr h="368640">
                <a:tc vMerge="1">
                  <a:txBody>
                    <a:bodyPr/>
                    <a:lstStyle/>
                    <a:p>
                      <a:pPr rtl="1"/>
                      <a:endParaRPr lang="he-IL"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 typeface="+mj-lt"/>
                        <a:buNone/>
                        <a:tabLst/>
                        <a:defRPr/>
                      </a:pPr>
                      <a:r>
                        <a:rPr lang="he-IL" sz="1400" dirty="0"/>
                        <a:t>2. מילוי טופס רישום</a:t>
                      </a:r>
                    </a:p>
                  </a:txBody>
                  <a:tcPr/>
                </a:tc>
                <a:tc>
                  <a:txBody>
                    <a:bodyPr/>
                    <a:lstStyle/>
                    <a:p>
                      <a:pPr algn="ctr" rtl="1"/>
                      <a:r>
                        <a:rPr lang="en-US" sz="1400" dirty="0"/>
                        <a:t>V</a:t>
                      </a:r>
                      <a:endParaRPr lang="he-IL" sz="1400" dirty="0"/>
                    </a:p>
                  </a:txBody>
                  <a:tcPr/>
                </a:tc>
                <a:extLst>
                  <a:ext uri="{0D108BD9-81ED-4DB2-BD59-A6C34878D82A}">
                    <a16:rowId xmlns:a16="http://schemas.microsoft.com/office/drawing/2014/main" val="4112381748"/>
                  </a:ext>
                </a:extLst>
              </a:tr>
              <a:tr h="368640">
                <a:tc vMerge="1">
                  <a:txBody>
                    <a:bodyPr/>
                    <a:lstStyle/>
                    <a:p>
                      <a:pPr rtl="1"/>
                      <a:endParaRPr lang="he-IL"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 typeface="+mj-lt"/>
                        <a:buNone/>
                        <a:tabLst/>
                        <a:defRPr/>
                      </a:pPr>
                      <a:r>
                        <a:rPr lang="he-IL" sz="1400" dirty="0"/>
                        <a:t>3. אימות דוא"ל</a:t>
                      </a:r>
                    </a:p>
                  </a:txBody>
                  <a:tcPr/>
                </a:tc>
                <a:tc>
                  <a:txBody>
                    <a:bodyPr/>
                    <a:lstStyle/>
                    <a:p>
                      <a:pPr algn="ctr" rtl="1"/>
                      <a:r>
                        <a:rPr lang="en-US" sz="1400" dirty="0"/>
                        <a:t>V</a:t>
                      </a:r>
                      <a:endParaRPr lang="he-IL" sz="1400" dirty="0"/>
                    </a:p>
                  </a:txBody>
                  <a:tcPr/>
                </a:tc>
                <a:extLst>
                  <a:ext uri="{0D108BD9-81ED-4DB2-BD59-A6C34878D82A}">
                    <a16:rowId xmlns:a16="http://schemas.microsoft.com/office/drawing/2014/main" val="1345073745"/>
                  </a:ext>
                </a:extLst>
              </a:tr>
              <a:tr h="368640">
                <a:tc vMerge="1">
                  <a:txBody>
                    <a:bodyPr/>
                    <a:lstStyle/>
                    <a:p>
                      <a:pPr rtl="1"/>
                      <a:endParaRPr lang="he-IL"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400" dirty="0"/>
                        <a:t>4. כניסה לחשבון</a:t>
                      </a:r>
                    </a:p>
                  </a:txBody>
                  <a:tcPr/>
                </a:tc>
                <a:tc>
                  <a:txBody>
                    <a:bodyPr/>
                    <a:lstStyle/>
                    <a:p>
                      <a:pPr algn="ctr" rtl="1"/>
                      <a:r>
                        <a:rPr lang="en-US" sz="1400" dirty="0"/>
                        <a:t>V</a:t>
                      </a:r>
                      <a:endParaRPr lang="he-IL" sz="1400" dirty="0"/>
                    </a:p>
                  </a:txBody>
                  <a:tcPr/>
                </a:tc>
                <a:extLst>
                  <a:ext uri="{0D108BD9-81ED-4DB2-BD59-A6C34878D82A}">
                    <a16:rowId xmlns:a16="http://schemas.microsoft.com/office/drawing/2014/main" val="4133249092"/>
                  </a:ext>
                </a:extLst>
              </a:tr>
              <a:tr h="368640">
                <a:tc rowSpan="7">
                  <a:txBody>
                    <a:bodyPr/>
                    <a:lstStyle/>
                    <a:p>
                      <a:pPr algn="ctr" rtl="1"/>
                      <a:r>
                        <a:rPr lang="he-IL" sz="1400" dirty="0"/>
                        <a:t>חיפוש מידע </a:t>
                      </a:r>
                    </a:p>
                  </a:txBody>
                  <a:tcPr anchor="ctr">
                    <a:solidFill>
                      <a:schemeClr val="accent1">
                        <a:lumMod val="20000"/>
                        <a:lumOff val="80000"/>
                      </a:schemeClr>
                    </a:solidFill>
                  </a:tcPr>
                </a:tc>
                <a:tc>
                  <a:txBody>
                    <a:bodyPr/>
                    <a:lstStyle/>
                    <a:p>
                      <a:pPr rtl="1"/>
                      <a:r>
                        <a:rPr lang="he-IL" sz="1400" dirty="0"/>
                        <a:t>1. כניסה לאתר</a:t>
                      </a:r>
                    </a:p>
                  </a:txBody>
                  <a:tcPr/>
                </a:tc>
                <a:tc>
                  <a:txBody>
                    <a:bodyPr/>
                    <a:lstStyle/>
                    <a:p>
                      <a:pPr algn="ctr" rtl="1"/>
                      <a:r>
                        <a:rPr lang="en-US" sz="1400" dirty="0"/>
                        <a:t>V</a:t>
                      </a:r>
                      <a:endParaRPr lang="he-IL" sz="1400" dirty="0"/>
                    </a:p>
                  </a:txBody>
                  <a:tcPr/>
                </a:tc>
                <a:extLst>
                  <a:ext uri="{0D108BD9-81ED-4DB2-BD59-A6C34878D82A}">
                    <a16:rowId xmlns:a16="http://schemas.microsoft.com/office/drawing/2014/main" val="355249311"/>
                  </a:ext>
                </a:extLst>
              </a:tr>
              <a:tr h="381914">
                <a:tc vMerge="1">
                  <a:txBody>
                    <a:bodyPr/>
                    <a:lstStyle/>
                    <a:p>
                      <a:pPr rtl="1"/>
                      <a:endParaRPr lang="he-IL" dirty="0"/>
                    </a:p>
                  </a:txBody>
                  <a:tcPr/>
                </a:tc>
                <a:tc>
                  <a:txBody>
                    <a:bodyPr/>
                    <a:lstStyle/>
                    <a:p>
                      <a:pPr rtl="1"/>
                      <a:r>
                        <a:rPr lang="he-IL" sz="1400" dirty="0"/>
                        <a:t>2. התחברות עם חשבון אישי או כאורח </a:t>
                      </a:r>
                      <a:endParaRPr lang="ar-AE" sz="1400" dirty="0"/>
                    </a:p>
                  </a:txBody>
                  <a:tcPr/>
                </a:tc>
                <a:tc>
                  <a:txBody>
                    <a:bodyPr/>
                    <a:lstStyle/>
                    <a:p>
                      <a:pPr algn="ctr" rtl="1"/>
                      <a:r>
                        <a:rPr lang="en-US" sz="1400" dirty="0"/>
                        <a:t>V</a:t>
                      </a:r>
                      <a:endParaRPr lang="he-IL" sz="1400" dirty="0"/>
                    </a:p>
                  </a:txBody>
                  <a:tcPr/>
                </a:tc>
                <a:extLst>
                  <a:ext uri="{0D108BD9-81ED-4DB2-BD59-A6C34878D82A}">
                    <a16:rowId xmlns:a16="http://schemas.microsoft.com/office/drawing/2014/main" val="2573694021"/>
                  </a:ext>
                </a:extLst>
              </a:tr>
              <a:tr h="368640">
                <a:tc vMerge="1">
                  <a:txBody>
                    <a:bodyPr/>
                    <a:lstStyle/>
                    <a:p>
                      <a:pPr rtl="1"/>
                      <a:endParaRPr lang="he-IL" dirty="0"/>
                    </a:p>
                  </a:txBody>
                  <a:tcPr/>
                </a:tc>
                <a:tc>
                  <a:txBody>
                    <a:bodyPr/>
                    <a:lstStyle/>
                    <a:p>
                      <a:pPr rtl="1"/>
                      <a:r>
                        <a:rPr lang="he-IL" sz="1400" dirty="0"/>
                        <a:t>3. בחירת שפה: עברית /ערבית</a:t>
                      </a:r>
                      <a:endParaRPr lang="ar-AE" sz="1400" dirty="0"/>
                    </a:p>
                  </a:txBody>
                  <a:tcPr/>
                </a:tc>
                <a:tc>
                  <a:txBody>
                    <a:bodyPr/>
                    <a:lstStyle/>
                    <a:p>
                      <a:pPr algn="ctr" rtl="1"/>
                      <a:r>
                        <a:rPr lang="en-US" sz="1400" dirty="0"/>
                        <a:t>V</a:t>
                      </a:r>
                      <a:endParaRPr lang="he-IL" sz="1400" dirty="0"/>
                    </a:p>
                  </a:txBody>
                  <a:tcPr/>
                </a:tc>
                <a:extLst>
                  <a:ext uri="{0D108BD9-81ED-4DB2-BD59-A6C34878D82A}">
                    <a16:rowId xmlns:a16="http://schemas.microsoft.com/office/drawing/2014/main" val="933986338"/>
                  </a:ext>
                </a:extLst>
              </a:tr>
              <a:tr h="603717">
                <a:tc vMerge="1">
                  <a:txBody>
                    <a:bodyPr/>
                    <a:lstStyle/>
                    <a:p>
                      <a:pPr rtl="1"/>
                      <a:endParaRPr lang="he-IL" dirty="0"/>
                    </a:p>
                  </a:txBody>
                  <a:tcPr/>
                </a:tc>
                <a:tc>
                  <a:txBody>
                    <a:bodyPr/>
                    <a:lstStyle/>
                    <a:p>
                      <a:pPr rtl="1"/>
                      <a:r>
                        <a:rPr lang="he-IL" sz="1400" dirty="0"/>
                        <a:t>4.בחירת נושא ראשי: הריון, לידה, 12-24 חודש</a:t>
                      </a:r>
                    </a:p>
                  </a:txBody>
                  <a:tcPr/>
                </a:tc>
                <a:tc>
                  <a:txBody>
                    <a:bodyPr/>
                    <a:lstStyle/>
                    <a:p>
                      <a:pPr algn="ctr" rtl="1"/>
                      <a:r>
                        <a:rPr lang="en-US" sz="1400" dirty="0"/>
                        <a:t>V</a:t>
                      </a:r>
                      <a:endParaRPr lang="he-IL" sz="1400" dirty="0"/>
                    </a:p>
                  </a:txBody>
                  <a:tcPr/>
                </a:tc>
                <a:extLst>
                  <a:ext uri="{0D108BD9-81ED-4DB2-BD59-A6C34878D82A}">
                    <a16:rowId xmlns:a16="http://schemas.microsoft.com/office/drawing/2014/main" val="1659072025"/>
                  </a:ext>
                </a:extLst>
              </a:tr>
              <a:tr h="603717">
                <a:tc vMerge="1">
                  <a:txBody>
                    <a:bodyPr/>
                    <a:lstStyle/>
                    <a:p>
                      <a:pPr algn="ctr" rtl="1"/>
                      <a:endParaRPr lang="he-IL" dirty="0"/>
                    </a:p>
                  </a:txBody>
                  <a:tcPr anchor="ctr">
                    <a:solidFill>
                      <a:schemeClr val="accent1">
                        <a:lumMod val="20000"/>
                        <a:lumOff val="80000"/>
                      </a:schemeClr>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400" dirty="0"/>
                        <a:t>5. </a:t>
                      </a:r>
                      <a:r>
                        <a:rPr lang="he-IL" sz="1400" b="0" dirty="0">
                          <a:solidFill>
                            <a:schemeClr val="tx1"/>
                          </a:solidFill>
                        </a:rPr>
                        <a:t>בחירת נושא משני</a:t>
                      </a:r>
                      <a:endParaRPr lang="ar-AE" sz="1400" b="0" dirty="0">
                        <a:solidFill>
                          <a:schemeClr val="tx1"/>
                        </a:solidFill>
                      </a:endParaRPr>
                    </a:p>
                    <a:p>
                      <a:pPr rtl="1"/>
                      <a:endParaRPr lang="he-IL" sz="1400" dirty="0"/>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dirty="0"/>
                        <a:t>V</a:t>
                      </a:r>
                      <a:endParaRPr lang="he-IL" sz="1400" dirty="0"/>
                    </a:p>
                    <a:p>
                      <a:pPr algn="ctr" rtl="1"/>
                      <a:endParaRPr lang="he-IL" sz="1400" dirty="0"/>
                    </a:p>
                  </a:txBody>
                  <a:tcPr/>
                </a:tc>
                <a:extLst>
                  <a:ext uri="{0D108BD9-81ED-4DB2-BD59-A6C34878D82A}">
                    <a16:rowId xmlns:a16="http://schemas.microsoft.com/office/drawing/2014/main" val="2241387356"/>
                  </a:ext>
                </a:extLst>
              </a:tr>
              <a:tr h="603717">
                <a:tc vMerge="1">
                  <a:txBody>
                    <a:bodyPr/>
                    <a:lstStyle/>
                    <a:p>
                      <a:pPr algn="ctr" rtl="1"/>
                      <a:endParaRPr lang="he-IL" dirty="0"/>
                    </a:p>
                  </a:txBody>
                  <a:tcPr anchor="ctr">
                    <a:solidFill>
                      <a:schemeClr val="accent1">
                        <a:lumMod val="20000"/>
                        <a:lumOff val="80000"/>
                      </a:schemeClr>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400" dirty="0"/>
                        <a:t>6. </a:t>
                      </a:r>
                      <a:r>
                        <a:rPr lang="he-IL" sz="1400" b="0" dirty="0">
                          <a:solidFill>
                            <a:schemeClr val="tx1"/>
                          </a:solidFill>
                        </a:rPr>
                        <a:t>בחירת תחום </a:t>
                      </a:r>
                      <a:r>
                        <a:rPr lang="he-IL" sz="1400" b="0" dirty="0" err="1">
                          <a:solidFill>
                            <a:schemeClr val="tx1"/>
                          </a:solidFill>
                        </a:rPr>
                        <a:t>ענין:סרטון,פודקאסט</a:t>
                      </a:r>
                      <a:r>
                        <a:rPr lang="he-IL" sz="1400" b="0" dirty="0">
                          <a:solidFill>
                            <a:schemeClr val="tx1"/>
                          </a:solidFill>
                        </a:rPr>
                        <a:t> ועוד....</a:t>
                      </a:r>
                      <a:endParaRPr lang="ar-AE" sz="1400" b="0" dirty="0">
                        <a:solidFill>
                          <a:schemeClr val="tx1"/>
                        </a:solidFill>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dirty="0"/>
                        <a:t>V</a:t>
                      </a:r>
                      <a:endParaRPr lang="he-IL" sz="1400" dirty="0"/>
                    </a:p>
                    <a:p>
                      <a:pPr algn="ctr" rtl="1"/>
                      <a:endParaRPr lang="he-IL" sz="1400" dirty="0"/>
                    </a:p>
                  </a:txBody>
                  <a:tcPr/>
                </a:tc>
                <a:extLst>
                  <a:ext uri="{0D108BD9-81ED-4DB2-BD59-A6C34878D82A}">
                    <a16:rowId xmlns:a16="http://schemas.microsoft.com/office/drawing/2014/main" val="2612567363"/>
                  </a:ext>
                </a:extLst>
              </a:tr>
              <a:tr h="344981">
                <a:tc vMerge="1">
                  <a:txBody>
                    <a:bodyPr/>
                    <a:lstStyle/>
                    <a:p>
                      <a:pPr algn="ctr" rtl="1"/>
                      <a:endParaRPr lang="he-IL" dirty="0"/>
                    </a:p>
                  </a:txBody>
                  <a:tcPr anchor="ctr">
                    <a:solidFill>
                      <a:schemeClr val="accent1">
                        <a:lumMod val="20000"/>
                        <a:lumOff val="80000"/>
                      </a:schemeClr>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400" dirty="0"/>
                        <a:t>7. </a:t>
                      </a:r>
                      <a:r>
                        <a:rPr lang="he-IL" sz="1400" b="0" dirty="0">
                          <a:solidFill>
                            <a:schemeClr val="tx1"/>
                          </a:solidFill>
                        </a:rPr>
                        <a:t>צפייה בתוצאות חיפוש</a:t>
                      </a:r>
                      <a:endParaRPr lang="ar-AE" sz="1400" b="0" dirty="0">
                        <a:solidFill>
                          <a:schemeClr val="tx1"/>
                        </a:solidFill>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400" dirty="0"/>
                        <a:t>V</a:t>
                      </a:r>
                      <a:endParaRPr lang="he-IL" sz="1400" dirty="0"/>
                    </a:p>
                  </a:txBody>
                  <a:tcPr/>
                </a:tc>
                <a:extLst>
                  <a:ext uri="{0D108BD9-81ED-4DB2-BD59-A6C34878D82A}">
                    <a16:rowId xmlns:a16="http://schemas.microsoft.com/office/drawing/2014/main" val="839163038"/>
                  </a:ext>
                </a:extLst>
              </a:tr>
            </a:tbl>
          </a:graphicData>
        </a:graphic>
      </p:graphicFrame>
    </p:spTree>
    <p:extLst>
      <p:ext uri="{BB962C8B-B14F-4D97-AF65-F5344CB8AC3E}">
        <p14:creationId xmlns:p14="http://schemas.microsoft.com/office/powerpoint/2010/main" val="685617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כותרת תחתונה 1">
            <a:extLst>
              <a:ext uri="{FF2B5EF4-FFF2-40B4-BE49-F238E27FC236}">
                <a16:creationId xmlns:a16="http://schemas.microsoft.com/office/drawing/2014/main" id="{3AACEF19-5D48-41C8-B8FE-10FC1882B963}"/>
              </a:ext>
            </a:extLst>
          </p:cNvPr>
          <p:cNvSpPr>
            <a:spLocks noGrp="1"/>
          </p:cNvSpPr>
          <p:nvPr>
            <p:ph type="ftr" sz="quarter" idx="11"/>
          </p:nvPr>
        </p:nvSpPr>
        <p:spPr/>
        <p:txBody>
          <a:bodyPr/>
          <a:lstStyle/>
          <a:p>
            <a:r>
              <a:rPr lang="he-IL" b="1" dirty="0">
                <a:solidFill>
                  <a:schemeClr val="tx1"/>
                </a:solidFill>
              </a:rPr>
              <a:t>אתר אינטרנט לאימהות חדשות במגזר הבדואי                      </a:t>
            </a:r>
            <a:r>
              <a:rPr lang="en-US" b="1" dirty="0">
                <a:solidFill>
                  <a:schemeClr val="tx1"/>
                </a:solidFill>
              </a:rPr>
              <a:t>Navon-13-2024-sem2</a:t>
            </a:r>
            <a:endParaRPr lang="he-IL" b="1" dirty="0">
              <a:solidFill>
                <a:schemeClr val="tx1"/>
              </a:solidFill>
            </a:endParaRPr>
          </a:p>
        </p:txBody>
      </p:sp>
      <p:sp>
        <p:nvSpPr>
          <p:cNvPr id="3" name="מציין מיקום של מספר שקופית 2">
            <a:extLst>
              <a:ext uri="{FF2B5EF4-FFF2-40B4-BE49-F238E27FC236}">
                <a16:creationId xmlns:a16="http://schemas.microsoft.com/office/drawing/2014/main" id="{BAE2A430-2F5E-403D-B052-6CE323845973}"/>
              </a:ext>
            </a:extLst>
          </p:cNvPr>
          <p:cNvSpPr>
            <a:spLocks noGrp="1"/>
          </p:cNvSpPr>
          <p:nvPr>
            <p:ph type="sldNum" sz="quarter" idx="12"/>
          </p:nvPr>
        </p:nvSpPr>
        <p:spPr>
          <a:xfrm>
            <a:off x="0" y="6356351"/>
            <a:ext cx="2057400" cy="365125"/>
          </a:xfrm>
        </p:spPr>
        <p:txBody>
          <a:bodyPr/>
          <a:lstStyle/>
          <a:p>
            <a:pPr algn="l" rtl="1"/>
            <a:fld id="{F406CD6C-EFBE-497B-B02F-71827CD8C8E4}" type="slidenum">
              <a:rPr lang="he-IL" smtClean="0"/>
              <a:pPr algn="l" rtl="1"/>
              <a:t>13</a:t>
            </a:fld>
            <a:endParaRPr lang="he-IL"/>
          </a:p>
        </p:txBody>
      </p:sp>
      <p:sp>
        <p:nvSpPr>
          <p:cNvPr id="4" name="TextBox 5">
            <a:extLst>
              <a:ext uri="{FF2B5EF4-FFF2-40B4-BE49-F238E27FC236}">
                <a16:creationId xmlns:a16="http://schemas.microsoft.com/office/drawing/2014/main" id="{C6B5DA6E-78D7-4BDC-BBA5-E6AB89CBC8F3}"/>
              </a:ext>
            </a:extLst>
          </p:cNvPr>
          <p:cNvSpPr txBox="1">
            <a:spLocks noChangeArrowheads="1"/>
          </p:cNvSpPr>
          <p:nvPr/>
        </p:nvSpPr>
        <p:spPr bwMode="auto">
          <a:xfrm>
            <a:off x="1904413" y="116851"/>
            <a:ext cx="5715000" cy="461665"/>
          </a:xfrm>
          <a:prstGeom prst="rect">
            <a:avLst/>
          </a:prstGeom>
          <a:noFill/>
          <a:ln w="9525">
            <a:noFill/>
            <a:miter lim="800000"/>
            <a:headEnd/>
            <a:tailEnd/>
          </a:ln>
        </p:spPr>
        <p:txBody>
          <a:bodyPr>
            <a:spAutoFit/>
          </a:bodyPr>
          <a:lstStyle>
            <a:defPPr>
              <a:defRPr lang="he-IL"/>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57200" algn="r" rtl="1" fontAlgn="base">
              <a:spcBef>
                <a:spcPct val="0"/>
              </a:spcBef>
              <a:spcAft>
                <a:spcPct val="0"/>
              </a:spcAft>
              <a:defRPr kern="1200">
                <a:solidFill>
                  <a:schemeClr val="tx1"/>
                </a:solidFill>
                <a:latin typeface="Arial" pitchFamily="34" charset="0"/>
                <a:ea typeface="+mn-ea"/>
                <a:cs typeface="Arial" pitchFamily="34" charset="0"/>
              </a:defRPr>
            </a:lvl2pPr>
            <a:lvl3pPr marL="914400" algn="r" rtl="1" fontAlgn="base">
              <a:spcBef>
                <a:spcPct val="0"/>
              </a:spcBef>
              <a:spcAft>
                <a:spcPct val="0"/>
              </a:spcAft>
              <a:defRPr kern="1200">
                <a:solidFill>
                  <a:schemeClr val="tx1"/>
                </a:solidFill>
                <a:latin typeface="Arial" pitchFamily="34" charset="0"/>
                <a:ea typeface="+mn-ea"/>
                <a:cs typeface="Arial" pitchFamily="34" charset="0"/>
              </a:defRPr>
            </a:lvl3pPr>
            <a:lvl4pPr marL="1371600" algn="r" rtl="1" fontAlgn="base">
              <a:spcBef>
                <a:spcPct val="0"/>
              </a:spcBef>
              <a:spcAft>
                <a:spcPct val="0"/>
              </a:spcAft>
              <a:defRPr kern="1200">
                <a:solidFill>
                  <a:schemeClr val="tx1"/>
                </a:solidFill>
                <a:latin typeface="Arial" pitchFamily="34" charset="0"/>
                <a:ea typeface="+mn-ea"/>
                <a:cs typeface="Arial" pitchFamily="34" charset="0"/>
              </a:defRPr>
            </a:lvl4pPr>
            <a:lvl5pPr marL="1828800" algn="r" rtl="1" fontAlgn="base">
              <a:spcBef>
                <a:spcPct val="0"/>
              </a:spcBef>
              <a:spcAft>
                <a:spcPct val="0"/>
              </a:spcAft>
              <a:defRPr kern="1200">
                <a:solidFill>
                  <a:schemeClr val="tx1"/>
                </a:solidFill>
                <a:latin typeface="Arial" pitchFamily="34" charset="0"/>
                <a:ea typeface="+mn-ea"/>
                <a:cs typeface="Arial" pitchFamily="34" charset="0"/>
              </a:defRPr>
            </a:lvl5pPr>
            <a:lvl6pPr marL="2286000" algn="r" defTabSz="914400" rtl="1" eaLnBrk="1" latinLnBrk="0" hangingPunct="1">
              <a:defRPr kern="1200">
                <a:solidFill>
                  <a:schemeClr val="tx1"/>
                </a:solidFill>
                <a:latin typeface="Arial" pitchFamily="34" charset="0"/>
                <a:ea typeface="+mn-ea"/>
                <a:cs typeface="Arial" pitchFamily="34" charset="0"/>
              </a:defRPr>
            </a:lvl6pPr>
            <a:lvl7pPr marL="2743200" algn="r" defTabSz="914400" rtl="1" eaLnBrk="1" latinLnBrk="0" hangingPunct="1">
              <a:defRPr kern="1200">
                <a:solidFill>
                  <a:schemeClr val="tx1"/>
                </a:solidFill>
                <a:latin typeface="Arial" pitchFamily="34" charset="0"/>
                <a:ea typeface="+mn-ea"/>
                <a:cs typeface="Arial" pitchFamily="34" charset="0"/>
              </a:defRPr>
            </a:lvl7pPr>
            <a:lvl8pPr marL="3200400" algn="r" defTabSz="914400" rtl="1" eaLnBrk="1" latinLnBrk="0" hangingPunct="1">
              <a:defRPr kern="1200">
                <a:solidFill>
                  <a:schemeClr val="tx1"/>
                </a:solidFill>
                <a:latin typeface="Arial" pitchFamily="34" charset="0"/>
                <a:ea typeface="+mn-ea"/>
                <a:cs typeface="Arial" pitchFamily="34" charset="0"/>
              </a:defRPr>
            </a:lvl8pPr>
            <a:lvl9pPr marL="3657600" algn="r" defTabSz="914400" rtl="1" eaLnBrk="1" latinLnBrk="0" hangingPunct="1">
              <a:defRPr kern="1200">
                <a:solidFill>
                  <a:schemeClr val="tx1"/>
                </a:solidFill>
                <a:latin typeface="Arial" pitchFamily="34" charset="0"/>
                <a:ea typeface="+mn-ea"/>
                <a:cs typeface="Arial" pitchFamily="34" charset="0"/>
              </a:defRPr>
            </a:lvl9pPr>
          </a:lstStyle>
          <a:p>
            <a:pPr algn="ctr"/>
            <a:r>
              <a:rPr lang="he-IL" sz="2400" b="1" u="sng" dirty="0">
                <a:latin typeface="Calibri" pitchFamily="34" charset="0"/>
              </a:rPr>
              <a:t>דרישות  לא פונקציונליות (</a:t>
            </a:r>
            <a:r>
              <a:rPr lang="en-US" sz="2400" b="1" u="sng" dirty="0">
                <a:latin typeface="Calibri" pitchFamily="34" charset="0"/>
              </a:rPr>
              <a:t>NFR</a:t>
            </a:r>
            <a:r>
              <a:rPr lang="he-IL" sz="2400" b="1" u="sng" dirty="0">
                <a:latin typeface="Calibri" pitchFamily="34" charset="0"/>
              </a:rPr>
              <a:t>)</a:t>
            </a:r>
          </a:p>
        </p:txBody>
      </p:sp>
      <p:pic>
        <p:nvPicPr>
          <p:cNvPr id="6" name="תמונה 5">
            <a:extLst>
              <a:ext uri="{FF2B5EF4-FFF2-40B4-BE49-F238E27FC236}">
                <a16:creationId xmlns:a16="http://schemas.microsoft.com/office/drawing/2014/main" id="{F1C07609-7CC9-42F2-A209-65715AEBCA08}"/>
              </a:ext>
            </a:extLst>
          </p:cNvPr>
          <p:cNvPicPr>
            <a:picLocks noChangeAspect="1"/>
          </p:cNvPicPr>
          <p:nvPr/>
        </p:nvPicPr>
        <p:blipFill>
          <a:blip r:embed="rId2"/>
          <a:stretch>
            <a:fillRect/>
          </a:stretch>
        </p:blipFill>
        <p:spPr>
          <a:xfrm>
            <a:off x="8165794" y="1"/>
            <a:ext cx="978206" cy="782664"/>
          </a:xfrm>
          <a:prstGeom prst="rect">
            <a:avLst/>
          </a:prstGeom>
        </p:spPr>
      </p:pic>
      <p:pic>
        <p:nvPicPr>
          <p:cNvPr id="7" name="תמונה 6">
            <a:extLst>
              <a:ext uri="{FF2B5EF4-FFF2-40B4-BE49-F238E27FC236}">
                <a16:creationId xmlns:a16="http://schemas.microsoft.com/office/drawing/2014/main" id="{4A73A054-96D8-42BB-A911-7E9E759BBA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9" name="תיבת טקסט 8">
            <a:extLst>
              <a:ext uri="{FF2B5EF4-FFF2-40B4-BE49-F238E27FC236}">
                <a16:creationId xmlns:a16="http://schemas.microsoft.com/office/drawing/2014/main" id="{87428613-2D76-7B97-7D34-9C984AF3ADB5}"/>
              </a:ext>
            </a:extLst>
          </p:cNvPr>
          <p:cNvSpPr txBox="1"/>
          <p:nvPr/>
        </p:nvSpPr>
        <p:spPr>
          <a:xfrm>
            <a:off x="3412518" y="78471"/>
            <a:ext cx="599845" cy="253916"/>
          </a:xfrm>
          <a:prstGeom prst="rect">
            <a:avLst/>
          </a:prstGeom>
          <a:noFill/>
        </p:spPr>
        <p:txBody>
          <a:bodyPr wrap="square" rtlCol="1">
            <a:spAutoFit/>
          </a:bodyPr>
          <a:lstStyle/>
          <a:p>
            <a:r>
              <a:rPr lang="en-US" sz="1050" b="1" dirty="0"/>
              <a:t>10,12</a:t>
            </a:r>
            <a:endParaRPr lang="he-IL" sz="1050" b="1" dirty="0"/>
          </a:p>
        </p:txBody>
      </p:sp>
      <p:sp>
        <p:nvSpPr>
          <p:cNvPr id="10" name="תיבת טקסט 9">
            <a:extLst>
              <a:ext uri="{FF2B5EF4-FFF2-40B4-BE49-F238E27FC236}">
                <a16:creationId xmlns:a16="http://schemas.microsoft.com/office/drawing/2014/main" id="{B7633F1E-51BF-8A30-95C2-4382771665A1}"/>
              </a:ext>
            </a:extLst>
          </p:cNvPr>
          <p:cNvSpPr txBox="1"/>
          <p:nvPr/>
        </p:nvSpPr>
        <p:spPr>
          <a:xfrm>
            <a:off x="2128448" y="5908825"/>
            <a:ext cx="7120925" cy="1061829"/>
          </a:xfrm>
          <a:prstGeom prst="rect">
            <a:avLst/>
          </a:prstGeom>
          <a:noFill/>
        </p:spPr>
        <p:txBody>
          <a:bodyPr wrap="none" rtlCol="1">
            <a:spAutoFit/>
          </a:bodyPr>
          <a:lstStyle/>
          <a:p>
            <a:pPr algn="r" rtl="1"/>
            <a:r>
              <a:rPr lang="he-IL" sz="1050" dirty="0">
                <a:solidFill>
                  <a:schemeClr val="bg1">
                    <a:lumMod val="50000"/>
                  </a:schemeClr>
                </a:solidFill>
                <a:latin typeface="Arial" panose="020B0604020202020204" pitchFamily="34" charset="0"/>
                <a:cs typeface="Arial" panose="020B0604020202020204" pitchFamily="34" charset="0"/>
              </a:rPr>
              <a:t>10.שובל, פ. (2017) תכנון, ניתוח ועיצוב מערכות מידע. האוניברסיטה הפתוחה.</a:t>
            </a:r>
          </a:p>
          <a:p>
            <a:pPr algn="l" rtl="1">
              <a:lnSpc>
                <a:spcPct val="150000"/>
              </a:lnSpc>
            </a:pPr>
            <a:r>
              <a:rPr lang="en-US" sz="1050" dirty="0">
                <a:solidFill>
                  <a:schemeClr val="bg1">
                    <a:lumMod val="50000"/>
                  </a:schemeClr>
                </a:solidFill>
                <a:latin typeface="Arial" panose="020B0604020202020204" pitchFamily="34" charset="0"/>
                <a:cs typeface="Arial" panose="020B0604020202020204" pitchFamily="34" charset="0"/>
              </a:rPr>
              <a:t>12.Martin </a:t>
            </a:r>
            <a:r>
              <a:rPr lang="en-US" sz="1050" dirty="0" err="1">
                <a:solidFill>
                  <a:schemeClr val="bg1">
                    <a:lumMod val="50000"/>
                  </a:schemeClr>
                </a:solidFill>
                <a:latin typeface="Arial" panose="020B0604020202020204" pitchFamily="34" charset="0"/>
                <a:cs typeface="Arial" panose="020B0604020202020204" pitchFamily="34" charset="0"/>
              </a:rPr>
              <a:t>Sarnovsky</a:t>
            </a:r>
            <a:r>
              <a:rPr lang="en-US" sz="1050" dirty="0">
                <a:solidFill>
                  <a:schemeClr val="bg1">
                    <a:lumMod val="50000"/>
                  </a:schemeClr>
                </a:solidFill>
                <a:latin typeface="Arial" panose="020B0604020202020204" pitchFamily="34" charset="0"/>
                <a:cs typeface="Arial" panose="020B0604020202020204" pitchFamily="34" charset="0"/>
              </a:rPr>
              <a:t>, Peter Bednar and Miroslav </a:t>
            </a:r>
            <a:r>
              <a:rPr lang="en-US" sz="1050" dirty="0" err="1">
                <a:solidFill>
                  <a:schemeClr val="bg1">
                    <a:lumMod val="50000"/>
                  </a:schemeClr>
                </a:solidFill>
                <a:latin typeface="Arial" panose="020B0604020202020204" pitchFamily="34" charset="0"/>
                <a:cs typeface="Arial" panose="020B0604020202020204" pitchFamily="34" charset="0"/>
              </a:rPr>
              <a:t>Smatana</a:t>
            </a:r>
            <a:r>
              <a:rPr lang="en-US" sz="1050" dirty="0">
                <a:solidFill>
                  <a:schemeClr val="bg1">
                    <a:lumMod val="50000"/>
                  </a:schemeClr>
                </a:solidFill>
                <a:latin typeface="Arial" panose="020B0604020202020204" pitchFamily="34" charset="0"/>
                <a:cs typeface="Arial" panose="020B0604020202020204" pitchFamily="34" charset="0"/>
              </a:rPr>
              <a:t>. Big Data Processing and Analytics</a:t>
            </a:r>
            <a:endParaRPr lang="he-IL" sz="1050" dirty="0">
              <a:solidFill>
                <a:schemeClr val="bg1">
                  <a:lumMod val="50000"/>
                </a:schemeClr>
              </a:solidFill>
              <a:latin typeface="Arial" panose="020B0604020202020204" pitchFamily="34" charset="0"/>
              <a:cs typeface="Arial" panose="020B0604020202020204" pitchFamily="34" charset="0"/>
            </a:endParaRPr>
          </a:p>
          <a:p>
            <a:pPr algn="r" rtl="0">
              <a:lnSpc>
                <a:spcPct val="150000"/>
              </a:lnSpc>
            </a:pPr>
            <a:endParaRPr lang="he-IL" sz="1050" b="1" u="sng" dirty="0">
              <a:solidFill>
                <a:schemeClr val="bg1">
                  <a:lumMod val="50000"/>
                </a:schemeClr>
              </a:solidFill>
              <a:latin typeface="Arial" panose="020B0604020202020204" pitchFamily="34" charset="0"/>
              <a:cs typeface="Arial" panose="020B0604020202020204" pitchFamily="34" charset="0"/>
            </a:endParaRPr>
          </a:p>
          <a:p>
            <a:pPr algn="r" rtl="1"/>
            <a:endParaRPr lang="he-IL" sz="1050" dirty="0">
              <a:solidFill>
                <a:schemeClr val="bg1">
                  <a:lumMod val="50000"/>
                </a:schemeClr>
              </a:solidFill>
              <a:latin typeface="Arial" panose="020B0604020202020204" pitchFamily="34" charset="0"/>
              <a:cs typeface="Arial" panose="020B0604020202020204" pitchFamily="34" charset="0"/>
            </a:endParaRPr>
          </a:p>
          <a:p>
            <a:pPr algn="r" rtl="1"/>
            <a:endParaRPr lang="he-IL" sz="1050" dirty="0">
              <a:solidFill>
                <a:schemeClr val="bg1">
                  <a:lumMod val="50000"/>
                </a:schemeClr>
              </a:solidFill>
              <a:highlight>
                <a:srgbClr val="FFFF00"/>
              </a:highlight>
            </a:endParaRPr>
          </a:p>
        </p:txBody>
      </p:sp>
      <p:graphicFrame>
        <p:nvGraphicFramePr>
          <p:cNvPr id="8" name="טבלה 7">
            <a:extLst>
              <a:ext uri="{FF2B5EF4-FFF2-40B4-BE49-F238E27FC236}">
                <a16:creationId xmlns:a16="http://schemas.microsoft.com/office/drawing/2014/main" id="{B1FADA3E-EA93-1A4E-F44A-8E294CB274B2}"/>
              </a:ext>
            </a:extLst>
          </p:cNvPr>
          <p:cNvGraphicFramePr>
            <a:graphicFrameLocks noGrp="1"/>
          </p:cNvGraphicFramePr>
          <p:nvPr>
            <p:extLst>
              <p:ext uri="{D42A27DB-BD31-4B8C-83A1-F6EECF244321}">
                <p14:modId xmlns:p14="http://schemas.microsoft.com/office/powerpoint/2010/main" val="4230805097"/>
              </p:ext>
            </p:extLst>
          </p:nvPr>
        </p:nvGraphicFramePr>
        <p:xfrm>
          <a:off x="552247" y="957580"/>
          <a:ext cx="8039505" cy="4948496"/>
        </p:xfrm>
        <a:graphic>
          <a:graphicData uri="http://schemas.openxmlformats.org/drawingml/2006/table">
            <a:tbl>
              <a:tblPr rtl="1" firstRow="1" bandRow="1">
                <a:tableStyleId>{5C22544A-7EE6-4342-B048-85BDC9FD1C3A}</a:tableStyleId>
              </a:tblPr>
              <a:tblGrid>
                <a:gridCol w="1075143">
                  <a:extLst>
                    <a:ext uri="{9D8B030D-6E8A-4147-A177-3AD203B41FA5}">
                      <a16:colId xmlns:a16="http://schemas.microsoft.com/office/drawing/2014/main" val="1993474452"/>
                    </a:ext>
                  </a:extLst>
                </a:gridCol>
                <a:gridCol w="5518997">
                  <a:extLst>
                    <a:ext uri="{9D8B030D-6E8A-4147-A177-3AD203B41FA5}">
                      <a16:colId xmlns:a16="http://schemas.microsoft.com/office/drawing/2014/main" val="2929796556"/>
                    </a:ext>
                  </a:extLst>
                </a:gridCol>
                <a:gridCol w="1445365">
                  <a:extLst>
                    <a:ext uri="{9D8B030D-6E8A-4147-A177-3AD203B41FA5}">
                      <a16:colId xmlns:a16="http://schemas.microsoft.com/office/drawing/2014/main" val="1091232215"/>
                    </a:ext>
                  </a:extLst>
                </a:gridCol>
              </a:tblGrid>
              <a:tr h="769766">
                <a:tc>
                  <a:txBody>
                    <a:bodyPr/>
                    <a:lstStyle/>
                    <a:p>
                      <a:pPr algn="ctr" rtl="1"/>
                      <a:r>
                        <a:rPr lang="he-IL" dirty="0"/>
                        <a:t>נושא</a:t>
                      </a:r>
                    </a:p>
                  </a:txBody>
                  <a:tcPr/>
                </a:tc>
                <a:tc>
                  <a:txBody>
                    <a:bodyPr/>
                    <a:lstStyle/>
                    <a:p>
                      <a:pPr algn="ctr" rtl="1"/>
                      <a:r>
                        <a:rPr lang="he-IL" dirty="0"/>
                        <a:t>תיאור </a:t>
                      </a:r>
                      <a:r>
                        <a:rPr lang="en-US" dirty="0"/>
                        <a:t>NFR</a:t>
                      </a:r>
                      <a:r>
                        <a:rPr lang="he-IL" dirty="0"/>
                        <a:t>- קריטיות </a:t>
                      </a:r>
                      <a:endParaRPr lang="he-IL" u="sng" dirty="0"/>
                    </a:p>
                  </a:txBody>
                  <a:tcPr/>
                </a:tc>
                <a:tc>
                  <a:txBody>
                    <a:bodyPr/>
                    <a:lstStyle/>
                    <a:p>
                      <a:pPr algn="ctr" rtl="1"/>
                      <a:r>
                        <a:rPr lang="he-IL" dirty="0"/>
                        <a:t>יישום באב טיפוס</a:t>
                      </a:r>
                    </a:p>
                  </a:txBody>
                  <a:tcPr/>
                </a:tc>
                <a:extLst>
                  <a:ext uri="{0D108BD9-81ED-4DB2-BD59-A6C34878D82A}">
                    <a16:rowId xmlns:a16="http://schemas.microsoft.com/office/drawing/2014/main" val="3323970259"/>
                  </a:ext>
                </a:extLst>
              </a:tr>
              <a:tr h="769766">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1800" b="1" kern="1200" dirty="0">
                          <a:solidFill>
                            <a:schemeClr val="dk1"/>
                          </a:solidFill>
                          <a:effectLst/>
                          <a:latin typeface="+mn-lt"/>
                          <a:ea typeface="+mn-ea"/>
                          <a:cs typeface="+mn-cs"/>
                        </a:rPr>
                        <a:t>עיצוב נגיש</a:t>
                      </a:r>
                      <a:endParaRPr lang="he-IL" sz="1800" b="1" dirty="0"/>
                    </a:p>
                  </a:txBody>
                  <a:tcPr/>
                </a:tc>
                <a:tc>
                  <a:txBody>
                    <a:bodyPr/>
                    <a:lstStyle/>
                    <a:p>
                      <a:pPr marL="0" marR="0" lvl="0" indent="0" algn="just" defTabSz="914400" rtl="1" eaLnBrk="1" fontAlgn="auto" latinLnBrk="0" hangingPunct="1">
                        <a:lnSpc>
                          <a:spcPct val="100000"/>
                        </a:lnSpc>
                        <a:spcBef>
                          <a:spcPts val="0"/>
                        </a:spcBef>
                        <a:spcAft>
                          <a:spcPts val="0"/>
                        </a:spcAft>
                        <a:buClrTx/>
                        <a:buSzTx/>
                        <a:buFontTx/>
                        <a:buNone/>
                        <a:tabLst/>
                        <a:defRPr/>
                      </a:pPr>
                      <a:r>
                        <a:rPr lang="he-IL" sz="1800" kern="1200" dirty="0">
                          <a:solidFill>
                            <a:schemeClr val="dk1"/>
                          </a:solidFill>
                          <a:effectLst/>
                          <a:latin typeface="+mn-lt"/>
                          <a:ea typeface="+mn-ea"/>
                          <a:cs typeface="+mn-cs"/>
                        </a:rPr>
                        <a:t>האתר עובד בצורה תקינה על גבי כל סוגי הדפדפנים ובכל מכשיר, וכן מציע חוויה משתמש מובנית ונעימה. </a:t>
                      </a:r>
                      <a:endParaRPr lang="he-IL" sz="1800" dirty="0"/>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he-IL" sz="1800" dirty="0"/>
                    </a:p>
                  </a:txBody>
                  <a:tcPr/>
                </a:tc>
                <a:extLst>
                  <a:ext uri="{0D108BD9-81ED-4DB2-BD59-A6C34878D82A}">
                    <a16:rowId xmlns:a16="http://schemas.microsoft.com/office/drawing/2014/main" val="2576172717"/>
                  </a:ext>
                </a:extLst>
              </a:tr>
              <a:tr h="1099666">
                <a:tc>
                  <a:txBody>
                    <a:bodyPr/>
                    <a:lstStyle/>
                    <a:p>
                      <a:pPr algn="ctr" rtl="1"/>
                      <a:r>
                        <a:rPr lang="he-IL" sz="1800" b="1" kern="1200" dirty="0">
                          <a:solidFill>
                            <a:schemeClr val="dk1"/>
                          </a:solidFill>
                          <a:effectLst/>
                          <a:latin typeface="+mn-lt"/>
                          <a:ea typeface="+mn-ea"/>
                          <a:cs typeface="+mn-cs"/>
                        </a:rPr>
                        <a:t>אבטחה</a:t>
                      </a:r>
                      <a:endParaRPr lang="he-IL" b="1" dirty="0"/>
                    </a:p>
                  </a:txBody>
                  <a:tcPr/>
                </a:tc>
                <a:tc>
                  <a:txBody>
                    <a:bodyPr/>
                    <a:lstStyle/>
                    <a:p>
                      <a:pPr marL="0" marR="0" lvl="0" indent="0" algn="just" defTabSz="914400" rtl="1" eaLnBrk="1" fontAlgn="auto" latinLnBrk="0" hangingPunct="1">
                        <a:lnSpc>
                          <a:spcPct val="100000"/>
                        </a:lnSpc>
                        <a:spcBef>
                          <a:spcPts val="0"/>
                        </a:spcBef>
                        <a:spcAft>
                          <a:spcPts val="0"/>
                        </a:spcAft>
                        <a:buClrTx/>
                        <a:buSzTx/>
                        <a:buFontTx/>
                        <a:buNone/>
                        <a:tabLst/>
                        <a:defRPr/>
                      </a:pPr>
                      <a:r>
                        <a:rPr lang="he-IL" sz="1800" kern="1200" dirty="0">
                          <a:solidFill>
                            <a:schemeClr val="dk1"/>
                          </a:solidFill>
                          <a:effectLst/>
                          <a:latin typeface="+mn-lt"/>
                          <a:ea typeface="+mn-ea"/>
                          <a:cs typeface="+mn-cs"/>
                        </a:rPr>
                        <a:t>האתר מספק רמה גבוהה של אבטחה למידע האישי של המשתמשים, במיוחד כאשר מדובר בנתונים רגישים כמו פרטים רפואיים ומידע אישי.</a:t>
                      </a:r>
                      <a:endParaRPr lang="en-US" sz="1800" kern="1200" dirty="0">
                        <a:solidFill>
                          <a:schemeClr val="dk1"/>
                        </a:solidFill>
                        <a:effectLst/>
                        <a:latin typeface="+mn-lt"/>
                        <a:ea typeface="+mn-ea"/>
                        <a:cs typeface="+mn-cs"/>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98993309"/>
                  </a:ext>
                </a:extLst>
              </a:tr>
              <a:tr h="769766">
                <a:tc>
                  <a:txBody>
                    <a:bodyPr/>
                    <a:lstStyle/>
                    <a:p>
                      <a:pPr algn="ctr" rtl="1"/>
                      <a:r>
                        <a:rPr lang="he-IL" sz="1800" b="1" kern="1200" dirty="0">
                          <a:solidFill>
                            <a:schemeClr val="dk1"/>
                          </a:solidFill>
                          <a:effectLst/>
                          <a:latin typeface="+mn-lt"/>
                          <a:ea typeface="+mn-ea"/>
                          <a:cs typeface="+mn-cs"/>
                        </a:rPr>
                        <a:t>ביצועים</a:t>
                      </a:r>
                      <a:endParaRPr lang="he-IL" b="1" dirty="0"/>
                    </a:p>
                  </a:txBody>
                  <a:tcPr/>
                </a:tc>
                <a:tc>
                  <a:txBody>
                    <a:bodyPr/>
                    <a:lstStyle/>
                    <a:p>
                      <a:pPr algn="just" rtl="1"/>
                      <a:r>
                        <a:rPr lang="he-IL" sz="1800" kern="1200" dirty="0">
                          <a:solidFill>
                            <a:schemeClr val="dk1"/>
                          </a:solidFill>
                          <a:effectLst/>
                          <a:latin typeface="+mn-lt"/>
                          <a:ea typeface="+mn-ea"/>
                          <a:cs typeface="+mn-cs"/>
                        </a:rPr>
                        <a:t>האתר עובד בצורה מהירה ויעילה כדי להבטיח חווית משתמש טובה ולמנוע עצירות או עיכובים בטעינה.</a:t>
                      </a:r>
                      <a:endParaRPr lang="he-IL" dirty="0"/>
                    </a:p>
                  </a:txBody>
                  <a:tcPr/>
                </a:tc>
                <a:tc>
                  <a:txBody>
                    <a:bodyPr/>
                    <a:lstStyle/>
                    <a:p>
                      <a:pPr algn="ctr" rtl="1"/>
                      <a:endParaRPr lang="he-IL" dirty="0"/>
                    </a:p>
                  </a:txBody>
                  <a:tcPr/>
                </a:tc>
                <a:extLst>
                  <a:ext uri="{0D108BD9-81ED-4DB2-BD59-A6C34878D82A}">
                    <a16:rowId xmlns:a16="http://schemas.microsoft.com/office/drawing/2014/main" val="556185184"/>
                  </a:ext>
                </a:extLst>
              </a:tr>
              <a:tr h="769766">
                <a:tc>
                  <a:txBody>
                    <a:bodyPr/>
                    <a:lstStyle/>
                    <a:p>
                      <a:pPr algn="ctr" rtl="1"/>
                      <a:r>
                        <a:rPr lang="he-IL" sz="1800" b="1" kern="1200" dirty="0">
                          <a:solidFill>
                            <a:schemeClr val="dk1"/>
                          </a:solidFill>
                          <a:effectLst/>
                          <a:latin typeface="+mn-lt"/>
                          <a:ea typeface="+mn-ea"/>
                          <a:cs typeface="+mn-cs"/>
                        </a:rPr>
                        <a:t>ניהול תוכן</a:t>
                      </a:r>
                      <a:endParaRPr lang="he-IL" b="1" dirty="0"/>
                    </a:p>
                  </a:txBody>
                  <a:tcPr/>
                </a:tc>
                <a:tc>
                  <a:txBody>
                    <a:bodyPr/>
                    <a:lstStyle/>
                    <a:p>
                      <a:pPr algn="just" rtl="1"/>
                      <a:r>
                        <a:rPr lang="he-IL" sz="1800" kern="1200" dirty="0">
                          <a:solidFill>
                            <a:schemeClr val="dk1"/>
                          </a:solidFill>
                          <a:effectLst/>
                          <a:latin typeface="+mn-lt"/>
                          <a:ea typeface="+mn-ea"/>
                          <a:cs typeface="+mn-cs"/>
                        </a:rPr>
                        <a:t>ממשק ניהול תוכן נוח וידידותי, שיאפשר למנהלי האתר לעדכן ולנהל את התוכן בצורה קלה ויעילה. </a:t>
                      </a:r>
                      <a:endParaRPr lang="he-IL" dirty="0"/>
                    </a:p>
                  </a:txBody>
                  <a:tcPr/>
                </a:tc>
                <a:tc>
                  <a:txBody>
                    <a:bodyPr/>
                    <a:lstStyle/>
                    <a:p>
                      <a:pPr algn="ctr" rtl="1"/>
                      <a:endParaRPr lang="he-IL" dirty="0"/>
                    </a:p>
                  </a:txBody>
                  <a:tcPr/>
                </a:tc>
                <a:extLst>
                  <a:ext uri="{0D108BD9-81ED-4DB2-BD59-A6C34878D82A}">
                    <a16:rowId xmlns:a16="http://schemas.microsoft.com/office/drawing/2014/main" val="2046071110"/>
                  </a:ext>
                </a:extLst>
              </a:tr>
              <a:tr h="769766">
                <a:tc>
                  <a:txBody>
                    <a:bodyPr/>
                    <a:lstStyle/>
                    <a:p>
                      <a:pPr algn="ctr" rtl="1"/>
                      <a:r>
                        <a:rPr lang="he-IL" sz="1800" b="1" kern="1200" dirty="0">
                          <a:solidFill>
                            <a:schemeClr val="dk1"/>
                          </a:solidFill>
                          <a:effectLst/>
                          <a:latin typeface="+mn-lt"/>
                          <a:ea typeface="+mn-ea"/>
                          <a:cs typeface="+mn-cs"/>
                        </a:rPr>
                        <a:t>תמיכה ותחזוקה</a:t>
                      </a:r>
                      <a:endParaRPr lang="he-IL" b="1" dirty="0"/>
                    </a:p>
                  </a:txBody>
                  <a:tcPr/>
                </a:tc>
                <a:tc>
                  <a:txBody>
                    <a:bodyPr/>
                    <a:lstStyle/>
                    <a:p>
                      <a:pPr marL="0" marR="0" lvl="0" indent="0" algn="just" defTabSz="914400" rtl="1" eaLnBrk="1" fontAlgn="auto" latinLnBrk="0" hangingPunct="1">
                        <a:lnSpc>
                          <a:spcPct val="100000"/>
                        </a:lnSpc>
                        <a:spcBef>
                          <a:spcPts val="0"/>
                        </a:spcBef>
                        <a:spcAft>
                          <a:spcPts val="0"/>
                        </a:spcAft>
                        <a:buClrTx/>
                        <a:buSzTx/>
                        <a:buFontTx/>
                        <a:buNone/>
                        <a:tabLst/>
                        <a:defRPr/>
                      </a:pPr>
                      <a:r>
                        <a:rPr lang="he-IL" sz="1800" kern="1200" dirty="0">
                          <a:solidFill>
                            <a:schemeClr val="dk1"/>
                          </a:solidFill>
                          <a:effectLst/>
                          <a:latin typeface="+mn-lt"/>
                          <a:ea typeface="+mn-ea"/>
                          <a:cs typeface="+mn-cs"/>
                        </a:rPr>
                        <a:t>כולל עדכונים תכנותיים רציפים, תמיכה טכנית וטיפול בתקלות.</a:t>
                      </a:r>
                      <a:endParaRPr lang="en-US" sz="1800" kern="1200" dirty="0">
                        <a:solidFill>
                          <a:schemeClr val="dk1"/>
                        </a:solidFill>
                        <a:effectLst/>
                        <a:latin typeface="+mn-lt"/>
                        <a:ea typeface="+mn-ea"/>
                        <a:cs typeface="+mn-cs"/>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3285627116"/>
                  </a:ext>
                </a:extLst>
              </a:tr>
            </a:tbl>
          </a:graphicData>
        </a:graphic>
      </p:graphicFrame>
    </p:spTree>
    <p:extLst>
      <p:ext uri="{BB962C8B-B14F-4D97-AF65-F5344CB8AC3E}">
        <p14:creationId xmlns:p14="http://schemas.microsoft.com/office/powerpoint/2010/main" val="1775452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כותרת תחתונה 1">
            <a:extLst>
              <a:ext uri="{FF2B5EF4-FFF2-40B4-BE49-F238E27FC236}">
                <a16:creationId xmlns:a16="http://schemas.microsoft.com/office/drawing/2014/main" id="{6ADF6419-BAD2-452D-BC9F-AAB2C7AE9091}"/>
              </a:ext>
            </a:extLst>
          </p:cNvPr>
          <p:cNvSpPr>
            <a:spLocks noGrp="1"/>
          </p:cNvSpPr>
          <p:nvPr>
            <p:ph type="ftr" sz="quarter" idx="11"/>
          </p:nvPr>
        </p:nvSpPr>
        <p:spPr>
          <a:xfrm>
            <a:off x="3071671" y="6538913"/>
            <a:ext cx="3086100" cy="365125"/>
          </a:xfrm>
        </p:spPr>
        <p:txBody>
          <a:bodyPr/>
          <a:lstStyle/>
          <a:p>
            <a:r>
              <a:rPr lang="he-IL" b="1" dirty="0">
                <a:solidFill>
                  <a:schemeClr val="tx1"/>
                </a:solidFill>
              </a:rPr>
              <a:t>אתר אינטרנט לאימהות חדשות במגזר הבדואי                      </a:t>
            </a:r>
            <a:r>
              <a:rPr lang="en-US" b="1" dirty="0">
                <a:solidFill>
                  <a:schemeClr val="tx1"/>
                </a:solidFill>
              </a:rPr>
              <a:t>Navon-13-2024-sem2</a:t>
            </a:r>
            <a:endParaRPr lang="he-IL" b="1" dirty="0">
              <a:solidFill>
                <a:schemeClr val="tx1"/>
              </a:solidFill>
            </a:endParaRPr>
          </a:p>
        </p:txBody>
      </p:sp>
      <p:sp>
        <p:nvSpPr>
          <p:cNvPr id="3" name="מציין מיקום של מספר שקופית 2">
            <a:extLst>
              <a:ext uri="{FF2B5EF4-FFF2-40B4-BE49-F238E27FC236}">
                <a16:creationId xmlns:a16="http://schemas.microsoft.com/office/drawing/2014/main" id="{4E681050-C5A4-48BC-85F5-2C5C0EAE265A}"/>
              </a:ext>
            </a:extLst>
          </p:cNvPr>
          <p:cNvSpPr>
            <a:spLocks noGrp="1"/>
          </p:cNvSpPr>
          <p:nvPr>
            <p:ph type="sldNum" sz="quarter" idx="12"/>
          </p:nvPr>
        </p:nvSpPr>
        <p:spPr>
          <a:xfrm>
            <a:off x="0" y="6356351"/>
            <a:ext cx="2057400" cy="365125"/>
          </a:xfrm>
        </p:spPr>
        <p:txBody>
          <a:bodyPr/>
          <a:lstStyle/>
          <a:p>
            <a:pPr algn="l"/>
            <a:fld id="{F406CD6C-EFBE-497B-B02F-71827CD8C8E4}" type="slidenum">
              <a:rPr lang="he-IL" smtClean="0"/>
              <a:pPr algn="l"/>
              <a:t>14</a:t>
            </a:fld>
            <a:endParaRPr lang="he-IL" dirty="0"/>
          </a:p>
        </p:txBody>
      </p:sp>
      <p:sp>
        <p:nvSpPr>
          <p:cNvPr id="4" name="תיבת טקסט 13">
            <a:extLst>
              <a:ext uri="{FF2B5EF4-FFF2-40B4-BE49-F238E27FC236}">
                <a16:creationId xmlns:a16="http://schemas.microsoft.com/office/drawing/2014/main" id="{456A04AA-C2C2-4A0E-944A-482239069E59}"/>
              </a:ext>
            </a:extLst>
          </p:cNvPr>
          <p:cNvSpPr txBox="1"/>
          <p:nvPr/>
        </p:nvSpPr>
        <p:spPr>
          <a:xfrm>
            <a:off x="5936259" y="5958441"/>
            <a:ext cx="3233167" cy="1223412"/>
          </a:xfrm>
          <a:prstGeom prst="rect">
            <a:avLst/>
          </a:prstGeom>
          <a:noFill/>
        </p:spPr>
        <p:txBody>
          <a:bodyPr wrap="square" rtlCol="1">
            <a:spAutoFit/>
          </a:bodyPr>
          <a:lstStyle/>
          <a:p>
            <a:pPr algn="r" rtl="1"/>
            <a:r>
              <a:rPr lang="he-IL" sz="1050" dirty="0">
                <a:solidFill>
                  <a:schemeClr val="bg1">
                    <a:lumMod val="50000"/>
                  </a:schemeClr>
                </a:solidFill>
                <a:latin typeface="Arial" panose="020B0604020202020204" pitchFamily="34" charset="0"/>
              </a:rPr>
              <a:t>10.שובל, פ. (2017) תכנון, ניתוח ועיצוב מערכות מידע. האוניברסיטה הפתוחה.</a:t>
            </a:r>
          </a:p>
          <a:p>
            <a:pPr algn="r" rtl="1"/>
            <a:r>
              <a:rPr lang="en-US" sz="1050" dirty="0">
                <a:solidFill>
                  <a:schemeClr val="bg1">
                    <a:lumMod val="50000"/>
                  </a:schemeClr>
                </a:solidFill>
                <a:latin typeface="Arial" panose="020B0604020202020204" pitchFamily="34" charset="0"/>
              </a:rPr>
              <a:t>ttps://www.mamanatural.com/.13</a:t>
            </a:r>
            <a:endParaRPr lang="he-IL" sz="1050" dirty="0">
              <a:solidFill>
                <a:schemeClr val="bg1">
                  <a:lumMod val="50000"/>
                </a:schemeClr>
              </a:solidFill>
              <a:latin typeface="Arial" panose="020B0604020202020204" pitchFamily="34" charset="0"/>
            </a:endParaRPr>
          </a:p>
          <a:p>
            <a:pPr algn="r" rtl="1"/>
            <a:r>
              <a:rPr lang="en-US" sz="1050" dirty="0">
                <a:solidFill>
                  <a:schemeClr val="bg1">
                    <a:lumMod val="50000"/>
                  </a:schemeClr>
                </a:solidFill>
                <a:latin typeface="Arial" panose="020B0604020202020204" pitchFamily="34" charset="0"/>
              </a:rPr>
              <a:t>.14</a:t>
            </a:r>
            <a:r>
              <a:rPr lang="he-IL" sz="1050" dirty="0">
                <a:solidFill>
                  <a:srgbClr val="0563C1"/>
                </a:solidFill>
                <a:hlinkClick r:id="rId2">
                  <a:extLst>
                    <a:ext uri="{A12FA001-AC4F-418D-AE19-62706E023703}">
                      <ahyp:hlinkClr xmlns:ahyp="http://schemas.microsoft.com/office/drawing/2018/hyperlinkcolor" val="tx"/>
                    </a:ext>
                  </a:extLst>
                </a:hlinkClick>
              </a:rPr>
              <a:t>לידה זה </a:t>
            </a:r>
            <a:r>
              <a:rPr lang="he-IL" sz="1050" dirty="0" err="1">
                <a:solidFill>
                  <a:srgbClr val="0563C1"/>
                </a:solidFill>
                <a:hlinkClick r:id="rId2">
                  <a:extLst>
                    <a:ext uri="{A12FA001-AC4F-418D-AE19-62706E023703}">
                      <ahyp:hlinkClr xmlns:ahyp="http://schemas.microsoft.com/office/drawing/2018/hyperlinkcolor" val="tx"/>
                    </a:ext>
                  </a:extLst>
                </a:hlinkClick>
              </a:rPr>
              <a:t>כח</a:t>
            </a:r>
            <a:r>
              <a:rPr lang="he-IL" sz="1050" dirty="0">
                <a:solidFill>
                  <a:srgbClr val="0563C1"/>
                </a:solidFill>
                <a:hlinkClick r:id="rId2">
                  <a:extLst>
                    <a:ext uri="{A12FA001-AC4F-418D-AE19-62706E023703}">
                      <ahyp:hlinkClr xmlns:ahyp="http://schemas.microsoft.com/office/drawing/2018/hyperlinkcolor" val="tx"/>
                    </a:ext>
                  </a:extLst>
                </a:hlinkClick>
              </a:rPr>
              <a:t> | מידע להריוניות ויולדות (</a:t>
            </a:r>
            <a:r>
              <a:rPr lang="en-US" sz="1050" dirty="0">
                <a:solidFill>
                  <a:schemeClr val="bg1">
                    <a:lumMod val="50000"/>
                  </a:schemeClr>
                </a:solidFill>
                <a:hlinkClick r:id="rId2">
                  <a:extLst>
                    <a:ext uri="{A12FA001-AC4F-418D-AE19-62706E023703}">
                      <ahyp:hlinkClr xmlns:ahyp="http://schemas.microsoft.com/office/drawing/2018/hyperlinkcolor" val="tx"/>
                    </a:ext>
                  </a:extLst>
                </a:hlinkClick>
              </a:rPr>
              <a:t>powerbirth.co.il)</a:t>
            </a:r>
            <a:endParaRPr lang="he-IL" sz="1050" dirty="0">
              <a:solidFill>
                <a:schemeClr val="bg1">
                  <a:lumMod val="50000"/>
                </a:schemeClr>
              </a:solidFill>
              <a:latin typeface="Arial" panose="020B0604020202020204" pitchFamily="34" charset="0"/>
            </a:endParaRPr>
          </a:p>
          <a:p>
            <a:pPr algn="r" rtl="1"/>
            <a:r>
              <a:rPr lang="en-US" sz="1050" dirty="0">
                <a:solidFill>
                  <a:schemeClr val="bg1">
                    <a:lumMod val="50000"/>
                  </a:schemeClr>
                </a:solidFill>
                <a:latin typeface="Arial" panose="020B0604020202020204" pitchFamily="34" charset="0"/>
              </a:rPr>
              <a:t>.15</a:t>
            </a:r>
            <a:r>
              <a:rPr lang="he-IL" sz="1050" dirty="0">
                <a:solidFill>
                  <a:srgbClr val="0563C1"/>
                </a:solidFill>
                <a:hlinkClick r:id="rId3">
                  <a:extLst>
                    <a:ext uri="{A12FA001-AC4F-418D-AE19-62706E023703}">
                      <ahyp:hlinkClr xmlns:ahyp="http://schemas.microsoft.com/office/drawing/2018/hyperlinkcolor" val="tx"/>
                    </a:ext>
                  </a:extLst>
                </a:hlinkClick>
              </a:rPr>
              <a:t>עמוד הבית - ארגון המיילדות בישראל (</a:t>
            </a:r>
            <a:r>
              <a:rPr lang="en-US" sz="1050" dirty="0">
                <a:solidFill>
                  <a:schemeClr val="bg1">
                    <a:lumMod val="50000"/>
                  </a:schemeClr>
                </a:solidFill>
                <a:hlinkClick r:id="rId3">
                  <a:extLst>
                    <a:ext uri="{A12FA001-AC4F-418D-AE19-62706E023703}">
                      <ahyp:hlinkClr xmlns:ahyp="http://schemas.microsoft.com/office/drawing/2018/hyperlinkcolor" val="tx"/>
                    </a:ext>
                  </a:extLst>
                </a:hlinkClick>
              </a:rPr>
              <a:t>midwives.org.il)</a:t>
            </a:r>
            <a:endParaRPr lang="he-IL" sz="1050" dirty="0">
              <a:solidFill>
                <a:schemeClr val="bg1">
                  <a:lumMod val="50000"/>
                </a:schemeClr>
              </a:solidFill>
              <a:latin typeface="Arial" panose="020B0604020202020204" pitchFamily="34" charset="0"/>
            </a:endParaRPr>
          </a:p>
          <a:p>
            <a:pPr algn="r" rtl="1"/>
            <a:endParaRPr lang="he-IL" sz="1050" dirty="0">
              <a:solidFill>
                <a:schemeClr val="bg1">
                  <a:lumMod val="50000"/>
                </a:schemeClr>
              </a:solidFill>
              <a:latin typeface="Arial" panose="020B0604020202020204" pitchFamily="34" charset="0"/>
            </a:endParaRPr>
          </a:p>
          <a:p>
            <a:pPr algn="r" rtl="1"/>
            <a:endParaRPr lang="he-IL" sz="1050" dirty="0">
              <a:solidFill>
                <a:schemeClr val="bg1">
                  <a:lumMod val="50000"/>
                </a:schemeClr>
              </a:solidFill>
              <a:highlight>
                <a:srgbClr val="FFFF00"/>
              </a:highlight>
            </a:endParaRPr>
          </a:p>
        </p:txBody>
      </p:sp>
      <p:pic>
        <p:nvPicPr>
          <p:cNvPr id="5" name="תמונה 4">
            <a:extLst>
              <a:ext uri="{FF2B5EF4-FFF2-40B4-BE49-F238E27FC236}">
                <a16:creationId xmlns:a16="http://schemas.microsoft.com/office/drawing/2014/main" id="{CC5963DB-46A9-4CDE-8715-909F13539682}"/>
              </a:ext>
            </a:extLst>
          </p:cNvPr>
          <p:cNvPicPr>
            <a:picLocks noChangeAspect="1"/>
          </p:cNvPicPr>
          <p:nvPr/>
        </p:nvPicPr>
        <p:blipFill>
          <a:blip r:embed="rId4"/>
          <a:stretch>
            <a:fillRect/>
          </a:stretch>
        </p:blipFill>
        <p:spPr>
          <a:xfrm>
            <a:off x="8165794" y="-15497"/>
            <a:ext cx="978206" cy="542439"/>
          </a:xfrm>
          <a:prstGeom prst="rect">
            <a:avLst/>
          </a:prstGeom>
        </p:spPr>
      </p:pic>
      <p:pic>
        <p:nvPicPr>
          <p:cNvPr id="6" name="תמונה 5">
            <a:extLst>
              <a:ext uri="{FF2B5EF4-FFF2-40B4-BE49-F238E27FC236}">
                <a16:creationId xmlns:a16="http://schemas.microsoft.com/office/drawing/2014/main" id="{80855F6C-E74D-417D-97B7-8EF44E9DF6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94" y="0"/>
            <a:ext cx="862087" cy="627682"/>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7" name="TextBox 5">
            <a:extLst>
              <a:ext uri="{FF2B5EF4-FFF2-40B4-BE49-F238E27FC236}">
                <a16:creationId xmlns:a16="http://schemas.microsoft.com/office/drawing/2014/main" id="{3E30E752-F13E-46EA-894A-EE8BB7B10DEB}"/>
              </a:ext>
            </a:extLst>
          </p:cNvPr>
          <p:cNvSpPr txBox="1">
            <a:spLocks noChangeArrowheads="1"/>
          </p:cNvSpPr>
          <p:nvPr/>
        </p:nvSpPr>
        <p:spPr bwMode="auto">
          <a:xfrm>
            <a:off x="1637202" y="31840"/>
            <a:ext cx="6258446" cy="461665"/>
          </a:xfrm>
          <a:prstGeom prst="rect">
            <a:avLst/>
          </a:prstGeom>
          <a:noFill/>
          <a:ln w="9525">
            <a:noFill/>
            <a:miter lim="800000"/>
            <a:headEnd/>
            <a:tailEnd/>
          </a:ln>
        </p:spPr>
        <p:txBody>
          <a:bodyPr wrap="square">
            <a:spAutoFit/>
          </a:bodyPr>
          <a:lstStyle>
            <a:defPPr>
              <a:defRPr lang="he-IL"/>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57200" algn="r" rtl="1" fontAlgn="base">
              <a:spcBef>
                <a:spcPct val="0"/>
              </a:spcBef>
              <a:spcAft>
                <a:spcPct val="0"/>
              </a:spcAft>
              <a:defRPr kern="1200">
                <a:solidFill>
                  <a:schemeClr val="tx1"/>
                </a:solidFill>
                <a:latin typeface="Arial" pitchFamily="34" charset="0"/>
                <a:ea typeface="+mn-ea"/>
                <a:cs typeface="Arial" pitchFamily="34" charset="0"/>
              </a:defRPr>
            </a:lvl2pPr>
            <a:lvl3pPr marL="914400" algn="r" rtl="1" fontAlgn="base">
              <a:spcBef>
                <a:spcPct val="0"/>
              </a:spcBef>
              <a:spcAft>
                <a:spcPct val="0"/>
              </a:spcAft>
              <a:defRPr kern="1200">
                <a:solidFill>
                  <a:schemeClr val="tx1"/>
                </a:solidFill>
                <a:latin typeface="Arial" pitchFamily="34" charset="0"/>
                <a:ea typeface="+mn-ea"/>
                <a:cs typeface="Arial" pitchFamily="34" charset="0"/>
              </a:defRPr>
            </a:lvl3pPr>
            <a:lvl4pPr marL="1371600" algn="r" rtl="1" fontAlgn="base">
              <a:spcBef>
                <a:spcPct val="0"/>
              </a:spcBef>
              <a:spcAft>
                <a:spcPct val="0"/>
              </a:spcAft>
              <a:defRPr kern="1200">
                <a:solidFill>
                  <a:schemeClr val="tx1"/>
                </a:solidFill>
                <a:latin typeface="Arial" pitchFamily="34" charset="0"/>
                <a:ea typeface="+mn-ea"/>
                <a:cs typeface="Arial" pitchFamily="34" charset="0"/>
              </a:defRPr>
            </a:lvl4pPr>
            <a:lvl5pPr marL="1828800" algn="r" rtl="1" fontAlgn="base">
              <a:spcBef>
                <a:spcPct val="0"/>
              </a:spcBef>
              <a:spcAft>
                <a:spcPct val="0"/>
              </a:spcAft>
              <a:defRPr kern="1200">
                <a:solidFill>
                  <a:schemeClr val="tx1"/>
                </a:solidFill>
                <a:latin typeface="Arial" pitchFamily="34" charset="0"/>
                <a:ea typeface="+mn-ea"/>
                <a:cs typeface="Arial" pitchFamily="34" charset="0"/>
              </a:defRPr>
            </a:lvl5pPr>
            <a:lvl6pPr marL="2286000" algn="r" defTabSz="914400" rtl="1" eaLnBrk="1" latinLnBrk="0" hangingPunct="1">
              <a:defRPr kern="1200">
                <a:solidFill>
                  <a:schemeClr val="tx1"/>
                </a:solidFill>
                <a:latin typeface="Arial" pitchFamily="34" charset="0"/>
                <a:ea typeface="+mn-ea"/>
                <a:cs typeface="Arial" pitchFamily="34" charset="0"/>
              </a:defRPr>
            </a:lvl6pPr>
            <a:lvl7pPr marL="2743200" algn="r" defTabSz="914400" rtl="1" eaLnBrk="1" latinLnBrk="0" hangingPunct="1">
              <a:defRPr kern="1200">
                <a:solidFill>
                  <a:schemeClr val="tx1"/>
                </a:solidFill>
                <a:latin typeface="Arial" pitchFamily="34" charset="0"/>
                <a:ea typeface="+mn-ea"/>
                <a:cs typeface="Arial" pitchFamily="34" charset="0"/>
              </a:defRPr>
            </a:lvl7pPr>
            <a:lvl8pPr marL="3200400" algn="r" defTabSz="914400" rtl="1" eaLnBrk="1" latinLnBrk="0" hangingPunct="1">
              <a:defRPr kern="1200">
                <a:solidFill>
                  <a:schemeClr val="tx1"/>
                </a:solidFill>
                <a:latin typeface="Arial" pitchFamily="34" charset="0"/>
                <a:ea typeface="+mn-ea"/>
                <a:cs typeface="Arial" pitchFamily="34" charset="0"/>
              </a:defRPr>
            </a:lvl8pPr>
            <a:lvl9pPr marL="3657600" algn="r" defTabSz="914400" rtl="1" eaLnBrk="1" latinLnBrk="0" hangingPunct="1">
              <a:defRPr kern="1200">
                <a:solidFill>
                  <a:schemeClr val="tx1"/>
                </a:solidFill>
                <a:latin typeface="Arial" pitchFamily="34" charset="0"/>
                <a:ea typeface="+mn-ea"/>
                <a:cs typeface="Arial" pitchFamily="34" charset="0"/>
              </a:defRPr>
            </a:lvl9pPr>
          </a:lstStyle>
          <a:p>
            <a:pPr algn="ctr"/>
            <a:r>
              <a:rPr lang="he-IL" b="1" u="sng" dirty="0">
                <a:latin typeface="Calibri" pitchFamily="34" charset="0"/>
              </a:rPr>
              <a:t>תרשים תהליך חיפוש מידע במהלך הריון ולאחריו - </a:t>
            </a:r>
            <a:r>
              <a:rPr lang="he-IL" sz="2400" b="1" u="sng" dirty="0">
                <a:latin typeface="Calibri" pitchFamily="34" charset="0"/>
              </a:rPr>
              <a:t>מצב מוצע</a:t>
            </a:r>
          </a:p>
        </p:txBody>
      </p:sp>
      <p:sp>
        <p:nvSpPr>
          <p:cNvPr id="8" name="תיבת טקסט 12">
            <a:extLst>
              <a:ext uri="{FF2B5EF4-FFF2-40B4-BE49-F238E27FC236}">
                <a16:creationId xmlns:a16="http://schemas.microsoft.com/office/drawing/2014/main" id="{DA89C167-3030-4EEE-B6FB-9FE2F42ABD30}"/>
              </a:ext>
            </a:extLst>
          </p:cNvPr>
          <p:cNvSpPr txBox="1"/>
          <p:nvPr/>
        </p:nvSpPr>
        <p:spPr>
          <a:xfrm>
            <a:off x="4417097" y="0"/>
            <a:ext cx="862087" cy="253916"/>
          </a:xfrm>
          <a:prstGeom prst="rect">
            <a:avLst/>
          </a:prstGeom>
          <a:noFill/>
        </p:spPr>
        <p:txBody>
          <a:bodyPr wrap="square" rtlCol="1">
            <a:spAutoFit/>
          </a:bodyPr>
          <a:lstStyle/>
          <a:p>
            <a:r>
              <a:rPr lang="en-US" sz="1050" b="1" dirty="0"/>
              <a:t>10,13,14,15</a:t>
            </a:r>
            <a:endParaRPr lang="he-IL" sz="1050" b="1" dirty="0"/>
          </a:p>
        </p:txBody>
      </p:sp>
      <p:grpSp>
        <p:nvGrpSpPr>
          <p:cNvPr id="409" name="קבוצה 408">
            <a:extLst>
              <a:ext uri="{FF2B5EF4-FFF2-40B4-BE49-F238E27FC236}">
                <a16:creationId xmlns:a16="http://schemas.microsoft.com/office/drawing/2014/main" id="{D7332F9E-583E-4CE1-8EB8-017B66AF9A4A}"/>
              </a:ext>
            </a:extLst>
          </p:cNvPr>
          <p:cNvGrpSpPr/>
          <p:nvPr/>
        </p:nvGrpSpPr>
        <p:grpSpPr>
          <a:xfrm>
            <a:off x="379668" y="715717"/>
            <a:ext cx="8074857" cy="5060691"/>
            <a:chOff x="-1284227" y="447638"/>
            <a:chExt cx="9938194" cy="5060691"/>
          </a:xfrm>
        </p:grpSpPr>
        <p:sp>
          <p:nvSpPr>
            <p:cNvPr id="82" name="מלבן 81">
              <a:extLst>
                <a:ext uri="{FF2B5EF4-FFF2-40B4-BE49-F238E27FC236}">
                  <a16:creationId xmlns:a16="http://schemas.microsoft.com/office/drawing/2014/main" id="{39A641A6-722E-4B12-BB47-F484256204F8}"/>
                </a:ext>
              </a:extLst>
            </p:cNvPr>
            <p:cNvSpPr/>
            <p:nvPr/>
          </p:nvSpPr>
          <p:spPr>
            <a:xfrm>
              <a:off x="4285377" y="2582998"/>
              <a:ext cx="807979" cy="320213"/>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לידה</a:t>
              </a:r>
            </a:p>
          </p:txBody>
        </p:sp>
        <p:sp>
          <p:nvSpPr>
            <p:cNvPr id="52" name="תרשים זרימה: קלט ידני 51">
              <a:extLst>
                <a:ext uri="{FF2B5EF4-FFF2-40B4-BE49-F238E27FC236}">
                  <a16:creationId xmlns:a16="http://schemas.microsoft.com/office/drawing/2014/main" id="{C367447A-5B33-4379-A05D-58D68928F423}"/>
                </a:ext>
              </a:extLst>
            </p:cNvPr>
            <p:cNvSpPr/>
            <p:nvPr/>
          </p:nvSpPr>
          <p:spPr>
            <a:xfrm>
              <a:off x="4999967" y="842659"/>
              <a:ext cx="1518834" cy="604434"/>
            </a:xfrm>
            <a:prstGeom prst="flowChartManualInpu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התחברות משתמש חדש</a:t>
              </a:r>
            </a:p>
          </p:txBody>
        </p:sp>
        <p:cxnSp>
          <p:nvCxnSpPr>
            <p:cNvPr id="56" name="מחבר: מרפקי 55">
              <a:extLst>
                <a:ext uri="{FF2B5EF4-FFF2-40B4-BE49-F238E27FC236}">
                  <a16:creationId xmlns:a16="http://schemas.microsoft.com/office/drawing/2014/main" id="{44D964B6-8A4A-46B1-ADC8-AFB110A11702}"/>
                </a:ext>
              </a:extLst>
            </p:cNvPr>
            <p:cNvCxnSpPr>
              <a:cxnSpLocks/>
              <a:stCxn id="404" idx="6"/>
              <a:endCxn id="52" idx="0"/>
            </p:cNvCxnSpPr>
            <p:nvPr/>
          </p:nvCxnSpPr>
          <p:spPr>
            <a:xfrm>
              <a:off x="5360453" y="598968"/>
              <a:ext cx="398931" cy="30413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תרשים זרימה: קלט ידני 57">
              <a:extLst>
                <a:ext uri="{FF2B5EF4-FFF2-40B4-BE49-F238E27FC236}">
                  <a16:creationId xmlns:a16="http://schemas.microsoft.com/office/drawing/2014/main" id="{1B41C081-9BEE-447C-89AB-1752240D4AEE}"/>
                </a:ext>
              </a:extLst>
            </p:cNvPr>
            <p:cNvSpPr/>
            <p:nvPr/>
          </p:nvSpPr>
          <p:spPr>
            <a:xfrm>
              <a:off x="2913604" y="853507"/>
              <a:ext cx="1518834" cy="604434"/>
            </a:xfrm>
            <a:prstGeom prst="flowChartManualInpu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התחברות משתמש קיים</a:t>
              </a:r>
            </a:p>
          </p:txBody>
        </p:sp>
        <p:cxnSp>
          <p:nvCxnSpPr>
            <p:cNvPr id="60" name="מחבר: מרפקי 59">
              <a:extLst>
                <a:ext uri="{FF2B5EF4-FFF2-40B4-BE49-F238E27FC236}">
                  <a16:creationId xmlns:a16="http://schemas.microsoft.com/office/drawing/2014/main" id="{597C0AE4-0DB5-4EA7-9830-19D503114B86}"/>
                </a:ext>
              </a:extLst>
            </p:cNvPr>
            <p:cNvCxnSpPr>
              <a:cxnSpLocks/>
              <a:stCxn id="404" idx="2"/>
              <a:endCxn id="58" idx="0"/>
            </p:cNvCxnSpPr>
            <p:nvPr/>
          </p:nvCxnSpPr>
          <p:spPr>
            <a:xfrm rot="10800000" flipV="1">
              <a:off x="3673021" y="598968"/>
              <a:ext cx="614174" cy="31498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מחבר ישר 64">
              <a:extLst>
                <a:ext uri="{FF2B5EF4-FFF2-40B4-BE49-F238E27FC236}">
                  <a16:creationId xmlns:a16="http://schemas.microsoft.com/office/drawing/2014/main" id="{3EF004FE-19D1-4061-A970-9ACF80AFC7F5}"/>
                </a:ext>
              </a:extLst>
            </p:cNvPr>
            <p:cNvCxnSpPr>
              <a:cxnSpLocks/>
              <a:stCxn id="52" idx="1"/>
              <a:endCxn id="58" idx="3"/>
            </p:cNvCxnSpPr>
            <p:nvPr/>
          </p:nvCxnSpPr>
          <p:spPr>
            <a:xfrm flipH="1">
              <a:off x="4432438" y="1144876"/>
              <a:ext cx="567529" cy="10848"/>
            </a:xfrm>
            <a:prstGeom prst="line">
              <a:avLst/>
            </a:prstGeom>
          </p:spPr>
          <p:style>
            <a:lnRef idx="1">
              <a:schemeClr val="accent1"/>
            </a:lnRef>
            <a:fillRef idx="0">
              <a:schemeClr val="accent1"/>
            </a:fillRef>
            <a:effectRef idx="0">
              <a:schemeClr val="accent1"/>
            </a:effectRef>
            <a:fontRef idx="minor">
              <a:schemeClr val="tx1"/>
            </a:fontRef>
          </p:style>
        </p:cxnSp>
        <p:sp>
          <p:nvSpPr>
            <p:cNvPr id="70" name="תרשים זרימה: פעולה ידנית 69">
              <a:extLst>
                <a:ext uri="{FF2B5EF4-FFF2-40B4-BE49-F238E27FC236}">
                  <a16:creationId xmlns:a16="http://schemas.microsoft.com/office/drawing/2014/main" id="{01FC7088-BD3B-461D-BD0D-91E2391F53D7}"/>
                </a:ext>
              </a:extLst>
            </p:cNvPr>
            <p:cNvSpPr/>
            <p:nvPr/>
          </p:nvSpPr>
          <p:spPr>
            <a:xfrm>
              <a:off x="3861099" y="1771311"/>
              <a:ext cx="1602865" cy="573884"/>
            </a:xfrm>
            <a:prstGeom prst="flowChartManualOperation">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בחירת קטגוריה</a:t>
              </a:r>
            </a:p>
          </p:txBody>
        </p:sp>
        <p:cxnSp>
          <p:nvCxnSpPr>
            <p:cNvPr id="80" name="מחבר חץ ישר 79">
              <a:extLst>
                <a:ext uri="{FF2B5EF4-FFF2-40B4-BE49-F238E27FC236}">
                  <a16:creationId xmlns:a16="http://schemas.microsoft.com/office/drawing/2014/main" id="{9616134E-6BB7-429D-BD04-6F3C804F5E7A}"/>
                </a:ext>
              </a:extLst>
            </p:cNvPr>
            <p:cNvCxnSpPr>
              <a:cxnSpLocks/>
              <a:endCxn id="70" idx="0"/>
            </p:cNvCxnSpPr>
            <p:nvPr/>
          </p:nvCxnSpPr>
          <p:spPr>
            <a:xfrm flipH="1">
              <a:off x="4662532" y="1144876"/>
              <a:ext cx="53671" cy="6264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מלבן 80">
              <a:extLst>
                <a:ext uri="{FF2B5EF4-FFF2-40B4-BE49-F238E27FC236}">
                  <a16:creationId xmlns:a16="http://schemas.microsoft.com/office/drawing/2014/main" id="{788D59DA-66FE-4996-9408-ACFCC2680BD2}"/>
                </a:ext>
              </a:extLst>
            </p:cNvPr>
            <p:cNvSpPr/>
            <p:nvPr/>
          </p:nvSpPr>
          <p:spPr>
            <a:xfrm>
              <a:off x="5759384" y="1909070"/>
              <a:ext cx="1115878" cy="298366"/>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אחרי לידה</a:t>
              </a:r>
            </a:p>
          </p:txBody>
        </p:sp>
        <p:sp>
          <p:nvSpPr>
            <p:cNvPr id="83" name="מלבן 82">
              <a:extLst>
                <a:ext uri="{FF2B5EF4-FFF2-40B4-BE49-F238E27FC236}">
                  <a16:creationId xmlns:a16="http://schemas.microsoft.com/office/drawing/2014/main" id="{3A066B05-BC37-4110-AA9E-CDEF50DFFFF8}"/>
                </a:ext>
              </a:extLst>
            </p:cNvPr>
            <p:cNvSpPr/>
            <p:nvPr/>
          </p:nvSpPr>
          <p:spPr>
            <a:xfrm>
              <a:off x="778656" y="1965504"/>
              <a:ext cx="628730" cy="298366"/>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הריון</a:t>
              </a:r>
            </a:p>
          </p:txBody>
        </p:sp>
        <p:cxnSp>
          <p:nvCxnSpPr>
            <p:cNvPr id="85" name="מחבר חץ ישר 84">
              <a:extLst>
                <a:ext uri="{FF2B5EF4-FFF2-40B4-BE49-F238E27FC236}">
                  <a16:creationId xmlns:a16="http://schemas.microsoft.com/office/drawing/2014/main" id="{DEE1B89F-36B9-4FF4-B221-94F8283C25C6}"/>
                </a:ext>
              </a:extLst>
            </p:cNvPr>
            <p:cNvCxnSpPr>
              <a:cxnSpLocks/>
              <a:stCxn id="70" idx="3"/>
              <a:endCxn id="81" idx="1"/>
            </p:cNvCxnSpPr>
            <p:nvPr/>
          </p:nvCxnSpPr>
          <p:spPr>
            <a:xfrm>
              <a:off x="5303678" y="2058253"/>
              <a:ext cx="45570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מחבר חץ ישר 92">
              <a:extLst>
                <a:ext uri="{FF2B5EF4-FFF2-40B4-BE49-F238E27FC236}">
                  <a16:creationId xmlns:a16="http://schemas.microsoft.com/office/drawing/2014/main" id="{B2820995-BB0E-4CDC-819F-EDEE73EF4C66}"/>
                </a:ext>
              </a:extLst>
            </p:cNvPr>
            <p:cNvCxnSpPr>
              <a:cxnSpLocks/>
              <a:stCxn id="70" idx="2"/>
              <a:endCxn id="82" idx="0"/>
            </p:cNvCxnSpPr>
            <p:nvPr/>
          </p:nvCxnSpPr>
          <p:spPr>
            <a:xfrm>
              <a:off x="4662532" y="2345195"/>
              <a:ext cx="26835" cy="2378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6" name="מלבן 105">
              <a:extLst>
                <a:ext uri="{FF2B5EF4-FFF2-40B4-BE49-F238E27FC236}">
                  <a16:creationId xmlns:a16="http://schemas.microsoft.com/office/drawing/2014/main" id="{10007A7D-9DC2-4B6A-801E-155CA94EA794}"/>
                </a:ext>
              </a:extLst>
            </p:cNvPr>
            <p:cNvSpPr/>
            <p:nvPr/>
          </p:nvSpPr>
          <p:spPr>
            <a:xfrm>
              <a:off x="4018746" y="3553620"/>
              <a:ext cx="1371599" cy="492537"/>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תינוק בגיל   6-12 חודשים</a:t>
              </a:r>
            </a:p>
          </p:txBody>
        </p:sp>
        <p:sp>
          <p:nvSpPr>
            <p:cNvPr id="113" name="מלבן 112">
              <a:extLst>
                <a:ext uri="{FF2B5EF4-FFF2-40B4-BE49-F238E27FC236}">
                  <a16:creationId xmlns:a16="http://schemas.microsoft.com/office/drawing/2014/main" id="{983AD477-8618-444B-B329-22F4152F7DFF}"/>
                </a:ext>
              </a:extLst>
            </p:cNvPr>
            <p:cNvSpPr/>
            <p:nvPr/>
          </p:nvSpPr>
          <p:spPr>
            <a:xfrm>
              <a:off x="2711396" y="3074440"/>
              <a:ext cx="1288942" cy="441146"/>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תינוק בגיל 1-6 חודשים</a:t>
              </a:r>
            </a:p>
          </p:txBody>
        </p:sp>
        <p:cxnSp>
          <p:nvCxnSpPr>
            <p:cNvPr id="119" name="מחבר: מרפקי 118">
              <a:extLst>
                <a:ext uri="{FF2B5EF4-FFF2-40B4-BE49-F238E27FC236}">
                  <a16:creationId xmlns:a16="http://schemas.microsoft.com/office/drawing/2014/main" id="{2B2124D2-8935-447D-837E-5717CB7FC7B8}"/>
                </a:ext>
              </a:extLst>
            </p:cNvPr>
            <p:cNvCxnSpPr>
              <a:cxnSpLocks/>
              <a:stCxn id="82" idx="3"/>
              <a:endCxn id="105" idx="0"/>
            </p:cNvCxnSpPr>
            <p:nvPr/>
          </p:nvCxnSpPr>
          <p:spPr>
            <a:xfrm>
              <a:off x="5093356" y="2743105"/>
              <a:ext cx="1130024" cy="26928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מחבר חץ ישר 122">
              <a:extLst>
                <a:ext uri="{FF2B5EF4-FFF2-40B4-BE49-F238E27FC236}">
                  <a16:creationId xmlns:a16="http://schemas.microsoft.com/office/drawing/2014/main" id="{35CA42D0-111D-4BDB-BDE2-084E9C9944F9}"/>
                </a:ext>
              </a:extLst>
            </p:cNvPr>
            <p:cNvCxnSpPr>
              <a:cxnSpLocks/>
              <a:stCxn id="82" idx="2"/>
              <a:endCxn id="106" idx="0"/>
            </p:cNvCxnSpPr>
            <p:nvPr/>
          </p:nvCxnSpPr>
          <p:spPr>
            <a:xfrm>
              <a:off x="4689367" y="2903211"/>
              <a:ext cx="15178" cy="650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6" name="מחבר: מרפקי 135">
              <a:extLst>
                <a:ext uri="{FF2B5EF4-FFF2-40B4-BE49-F238E27FC236}">
                  <a16:creationId xmlns:a16="http://schemas.microsoft.com/office/drawing/2014/main" id="{280E3BE4-40D1-4E3B-801D-FD17052CCA86}"/>
                </a:ext>
              </a:extLst>
            </p:cNvPr>
            <p:cNvCxnSpPr>
              <a:cxnSpLocks/>
              <a:stCxn id="82" idx="1"/>
              <a:endCxn id="113" idx="0"/>
            </p:cNvCxnSpPr>
            <p:nvPr/>
          </p:nvCxnSpPr>
          <p:spPr>
            <a:xfrm rot="10800000" flipV="1">
              <a:off x="3355869" y="2743104"/>
              <a:ext cx="929509" cy="33133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מלבן 104">
              <a:extLst>
                <a:ext uri="{FF2B5EF4-FFF2-40B4-BE49-F238E27FC236}">
                  <a16:creationId xmlns:a16="http://schemas.microsoft.com/office/drawing/2014/main" id="{572B9928-6964-48FF-BBAC-0F76D73B3948}"/>
                </a:ext>
              </a:extLst>
            </p:cNvPr>
            <p:cNvSpPr/>
            <p:nvPr/>
          </p:nvSpPr>
          <p:spPr>
            <a:xfrm>
              <a:off x="5463963" y="3012389"/>
              <a:ext cx="1518834" cy="503198"/>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תינוק בגיל      12-24 חודשים</a:t>
              </a:r>
            </a:p>
          </p:txBody>
        </p:sp>
        <p:cxnSp>
          <p:nvCxnSpPr>
            <p:cNvPr id="141" name="מחבר: מרפקי 140">
              <a:extLst>
                <a:ext uri="{FF2B5EF4-FFF2-40B4-BE49-F238E27FC236}">
                  <a16:creationId xmlns:a16="http://schemas.microsoft.com/office/drawing/2014/main" id="{0612F243-7B26-4F0C-956C-593DA446A33A}"/>
                </a:ext>
              </a:extLst>
            </p:cNvPr>
            <p:cNvCxnSpPr>
              <a:cxnSpLocks/>
              <a:stCxn id="81" idx="3"/>
              <a:endCxn id="296" idx="3"/>
            </p:cNvCxnSpPr>
            <p:nvPr/>
          </p:nvCxnSpPr>
          <p:spPr>
            <a:xfrm flipH="1">
              <a:off x="4128323" y="2058253"/>
              <a:ext cx="2746940" cy="2271564"/>
            </a:xfrm>
            <a:prstGeom prst="bentConnector3">
              <a:avLst>
                <a:gd name="adj1" fmla="val -1024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7" name="מחבר: מרפקי 146">
              <a:extLst>
                <a:ext uri="{FF2B5EF4-FFF2-40B4-BE49-F238E27FC236}">
                  <a16:creationId xmlns:a16="http://schemas.microsoft.com/office/drawing/2014/main" id="{1D92E6F8-4326-4753-AF58-B1C26090982E}"/>
                </a:ext>
              </a:extLst>
            </p:cNvPr>
            <p:cNvCxnSpPr>
              <a:cxnSpLocks/>
              <a:stCxn id="105" idx="2"/>
              <a:endCxn id="296" idx="3"/>
            </p:cNvCxnSpPr>
            <p:nvPr/>
          </p:nvCxnSpPr>
          <p:spPr>
            <a:xfrm rot="5400000">
              <a:off x="4768736" y="2875173"/>
              <a:ext cx="814230" cy="209505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9" name="מחבר חץ ישר 148">
              <a:extLst>
                <a:ext uri="{FF2B5EF4-FFF2-40B4-BE49-F238E27FC236}">
                  <a16:creationId xmlns:a16="http://schemas.microsoft.com/office/drawing/2014/main" id="{11642F6C-D927-4B7A-A176-200D0417CE07}"/>
                </a:ext>
              </a:extLst>
            </p:cNvPr>
            <p:cNvCxnSpPr>
              <a:cxnSpLocks/>
              <a:stCxn id="106" idx="2"/>
              <a:endCxn id="296" idx="3"/>
            </p:cNvCxnSpPr>
            <p:nvPr/>
          </p:nvCxnSpPr>
          <p:spPr>
            <a:xfrm flipH="1">
              <a:off x="4128323" y="4046157"/>
              <a:ext cx="576222" cy="283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1" name="מחבר: מרפקי 150">
              <a:extLst>
                <a:ext uri="{FF2B5EF4-FFF2-40B4-BE49-F238E27FC236}">
                  <a16:creationId xmlns:a16="http://schemas.microsoft.com/office/drawing/2014/main" id="{4CEAB6ED-FC3E-4C1A-A98E-BCBE440CA8BC}"/>
                </a:ext>
              </a:extLst>
            </p:cNvPr>
            <p:cNvCxnSpPr>
              <a:cxnSpLocks/>
              <a:stCxn id="113" idx="2"/>
              <a:endCxn id="296" idx="0"/>
            </p:cNvCxnSpPr>
            <p:nvPr/>
          </p:nvCxnSpPr>
          <p:spPr>
            <a:xfrm rot="16200000" flipH="1">
              <a:off x="3165413" y="3706042"/>
              <a:ext cx="525147" cy="14423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82" name="מלבן 181">
              <a:extLst>
                <a:ext uri="{FF2B5EF4-FFF2-40B4-BE49-F238E27FC236}">
                  <a16:creationId xmlns:a16="http://schemas.microsoft.com/office/drawing/2014/main" id="{E1C2AF39-ABB7-46FE-A865-4356D1CA5731}"/>
                </a:ext>
              </a:extLst>
            </p:cNvPr>
            <p:cNvSpPr/>
            <p:nvPr/>
          </p:nvSpPr>
          <p:spPr>
            <a:xfrm>
              <a:off x="-1284227" y="4964239"/>
              <a:ext cx="906970" cy="441145"/>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שמות תינוקות</a:t>
              </a:r>
            </a:p>
          </p:txBody>
        </p:sp>
        <p:sp>
          <p:nvSpPr>
            <p:cNvPr id="183" name="מלבן 182">
              <a:extLst>
                <a:ext uri="{FF2B5EF4-FFF2-40B4-BE49-F238E27FC236}">
                  <a16:creationId xmlns:a16="http://schemas.microsoft.com/office/drawing/2014/main" id="{6257AA11-F2EC-41EC-91B1-8959B0567688}"/>
                </a:ext>
              </a:extLst>
            </p:cNvPr>
            <p:cNvSpPr/>
            <p:nvPr/>
          </p:nvSpPr>
          <p:spPr>
            <a:xfrm>
              <a:off x="-344360" y="4964238"/>
              <a:ext cx="743919" cy="513462"/>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סימני היריון </a:t>
              </a:r>
            </a:p>
          </p:txBody>
        </p:sp>
        <p:sp>
          <p:nvSpPr>
            <p:cNvPr id="184" name="מלבן 183">
              <a:extLst>
                <a:ext uri="{FF2B5EF4-FFF2-40B4-BE49-F238E27FC236}">
                  <a16:creationId xmlns:a16="http://schemas.microsoft.com/office/drawing/2014/main" id="{A4CF2D1B-91CF-4EDA-8609-B431EE914CAE}"/>
                </a:ext>
              </a:extLst>
            </p:cNvPr>
            <p:cNvSpPr/>
            <p:nvPr/>
          </p:nvSpPr>
          <p:spPr>
            <a:xfrm>
              <a:off x="-252695" y="2485003"/>
              <a:ext cx="864921" cy="452847"/>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7-9 חודשים</a:t>
              </a:r>
            </a:p>
          </p:txBody>
        </p:sp>
        <p:sp>
          <p:nvSpPr>
            <p:cNvPr id="185" name="מלבן 184">
              <a:extLst>
                <a:ext uri="{FF2B5EF4-FFF2-40B4-BE49-F238E27FC236}">
                  <a16:creationId xmlns:a16="http://schemas.microsoft.com/office/drawing/2014/main" id="{FB998124-4E10-48C5-B2D1-F9FAF79F498E}"/>
                </a:ext>
              </a:extLst>
            </p:cNvPr>
            <p:cNvSpPr/>
            <p:nvPr/>
          </p:nvSpPr>
          <p:spPr>
            <a:xfrm>
              <a:off x="689450" y="2476844"/>
              <a:ext cx="864921" cy="469166"/>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4-5 חודשים</a:t>
              </a:r>
            </a:p>
          </p:txBody>
        </p:sp>
        <p:sp>
          <p:nvSpPr>
            <p:cNvPr id="186" name="מלבן 185">
              <a:extLst>
                <a:ext uri="{FF2B5EF4-FFF2-40B4-BE49-F238E27FC236}">
                  <a16:creationId xmlns:a16="http://schemas.microsoft.com/office/drawing/2014/main" id="{38BF24C3-4F2A-4329-8538-A83C7AB3DE6D}"/>
                </a:ext>
              </a:extLst>
            </p:cNvPr>
            <p:cNvSpPr/>
            <p:nvPr/>
          </p:nvSpPr>
          <p:spPr>
            <a:xfrm>
              <a:off x="1646660" y="2487755"/>
              <a:ext cx="864921" cy="458255"/>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1-3 חודשים</a:t>
              </a:r>
            </a:p>
          </p:txBody>
        </p:sp>
        <p:cxnSp>
          <p:nvCxnSpPr>
            <p:cNvPr id="190" name="מחבר: מרפקי 189">
              <a:extLst>
                <a:ext uri="{FF2B5EF4-FFF2-40B4-BE49-F238E27FC236}">
                  <a16:creationId xmlns:a16="http://schemas.microsoft.com/office/drawing/2014/main" id="{57B6BAD6-1FFD-43F4-AF14-E6788A48F769}"/>
                </a:ext>
              </a:extLst>
            </p:cNvPr>
            <p:cNvCxnSpPr>
              <a:cxnSpLocks/>
              <a:stCxn id="70" idx="1"/>
              <a:endCxn id="83" idx="0"/>
            </p:cNvCxnSpPr>
            <p:nvPr/>
          </p:nvCxnSpPr>
          <p:spPr>
            <a:xfrm rot="10800000">
              <a:off x="1093021" y="1965505"/>
              <a:ext cx="2928364" cy="92749"/>
            </a:xfrm>
            <a:prstGeom prst="bentConnector4">
              <a:avLst>
                <a:gd name="adj1" fmla="val 41896"/>
                <a:gd name="adj2" fmla="val 34647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2" name="מחבר: מרפקי 191">
              <a:extLst>
                <a:ext uri="{FF2B5EF4-FFF2-40B4-BE49-F238E27FC236}">
                  <a16:creationId xmlns:a16="http://schemas.microsoft.com/office/drawing/2014/main" id="{ECE7E9D6-848F-49FD-8E79-3347CA0E0EF9}"/>
                </a:ext>
              </a:extLst>
            </p:cNvPr>
            <p:cNvCxnSpPr>
              <a:cxnSpLocks/>
              <a:stCxn id="83" idx="3"/>
              <a:endCxn id="186" idx="0"/>
            </p:cNvCxnSpPr>
            <p:nvPr/>
          </p:nvCxnSpPr>
          <p:spPr>
            <a:xfrm>
              <a:off x="1407386" y="2114687"/>
              <a:ext cx="671735" cy="373068"/>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94" name="מחבר: מרפקי 193">
              <a:extLst>
                <a:ext uri="{FF2B5EF4-FFF2-40B4-BE49-F238E27FC236}">
                  <a16:creationId xmlns:a16="http://schemas.microsoft.com/office/drawing/2014/main" id="{7A38BA7C-B10B-4AB1-9D17-73498970AB70}"/>
                </a:ext>
              </a:extLst>
            </p:cNvPr>
            <p:cNvCxnSpPr>
              <a:cxnSpLocks/>
              <a:stCxn id="83" idx="1"/>
              <a:endCxn id="184" idx="0"/>
            </p:cNvCxnSpPr>
            <p:nvPr/>
          </p:nvCxnSpPr>
          <p:spPr>
            <a:xfrm rot="10800000" flipV="1">
              <a:off x="179766" y="2114687"/>
              <a:ext cx="598890" cy="37031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6" name="מחבר חץ ישר 195">
              <a:extLst>
                <a:ext uri="{FF2B5EF4-FFF2-40B4-BE49-F238E27FC236}">
                  <a16:creationId xmlns:a16="http://schemas.microsoft.com/office/drawing/2014/main" id="{030198E8-7E74-4F6F-89FD-81616E445BF7}"/>
                </a:ext>
              </a:extLst>
            </p:cNvPr>
            <p:cNvCxnSpPr>
              <a:cxnSpLocks/>
              <a:stCxn id="83" idx="2"/>
              <a:endCxn id="185" idx="0"/>
            </p:cNvCxnSpPr>
            <p:nvPr/>
          </p:nvCxnSpPr>
          <p:spPr>
            <a:xfrm>
              <a:off x="1093021" y="2263870"/>
              <a:ext cx="28890" cy="2129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6" name="תרשים זרימה: פעולה ידנית 295">
              <a:extLst>
                <a:ext uri="{FF2B5EF4-FFF2-40B4-BE49-F238E27FC236}">
                  <a16:creationId xmlns:a16="http://schemas.microsoft.com/office/drawing/2014/main" id="{30868F28-02C8-4F26-928A-F22FA50E8AA4}"/>
                </a:ext>
              </a:extLst>
            </p:cNvPr>
            <p:cNvSpPr/>
            <p:nvPr/>
          </p:nvSpPr>
          <p:spPr>
            <a:xfrm>
              <a:off x="2714829" y="4040733"/>
              <a:ext cx="1570548" cy="578168"/>
            </a:xfrm>
            <a:prstGeom prst="flowChartManualOperation">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בחירת</a:t>
              </a:r>
            </a:p>
            <a:p>
              <a:pPr algn="ctr"/>
              <a:r>
                <a:rPr lang="he-IL" sz="1400" dirty="0"/>
                <a:t>הצעות מידע</a:t>
              </a:r>
            </a:p>
          </p:txBody>
        </p:sp>
        <p:cxnSp>
          <p:nvCxnSpPr>
            <p:cNvPr id="314" name="מחבר: מרפקי 313">
              <a:extLst>
                <a:ext uri="{FF2B5EF4-FFF2-40B4-BE49-F238E27FC236}">
                  <a16:creationId xmlns:a16="http://schemas.microsoft.com/office/drawing/2014/main" id="{10FC27A0-2FF2-4063-AE01-EA9B9AEFB883}"/>
                </a:ext>
              </a:extLst>
            </p:cNvPr>
            <p:cNvCxnSpPr>
              <a:cxnSpLocks/>
              <a:stCxn id="184" idx="2"/>
              <a:endCxn id="296" idx="1"/>
            </p:cNvCxnSpPr>
            <p:nvPr/>
          </p:nvCxnSpPr>
          <p:spPr>
            <a:xfrm rot="16200000" flipH="1">
              <a:off x="829842" y="2287774"/>
              <a:ext cx="1391967" cy="269211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5" name="מחבר: מרפקי 314">
              <a:extLst>
                <a:ext uri="{FF2B5EF4-FFF2-40B4-BE49-F238E27FC236}">
                  <a16:creationId xmlns:a16="http://schemas.microsoft.com/office/drawing/2014/main" id="{AA0E76CD-AB93-4D9C-AA39-8A5D252648C9}"/>
                </a:ext>
              </a:extLst>
            </p:cNvPr>
            <p:cNvCxnSpPr>
              <a:cxnSpLocks/>
              <a:stCxn id="186" idx="2"/>
              <a:endCxn id="296" idx="1"/>
            </p:cNvCxnSpPr>
            <p:nvPr/>
          </p:nvCxnSpPr>
          <p:spPr>
            <a:xfrm rot="16200000" flipH="1">
              <a:off x="1783599" y="3241532"/>
              <a:ext cx="1383807" cy="79276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6" name="מחבר: מרפקי 315">
              <a:extLst>
                <a:ext uri="{FF2B5EF4-FFF2-40B4-BE49-F238E27FC236}">
                  <a16:creationId xmlns:a16="http://schemas.microsoft.com/office/drawing/2014/main" id="{A237F069-DAB1-4C1D-8363-7BE77C4E4B0A}"/>
                </a:ext>
              </a:extLst>
            </p:cNvPr>
            <p:cNvCxnSpPr>
              <a:cxnSpLocks/>
              <a:stCxn id="185" idx="2"/>
              <a:endCxn id="296" idx="1"/>
            </p:cNvCxnSpPr>
            <p:nvPr/>
          </p:nvCxnSpPr>
          <p:spPr>
            <a:xfrm rot="16200000" flipH="1">
              <a:off x="1304994" y="2762927"/>
              <a:ext cx="1383807" cy="17499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6" name="מחבר: מרפקי 325">
              <a:extLst>
                <a:ext uri="{FF2B5EF4-FFF2-40B4-BE49-F238E27FC236}">
                  <a16:creationId xmlns:a16="http://schemas.microsoft.com/office/drawing/2014/main" id="{E8E937EC-9C86-4B82-909D-334D6E5DF78B}"/>
                </a:ext>
              </a:extLst>
            </p:cNvPr>
            <p:cNvCxnSpPr>
              <a:cxnSpLocks/>
              <a:endCxn id="183" idx="0"/>
            </p:cNvCxnSpPr>
            <p:nvPr/>
          </p:nvCxnSpPr>
          <p:spPr>
            <a:xfrm rot="10800000" flipV="1">
              <a:off x="27601" y="4479298"/>
              <a:ext cx="2816123" cy="4849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7" name="מחבר: מרפקי 326">
              <a:extLst>
                <a:ext uri="{FF2B5EF4-FFF2-40B4-BE49-F238E27FC236}">
                  <a16:creationId xmlns:a16="http://schemas.microsoft.com/office/drawing/2014/main" id="{EF860FD0-4444-49AB-A9C4-A86D9911BDB1}"/>
                </a:ext>
              </a:extLst>
            </p:cNvPr>
            <p:cNvCxnSpPr>
              <a:cxnSpLocks/>
              <a:endCxn id="182" idx="0"/>
            </p:cNvCxnSpPr>
            <p:nvPr/>
          </p:nvCxnSpPr>
          <p:spPr>
            <a:xfrm rot="10800000" flipV="1">
              <a:off x="-830742" y="4471139"/>
              <a:ext cx="3743498" cy="4930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50" name="מלבן 349">
              <a:extLst>
                <a:ext uri="{FF2B5EF4-FFF2-40B4-BE49-F238E27FC236}">
                  <a16:creationId xmlns:a16="http://schemas.microsoft.com/office/drawing/2014/main" id="{2D583E49-55CA-41C5-8FC7-0817EF30CC83}"/>
                </a:ext>
              </a:extLst>
            </p:cNvPr>
            <p:cNvSpPr/>
            <p:nvPr/>
          </p:nvSpPr>
          <p:spPr>
            <a:xfrm>
              <a:off x="3861099" y="4994867"/>
              <a:ext cx="1758089" cy="513462"/>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קהילת משתמשים ופורמים</a:t>
              </a:r>
            </a:p>
          </p:txBody>
        </p:sp>
        <p:sp>
          <p:nvSpPr>
            <p:cNvPr id="351" name="מלבן 350">
              <a:extLst>
                <a:ext uri="{FF2B5EF4-FFF2-40B4-BE49-F238E27FC236}">
                  <a16:creationId xmlns:a16="http://schemas.microsoft.com/office/drawing/2014/main" id="{5EBFF51F-FCFB-450D-9DBA-1C36557198F1}"/>
                </a:ext>
              </a:extLst>
            </p:cNvPr>
            <p:cNvSpPr/>
            <p:nvPr/>
          </p:nvSpPr>
          <p:spPr>
            <a:xfrm>
              <a:off x="2711946" y="4996781"/>
              <a:ext cx="955729" cy="435767"/>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קורסים והדרכות</a:t>
              </a:r>
            </a:p>
          </p:txBody>
        </p:sp>
        <p:sp>
          <p:nvSpPr>
            <p:cNvPr id="359" name="מלבן 358">
              <a:extLst>
                <a:ext uri="{FF2B5EF4-FFF2-40B4-BE49-F238E27FC236}">
                  <a16:creationId xmlns:a16="http://schemas.microsoft.com/office/drawing/2014/main" id="{5A0DEF4B-4938-4F1E-8A6C-51E44C23A93C}"/>
                </a:ext>
              </a:extLst>
            </p:cNvPr>
            <p:cNvSpPr/>
            <p:nvPr/>
          </p:nvSpPr>
          <p:spPr>
            <a:xfrm>
              <a:off x="7242006" y="5038835"/>
              <a:ext cx="1411961" cy="469166"/>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שיתוף חוויות אישיות</a:t>
              </a:r>
            </a:p>
          </p:txBody>
        </p:sp>
        <p:sp>
          <p:nvSpPr>
            <p:cNvPr id="360" name="מלבן 359">
              <a:extLst>
                <a:ext uri="{FF2B5EF4-FFF2-40B4-BE49-F238E27FC236}">
                  <a16:creationId xmlns:a16="http://schemas.microsoft.com/office/drawing/2014/main" id="{D550DA36-7585-469A-8391-8D3A6494637E}"/>
                </a:ext>
              </a:extLst>
            </p:cNvPr>
            <p:cNvSpPr/>
            <p:nvPr/>
          </p:nvSpPr>
          <p:spPr>
            <a:xfrm>
              <a:off x="5652292" y="5018396"/>
              <a:ext cx="1556610" cy="466404"/>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סקירות מוצרים והמלצות</a:t>
              </a:r>
            </a:p>
          </p:txBody>
        </p:sp>
        <p:sp>
          <p:nvSpPr>
            <p:cNvPr id="361" name="מלבן 360">
              <a:extLst>
                <a:ext uri="{FF2B5EF4-FFF2-40B4-BE49-F238E27FC236}">
                  <a16:creationId xmlns:a16="http://schemas.microsoft.com/office/drawing/2014/main" id="{2EEFC0EE-37EE-4245-9E56-F7E332582D17}"/>
                </a:ext>
              </a:extLst>
            </p:cNvPr>
            <p:cNvSpPr/>
            <p:nvPr/>
          </p:nvSpPr>
          <p:spPr>
            <a:xfrm>
              <a:off x="1405655" y="5006378"/>
              <a:ext cx="1246645" cy="427250"/>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err="1"/>
                <a:t>פודקאסטים</a:t>
              </a:r>
              <a:r>
                <a:rPr lang="he-IL" sz="1400" dirty="0"/>
                <a:t> ווידאו</a:t>
              </a:r>
            </a:p>
          </p:txBody>
        </p:sp>
        <p:sp>
          <p:nvSpPr>
            <p:cNvPr id="362" name="מלבן 361">
              <a:extLst>
                <a:ext uri="{FF2B5EF4-FFF2-40B4-BE49-F238E27FC236}">
                  <a16:creationId xmlns:a16="http://schemas.microsoft.com/office/drawing/2014/main" id="{15E688F9-34B4-4F89-8E84-E8276E83CBB0}"/>
                </a:ext>
              </a:extLst>
            </p:cNvPr>
            <p:cNvSpPr/>
            <p:nvPr/>
          </p:nvSpPr>
          <p:spPr>
            <a:xfrm>
              <a:off x="443168" y="5000396"/>
              <a:ext cx="931514" cy="441145"/>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he-IL" sz="1400" dirty="0"/>
                <a:t>מאמרים </a:t>
              </a:r>
              <a:r>
                <a:rPr lang="he-IL" sz="1400" dirty="0" err="1"/>
                <a:t>ופוסטים</a:t>
              </a:r>
              <a:endParaRPr lang="he-IL" sz="1400" dirty="0"/>
            </a:p>
          </p:txBody>
        </p:sp>
        <p:cxnSp>
          <p:nvCxnSpPr>
            <p:cNvPr id="384" name="מחבר: מרפקי 383">
              <a:extLst>
                <a:ext uri="{FF2B5EF4-FFF2-40B4-BE49-F238E27FC236}">
                  <a16:creationId xmlns:a16="http://schemas.microsoft.com/office/drawing/2014/main" id="{DBE0B55C-47B2-48A1-8BCF-206B7543F0FC}"/>
                </a:ext>
              </a:extLst>
            </p:cNvPr>
            <p:cNvCxnSpPr>
              <a:cxnSpLocks/>
              <a:stCxn id="296" idx="2"/>
              <a:endCxn id="359" idx="0"/>
            </p:cNvCxnSpPr>
            <p:nvPr/>
          </p:nvCxnSpPr>
          <p:spPr>
            <a:xfrm rot="16200000" flipH="1">
              <a:off x="5514077" y="2604926"/>
              <a:ext cx="419934" cy="444788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5" name="מחבר: מרפקי 384">
              <a:extLst>
                <a:ext uri="{FF2B5EF4-FFF2-40B4-BE49-F238E27FC236}">
                  <a16:creationId xmlns:a16="http://schemas.microsoft.com/office/drawing/2014/main" id="{8C5B9BE8-7EA6-4506-AA98-2AA0BDA92626}"/>
                </a:ext>
              </a:extLst>
            </p:cNvPr>
            <p:cNvCxnSpPr>
              <a:cxnSpLocks/>
              <a:stCxn id="296" idx="2"/>
              <a:endCxn id="360" idx="0"/>
            </p:cNvCxnSpPr>
            <p:nvPr/>
          </p:nvCxnSpPr>
          <p:spPr>
            <a:xfrm rot="16200000" flipH="1">
              <a:off x="4765603" y="3353400"/>
              <a:ext cx="399495" cy="293049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9" name="מחבר: מרפקי 388">
              <a:extLst>
                <a:ext uri="{FF2B5EF4-FFF2-40B4-BE49-F238E27FC236}">
                  <a16:creationId xmlns:a16="http://schemas.microsoft.com/office/drawing/2014/main" id="{66B023E9-A189-470B-87D9-D8A15B9BC18E}"/>
                </a:ext>
              </a:extLst>
            </p:cNvPr>
            <p:cNvCxnSpPr>
              <a:cxnSpLocks/>
              <a:stCxn id="296" idx="2"/>
              <a:endCxn id="350" idx="0"/>
            </p:cNvCxnSpPr>
            <p:nvPr/>
          </p:nvCxnSpPr>
          <p:spPr>
            <a:xfrm rot="16200000" flipH="1">
              <a:off x="3932140" y="4186864"/>
              <a:ext cx="375966" cy="124004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1" name="מחבר: מרפקי 390">
              <a:extLst>
                <a:ext uri="{FF2B5EF4-FFF2-40B4-BE49-F238E27FC236}">
                  <a16:creationId xmlns:a16="http://schemas.microsoft.com/office/drawing/2014/main" id="{06BBC368-258B-466C-820F-90A50E76E354}"/>
                </a:ext>
              </a:extLst>
            </p:cNvPr>
            <p:cNvCxnSpPr>
              <a:cxnSpLocks/>
              <a:stCxn id="296" idx="2"/>
              <a:endCxn id="351" idx="0"/>
            </p:cNvCxnSpPr>
            <p:nvPr/>
          </p:nvCxnSpPr>
          <p:spPr>
            <a:xfrm rot="5400000">
              <a:off x="3156017" y="4652695"/>
              <a:ext cx="377880" cy="31029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3" name="מחבר: מרפקי 392">
              <a:extLst>
                <a:ext uri="{FF2B5EF4-FFF2-40B4-BE49-F238E27FC236}">
                  <a16:creationId xmlns:a16="http://schemas.microsoft.com/office/drawing/2014/main" id="{386FEF91-C2CE-4914-B426-278B0ED753EC}"/>
                </a:ext>
              </a:extLst>
            </p:cNvPr>
            <p:cNvCxnSpPr>
              <a:cxnSpLocks/>
              <a:stCxn id="296" idx="2"/>
              <a:endCxn id="361" idx="0"/>
            </p:cNvCxnSpPr>
            <p:nvPr/>
          </p:nvCxnSpPr>
          <p:spPr>
            <a:xfrm rot="5400000">
              <a:off x="2570803" y="4077076"/>
              <a:ext cx="387477" cy="147112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5" name="מחבר: מרפקי 394">
              <a:extLst>
                <a:ext uri="{FF2B5EF4-FFF2-40B4-BE49-F238E27FC236}">
                  <a16:creationId xmlns:a16="http://schemas.microsoft.com/office/drawing/2014/main" id="{403A787D-7B42-4BA8-82E0-DA5DBC70F70E}"/>
                </a:ext>
              </a:extLst>
            </p:cNvPr>
            <p:cNvCxnSpPr>
              <a:cxnSpLocks/>
              <a:stCxn id="296" idx="2"/>
              <a:endCxn id="362" idx="0"/>
            </p:cNvCxnSpPr>
            <p:nvPr/>
          </p:nvCxnSpPr>
          <p:spPr>
            <a:xfrm rot="5400000">
              <a:off x="2013767" y="3514059"/>
              <a:ext cx="381495" cy="259117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04" name="אליפסה 403">
              <a:extLst>
                <a:ext uri="{FF2B5EF4-FFF2-40B4-BE49-F238E27FC236}">
                  <a16:creationId xmlns:a16="http://schemas.microsoft.com/office/drawing/2014/main" id="{95C05291-C50C-4CC8-8E15-E59DCAF453F7}"/>
                </a:ext>
              </a:extLst>
            </p:cNvPr>
            <p:cNvSpPr/>
            <p:nvPr/>
          </p:nvSpPr>
          <p:spPr>
            <a:xfrm>
              <a:off x="4287195" y="447638"/>
              <a:ext cx="1073258" cy="3026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400" dirty="0"/>
                <a:t>התחל</a:t>
              </a:r>
            </a:p>
          </p:txBody>
        </p:sp>
      </p:grpSp>
      <p:cxnSp>
        <p:nvCxnSpPr>
          <p:cNvPr id="48" name="מחבר חץ ישר 47">
            <a:extLst>
              <a:ext uri="{FF2B5EF4-FFF2-40B4-BE49-F238E27FC236}">
                <a16:creationId xmlns:a16="http://schemas.microsoft.com/office/drawing/2014/main" id="{91AD6B6C-7D81-FE86-4065-C01B2AC90B77}"/>
              </a:ext>
            </a:extLst>
          </p:cNvPr>
          <p:cNvCxnSpPr>
            <a:cxnSpLocks/>
          </p:cNvCxnSpPr>
          <p:nvPr/>
        </p:nvCxnSpPr>
        <p:spPr>
          <a:xfrm>
            <a:off x="4487158" y="5176063"/>
            <a:ext cx="0" cy="782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אליפסה 49">
            <a:extLst>
              <a:ext uri="{FF2B5EF4-FFF2-40B4-BE49-F238E27FC236}">
                <a16:creationId xmlns:a16="http://schemas.microsoft.com/office/drawing/2014/main" id="{6E81AB49-AB80-0568-9DAF-6664B0707175}"/>
              </a:ext>
            </a:extLst>
          </p:cNvPr>
          <p:cNvSpPr/>
          <p:nvPr/>
        </p:nvSpPr>
        <p:spPr>
          <a:xfrm>
            <a:off x="4062288" y="5985583"/>
            <a:ext cx="914400" cy="4199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סיום</a:t>
            </a:r>
          </a:p>
        </p:txBody>
      </p:sp>
    </p:spTree>
    <p:extLst>
      <p:ext uri="{BB962C8B-B14F-4D97-AF65-F5344CB8AC3E}">
        <p14:creationId xmlns:p14="http://schemas.microsoft.com/office/powerpoint/2010/main" val="349041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כותרת תחתונה 1">
            <a:extLst>
              <a:ext uri="{FF2B5EF4-FFF2-40B4-BE49-F238E27FC236}">
                <a16:creationId xmlns:a16="http://schemas.microsoft.com/office/drawing/2014/main" id="{C91C0F94-3A92-45FE-B925-30D375A8DD3A}"/>
              </a:ext>
            </a:extLst>
          </p:cNvPr>
          <p:cNvSpPr>
            <a:spLocks noGrp="1"/>
          </p:cNvSpPr>
          <p:nvPr>
            <p:ph type="ftr" sz="quarter" idx="11"/>
          </p:nvPr>
        </p:nvSpPr>
        <p:spPr>
          <a:xfrm>
            <a:off x="3028950" y="6371845"/>
            <a:ext cx="3086100" cy="365125"/>
          </a:xfrm>
        </p:spPr>
        <p:txBody>
          <a:bodyPr/>
          <a:lstStyle/>
          <a:p>
            <a:r>
              <a:rPr lang="he-IL" b="1" dirty="0">
                <a:solidFill>
                  <a:schemeClr val="tx1"/>
                </a:solidFill>
              </a:rPr>
              <a:t>אתר אינטרנט לאימהות חדשות במגזר הבדואי                      </a:t>
            </a:r>
            <a:r>
              <a:rPr lang="en-US" b="1" dirty="0">
                <a:solidFill>
                  <a:schemeClr val="tx1"/>
                </a:solidFill>
              </a:rPr>
              <a:t>Navon-13-2024-sem2</a:t>
            </a:r>
            <a:endParaRPr lang="he-IL" b="1" dirty="0">
              <a:solidFill>
                <a:schemeClr val="tx1"/>
              </a:solidFill>
            </a:endParaRPr>
          </a:p>
        </p:txBody>
      </p:sp>
      <p:sp>
        <p:nvSpPr>
          <p:cNvPr id="3" name="מציין מיקום של מספר שקופית 2">
            <a:extLst>
              <a:ext uri="{FF2B5EF4-FFF2-40B4-BE49-F238E27FC236}">
                <a16:creationId xmlns:a16="http://schemas.microsoft.com/office/drawing/2014/main" id="{F424C887-D7FF-40EA-9746-FF00EE288E69}"/>
              </a:ext>
            </a:extLst>
          </p:cNvPr>
          <p:cNvSpPr>
            <a:spLocks noGrp="1"/>
          </p:cNvSpPr>
          <p:nvPr>
            <p:ph type="sldNum" sz="quarter" idx="12"/>
          </p:nvPr>
        </p:nvSpPr>
        <p:spPr>
          <a:xfrm>
            <a:off x="0" y="6356351"/>
            <a:ext cx="2057400" cy="365125"/>
          </a:xfrm>
        </p:spPr>
        <p:txBody>
          <a:bodyPr/>
          <a:lstStyle/>
          <a:p>
            <a:pPr algn="l"/>
            <a:fld id="{F406CD6C-EFBE-497B-B02F-71827CD8C8E4}" type="slidenum">
              <a:rPr lang="he-IL" smtClean="0"/>
              <a:pPr algn="l"/>
              <a:t>15</a:t>
            </a:fld>
            <a:endParaRPr lang="he-IL" dirty="0"/>
          </a:p>
        </p:txBody>
      </p:sp>
      <p:pic>
        <p:nvPicPr>
          <p:cNvPr id="4" name="תמונה 3">
            <a:extLst>
              <a:ext uri="{FF2B5EF4-FFF2-40B4-BE49-F238E27FC236}">
                <a16:creationId xmlns:a16="http://schemas.microsoft.com/office/drawing/2014/main" id="{D138F42F-34D0-4F59-83BC-8C7621271E1A}"/>
              </a:ext>
            </a:extLst>
          </p:cNvPr>
          <p:cNvPicPr>
            <a:picLocks noChangeAspect="1"/>
          </p:cNvPicPr>
          <p:nvPr/>
        </p:nvPicPr>
        <p:blipFill>
          <a:blip r:embed="rId2"/>
          <a:stretch>
            <a:fillRect/>
          </a:stretch>
        </p:blipFill>
        <p:spPr>
          <a:xfrm>
            <a:off x="8165794" y="-15497"/>
            <a:ext cx="978206" cy="782664"/>
          </a:xfrm>
          <a:prstGeom prst="rect">
            <a:avLst/>
          </a:prstGeom>
        </p:spPr>
      </p:pic>
      <p:pic>
        <p:nvPicPr>
          <p:cNvPr id="5" name="תמונה 4">
            <a:extLst>
              <a:ext uri="{FF2B5EF4-FFF2-40B4-BE49-F238E27FC236}">
                <a16:creationId xmlns:a16="http://schemas.microsoft.com/office/drawing/2014/main" id="{2BCB7082-C834-4B51-983C-5AF16B9E9B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6" name="TextBox 5">
            <a:extLst>
              <a:ext uri="{FF2B5EF4-FFF2-40B4-BE49-F238E27FC236}">
                <a16:creationId xmlns:a16="http://schemas.microsoft.com/office/drawing/2014/main" id="{36EAC956-9703-4A33-B11F-E96A2F708499}"/>
              </a:ext>
            </a:extLst>
          </p:cNvPr>
          <p:cNvSpPr txBox="1">
            <a:spLocks noChangeArrowheads="1"/>
          </p:cNvSpPr>
          <p:nvPr/>
        </p:nvSpPr>
        <p:spPr bwMode="auto">
          <a:xfrm>
            <a:off x="1978096" y="136524"/>
            <a:ext cx="5715000" cy="461665"/>
          </a:xfrm>
          <a:prstGeom prst="rect">
            <a:avLst/>
          </a:prstGeom>
          <a:noFill/>
          <a:ln w="9525">
            <a:noFill/>
            <a:miter lim="800000"/>
            <a:headEnd/>
            <a:tailEnd/>
          </a:ln>
        </p:spPr>
        <p:txBody>
          <a:bodyPr>
            <a:spAutoFit/>
          </a:bodyPr>
          <a:lstStyle>
            <a:defPPr>
              <a:defRPr lang="he-IL"/>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57200" algn="r" rtl="1" fontAlgn="base">
              <a:spcBef>
                <a:spcPct val="0"/>
              </a:spcBef>
              <a:spcAft>
                <a:spcPct val="0"/>
              </a:spcAft>
              <a:defRPr kern="1200">
                <a:solidFill>
                  <a:schemeClr val="tx1"/>
                </a:solidFill>
                <a:latin typeface="Arial" pitchFamily="34" charset="0"/>
                <a:ea typeface="+mn-ea"/>
                <a:cs typeface="Arial" pitchFamily="34" charset="0"/>
              </a:defRPr>
            </a:lvl2pPr>
            <a:lvl3pPr marL="914400" algn="r" rtl="1" fontAlgn="base">
              <a:spcBef>
                <a:spcPct val="0"/>
              </a:spcBef>
              <a:spcAft>
                <a:spcPct val="0"/>
              </a:spcAft>
              <a:defRPr kern="1200">
                <a:solidFill>
                  <a:schemeClr val="tx1"/>
                </a:solidFill>
                <a:latin typeface="Arial" pitchFamily="34" charset="0"/>
                <a:ea typeface="+mn-ea"/>
                <a:cs typeface="Arial" pitchFamily="34" charset="0"/>
              </a:defRPr>
            </a:lvl3pPr>
            <a:lvl4pPr marL="1371600" algn="r" rtl="1" fontAlgn="base">
              <a:spcBef>
                <a:spcPct val="0"/>
              </a:spcBef>
              <a:spcAft>
                <a:spcPct val="0"/>
              </a:spcAft>
              <a:defRPr kern="1200">
                <a:solidFill>
                  <a:schemeClr val="tx1"/>
                </a:solidFill>
                <a:latin typeface="Arial" pitchFamily="34" charset="0"/>
                <a:ea typeface="+mn-ea"/>
                <a:cs typeface="Arial" pitchFamily="34" charset="0"/>
              </a:defRPr>
            </a:lvl4pPr>
            <a:lvl5pPr marL="1828800" algn="r" rtl="1" fontAlgn="base">
              <a:spcBef>
                <a:spcPct val="0"/>
              </a:spcBef>
              <a:spcAft>
                <a:spcPct val="0"/>
              </a:spcAft>
              <a:defRPr kern="1200">
                <a:solidFill>
                  <a:schemeClr val="tx1"/>
                </a:solidFill>
                <a:latin typeface="Arial" pitchFamily="34" charset="0"/>
                <a:ea typeface="+mn-ea"/>
                <a:cs typeface="Arial" pitchFamily="34" charset="0"/>
              </a:defRPr>
            </a:lvl5pPr>
            <a:lvl6pPr marL="2286000" algn="r" defTabSz="914400" rtl="1" eaLnBrk="1" latinLnBrk="0" hangingPunct="1">
              <a:defRPr kern="1200">
                <a:solidFill>
                  <a:schemeClr val="tx1"/>
                </a:solidFill>
                <a:latin typeface="Arial" pitchFamily="34" charset="0"/>
                <a:ea typeface="+mn-ea"/>
                <a:cs typeface="Arial" pitchFamily="34" charset="0"/>
              </a:defRPr>
            </a:lvl6pPr>
            <a:lvl7pPr marL="2743200" algn="r" defTabSz="914400" rtl="1" eaLnBrk="1" latinLnBrk="0" hangingPunct="1">
              <a:defRPr kern="1200">
                <a:solidFill>
                  <a:schemeClr val="tx1"/>
                </a:solidFill>
                <a:latin typeface="Arial" pitchFamily="34" charset="0"/>
                <a:ea typeface="+mn-ea"/>
                <a:cs typeface="Arial" pitchFamily="34" charset="0"/>
              </a:defRPr>
            </a:lvl7pPr>
            <a:lvl8pPr marL="3200400" algn="r" defTabSz="914400" rtl="1" eaLnBrk="1" latinLnBrk="0" hangingPunct="1">
              <a:defRPr kern="1200">
                <a:solidFill>
                  <a:schemeClr val="tx1"/>
                </a:solidFill>
                <a:latin typeface="Arial" pitchFamily="34" charset="0"/>
                <a:ea typeface="+mn-ea"/>
                <a:cs typeface="Arial" pitchFamily="34" charset="0"/>
              </a:defRPr>
            </a:lvl8pPr>
            <a:lvl9pPr marL="3657600" algn="r" defTabSz="914400" rtl="1" eaLnBrk="1" latinLnBrk="0" hangingPunct="1">
              <a:defRPr kern="1200">
                <a:solidFill>
                  <a:schemeClr val="tx1"/>
                </a:solidFill>
                <a:latin typeface="Arial" pitchFamily="34" charset="0"/>
                <a:ea typeface="+mn-ea"/>
                <a:cs typeface="Arial" pitchFamily="34" charset="0"/>
              </a:defRPr>
            </a:lvl9pPr>
          </a:lstStyle>
          <a:p>
            <a:pPr algn="ctr"/>
            <a:r>
              <a:rPr lang="he-IL" sz="2400" b="1" u="sng" dirty="0">
                <a:latin typeface="Calibri" pitchFamily="34" charset="0"/>
              </a:rPr>
              <a:t>תרשים על  </a:t>
            </a:r>
            <a:r>
              <a:rPr lang="en-US" sz="2400" b="1" u="sng" dirty="0">
                <a:latin typeface="Calibri" pitchFamily="34" charset="0"/>
              </a:rPr>
              <a:t>USE CASE</a:t>
            </a:r>
            <a:r>
              <a:rPr lang="he-IL" sz="2400" b="1" u="sng" dirty="0">
                <a:latin typeface="Calibri" pitchFamily="34" charset="0"/>
              </a:rPr>
              <a:t>- מצב מוצע</a:t>
            </a:r>
          </a:p>
        </p:txBody>
      </p:sp>
      <p:sp>
        <p:nvSpPr>
          <p:cNvPr id="8" name="תיבת טקסט 7">
            <a:extLst>
              <a:ext uri="{FF2B5EF4-FFF2-40B4-BE49-F238E27FC236}">
                <a16:creationId xmlns:a16="http://schemas.microsoft.com/office/drawing/2014/main" id="{C79E2B94-30AF-6768-1050-89F1805CDBAC}"/>
              </a:ext>
            </a:extLst>
          </p:cNvPr>
          <p:cNvSpPr txBox="1"/>
          <p:nvPr/>
        </p:nvSpPr>
        <p:spPr>
          <a:xfrm>
            <a:off x="5247173" y="23058"/>
            <a:ext cx="711344" cy="253916"/>
          </a:xfrm>
          <a:prstGeom prst="rect">
            <a:avLst/>
          </a:prstGeom>
          <a:noFill/>
        </p:spPr>
        <p:txBody>
          <a:bodyPr wrap="square" rtlCol="1">
            <a:spAutoFit/>
          </a:bodyPr>
          <a:lstStyle/>
          <a:p>
            <a:r>
              <a:rPr lang="en-US" sz="1050" b="1" dirty="0"/>
              <a:t>9,10,11</a:t>
            </a:r>
            <a:endParaRPr lang="he-IL" sz="1050" b="1" dirty="0"/>
          </a:p>
        </p:txBody>
      </p:sp>
      <p:sp>
        <p:nvSpPr>
          <p:cNvPr id="9" name="תיבת טקסט 8">
            <a:extLst>
              <a:ext uri="{FF2B5EF4-FFF2-40B4-BE49-F238E27FC236}">
                <a16:creationId xmlns:a16="http://schemas.microsoft.com/office/drawing/2014/main" id="{F4ADCF92-9DF7-FDA4-87D8-550336B0BC1D}"/>
              </a:ext>
            </a:extLst>
          </p:cNvPr>
          <p:cNvSpPr txBox="1"/>
          <p:nvPr/>
        </p:nvSpPr>
        <p:spPr>
          <a:xfrm>
            <a:off x="3194186" y="6119336"/>
            <a:ext cx="5841727" cy="738664"/>
          </a:xfrm>
          <a:prstGeom prst="rect">
            <a:avLst/>
          </a:prstGeom>
          <a:noFill/>
        </p:spPr>
        <p:txBody>
          <a:bodyPr wrap="none" rtlCol="1">
            <a:spAutoFit/>
          </a:bodyPr>
          <a:lstStyle/>
          <a:p>
            <a:pPr algn="r" rtl="1"/>
            <a:r>
              <a:rPr lang="en-US" sz="1050" dirty="0">
                <a:solidFill>
                  <a:schemeClr val="bg1">
                    <a:lumMod val="50000"/>
                  </a:schemeClr>
                </a:solidFill>
                <a:latin typeface="Arial" panose="020B0604020202020204" pitchFamily="34" charset="0"/>
                <a:cs typeface="Arial" panose="020B0604020202020204" pitchFamily="34" charset="0"/>
              </a:rPr>
              <a:t>9. Stories into UML Use </a:t>
            </a:r>
            <a:r>
              <a:rPr lang="en-US" sz="1050" dirty="0" err="1">
                <a:solidFill>
                  <a:schemeClr val="bg1">
                    <a:lumMod val="50000"/>
                  </a:schemeClr>
                </a:solidFill>
                <a:latin typeface="Arial" panose="020B0604020202020204" pitchFamily="34" charset="0"/>
                <a:cs typeface="Arial" panose="020B0604020202020204" pitchFamily="34" charset="0"/>
              </a:rPr>
              <a:t>CaseDiagrams</a:t>
            </a:r>
            <a:r>
              <a:rPr lang="en-US" sz="1050" dirty="0">
                <a:solidFill>
                  <a:schemeClr val="bg1">
                    <a:lumMod val="50000"/>
                  </a:schemeClr>
                </a:solidFill>
                <a:latin typeface="Arial" panose="020B0604020202020204" pitchFamily="34" charset="0"/>
                <a:cs typeface="Arial" panose="020B0604020202020204" pitchFamily="34" charset="0"/>
              </a:rPr>
              <a:t> using NLP Techniques. Procedia Computer Science</a:t>
            </a:r>
            <a:endParaRPr lang="he-IL" sz="1050" dirty="0">
              <a:solidFill>
                <a:schemeClr val="bg1">
                  <a:lumMod val="50000"/>
                </a:schemeClr>
              </a:solidFill>
              <a:latin typeface="Arial" panose="020B0604020202020204" pitchFamily="34" charset="0"/>
            </a:endParaRPr>
          </a:p>
          <a:p>
            <a:pPr algn="r" rtl="1"/>
            <a:r>
              <a:rPr lang="he-IL" sz="1050" dirty="0">
                <a:solidFill>
                  <a:schemeClr val="bg1">
                    <a:lumMod val="50000"/>
                  </a:schemeClr>
                </a:solidFill>
                <a:latin typeface="Arial" panose="020B0604020202020204" pitchFamily="34" charset="0"/>
                <a:cs typeface="Arial" panose="020B0604020202020204" pitchFamily="34" charset="0"/>
              </a:rPr>
              <a:t>10.שובל, פ. (2017) </a:t>
            </a:r>
          </a:p>
          <a:p>
            <a:pPr algn="r" rtl="1"/>
            <a:r>
              <a:rPr lang="he-IL" sz="1050" dirty="0">
                <a:solidFill>
                  <a:schemeClr val="bg1">
                    <a:lumMod val="50000"/>
                  </a:schemeClr>
                </a:solidFill>
                <a:latin typeface="Arial" panose="020B0604020202020204" pitchFamily="34" charset="0"/>
                <a:cs typeface="Arial" panose="020B0604020202020204" pitchFamily="34" charset="0"/>
              </a:rPr>
              <a:t>11.שרגא, ש. , </a:t>
            </a:r>
            <a:r>
              <a:rPr lang="he-IL" sz="1050" dirty="0" err="1">
                <a:solidFill>
                  <a:schemeClr val="bg1">
                    <a:lumMod val="50000"/>
                  </a:schemeClr>
                </a:solidFill>
                <a:latin typeface="Arial" panose="020B0604020202020204" pitchFamily="34" charset="0"/>
                <a:cs typeface="Arial" panose="020B0604020202020204" pitchFamily="34" charset="0"/>
              </a:rPr>
              <a:t>רובינוביץ</a:t>
            </a:r>
            <a:r>
              <a:rPr lang="he-IL" sz="1050" dirty="0">
                <a:solidFill>
                  <a:schemeClr val="bg1">
                    <a:lumMod val="50000"/>
                  </a:schemeClr>
                </a:solidFill>
                <a:latin typeface="Arial" panose="020B0604020202020204" pitchFamily="34" charset="0"/>
                <a:cs typeface="Arial" panose="020B0604020202020204" pitchFamily="34" charset="0"/>
              </a:rPr>
              <a:t>, י. (2012)</a:t>
            </a:r>
            <a:endParaRPr lang="he-IL" sz="1050" b="1" u="sng" dirty="0">
              <a:solidFill>
                <a:schemeClr val="bg1">
                  <a:lumMod val="50000"/>
                </a:schemeClr>
              </a:solidFill>
              <a:latin typeface="Arial" panose="020B0604020202020204" pitchFamily="34" charset="0"/>
              <a:cs typeface="Arial" panose="020B0604020202020204" pitchFamily="34" charset="0"/>
            </a:endParaRPr>
          </a:p>
          <a:p>
            <a:pPr algn="r" rtl="1"/>
            <a:endParaRPr lang="he-IL" sz="1050" dirty="0">
              <a:solidFill>
                <a:schemeClr val="bg1">
                  <a:lumMod val="50000"/>
                </a:schemeClr>
              </a:solidFill>
              <a:highlight>
                <a:srgbClr val="FFFF00"/>
              </a:highlight>
            </a:endParaRPr>
          </a:p>
        </p:txBody>
      </p:sp>
      <p:pic>
        <p:nvPicPr>
          <p:cNvPr id="12" name="תמונה 11">
            <a:extLst>
              <a:ext uri="{FF2B5EF4-FFF2-40B4-BE49-F238E27FC236}">
                <a16:creationId xmlns:a16="http://schemas.microsoft.com/office/drawing/2014/main" id="{D5853FD1-A11F-4138-8FAA-DA6C3405C5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3895" y="598189"/>
            <a:ext cx="8642018" cy="5521147"/>
          </a:xfrm>
          <a:prstGeom prst="rect">
            <a:avLst/>
          </a:prstGeom>
        </p:spPr>
      </p:pic>
      <p:sp>
        <p:nvSpPr>
          <p:cNvPr id="7" name="תיבת טקסט 6">
            <a:extLst>
              <a:ext uri="{FF2B5EF4-FFF2-40B4-BE49-F238E27FC236}">
                <a16:creationId xmlns:a16="http://schemas.microsoft.com/office/drawing/2014/main" id="{E8931D60-01DC-DCD8-1CEB-63EAB7786FCF}"/>
              </a:ext>
            </a:extLst>
          </p:cNvPr>
          <p:cNvSpPr txBox="1"/>
          <p:nvPr/>
        </p:nvSpPr>
        <p:spPr>
          <a:xfrm>
            <a:off x="8384774" y="4572000"/>
            <a:ext cx="651139" cy="461665"/>
          </a:xfrm>
          <a:prstGeom prst="rect">
            <a:avLst/>
          </a:prstGeom>
          <a:solidFill>
            <a:schemeClr val="bg1"/>
          </a:solidFill>
        </p:spPr>
        <p:txBody>
          <a:bodyPr wrap="none" rtlCol="1">
            <a:spAutoFit/>
          </a:bodyPr>
          <a:lstStyle/>
          <a:p>
            <a:pPr algn="ctr" rtl="1"/>
            <a:r>
              <a:rPr lang="he-IL" sz="1200" b="1" dirty="0"/>
              <a:t>מומחה </a:t>
            </a:r>
          </a:p>
          <a:p>
            <a:pPr algn="ctr" rtl="1"/>
            <a:r>
              <a:rPr lang="he-IL" sz="1200" b="1" dirty="0"/>
              <a:t>תוכן</a:t>
            </a:r>
          </a:p>
        </p:txBody>
      </p:sp>
    </p:spTree>
    <p:extLst>
      <p:ext uri="{BB962C8B-B14F-4D97-AF65-F5344CB8AC3E}">
        <p14:creationId xmlns:p14="http://schemas.microsoft.com/office/powerpoint/2010/main" val="1442252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כותרת תחתונה 1">
            <a:extLst>
              <a:ext uri="{FF2B5EF4-FFF2-40B4-BE49-F238E27FC236}">
                <a16:creationId xmlns:a16="http://schemas.microsoft.com/office/drawing/2014/main" id="{08F93685-BEF2-4527-ACE0-624F449E997A}"/>
              </a:ext>
            </a:extLst>
          </p:cNvPr>
          <p:cNvSpPr>
            <a:spLocks noGrp="1"/>
          </p:cNvSpPr>
          <p:nvPr>
            <p:ph type="ftr" sz="quarter" idx="11"/>
          </p:nvPr>
        </p:nvSpPr>
        <p:spPr/>
        <p:txBody>
          <a:bodyPr/>
          <a:lstStyle/>
          <a:p>
            <a:r>
              <a:rPr lang="he-IL" b="1" dirty="0">
                <a:solidFill>
                  <a:schemeClr val="tx1"/>
                </a:solidFill>
              </a:rPr>
              <a:t>אתר אינטרנט לאימהות חדשות במגזר הבדואי                      </a:t>
            </a:r>
            <a:r>
              <a:rPr lang="en-US" b="1" dirty="0">
                <a:solidFill>
                  <a:schemeClr val="tx1"/>
                </a:solidFill>
              </a:rPr>
              <a:t>Navon-13-2024-sem2</a:t>
            </a:r>
            <a:endParaRPr lang="he-IL" b="1" dirty="0">
              <a:solidFill>
                <a:schemeClr val="tx1"/>
              </a:solidFill>
            </a:endParaRPr>
          </a:p>
        </p:txBody>
      </p:sp>
      <p:sp>
        <p:nvSpPr>
          <p:cNvPr id="3" name="מציין מיקום של מספר שקופית 2">
            <a:extLst>
              <a:ext uri="{FF2B5EF4-FFF2-40B4-BE49-F238E27FC236}">
                <a16:creationId xmlns:a16="http://schemas.microsoft.com/office/drawing/2014/main" id="{7E768EC0-8B3B-4643-A992-DB188316EDEF}"/>
              </a:ext>
            </a:extLst>
          </p:cNvPr>
          <p:cNvSpPr>
            <a:spLocks noGrp="1"/>
          </p:cNvSpPr>
          <p:nvPr>
            <p:ph type="sldNum" sz="quarter" idx="12"/>
          </p:nvPr>
        </p:nvSpPr>
        <p:spPr>
          <a:xfrm>
            <a:off x="0" y="6356351"/>
            <a:ext cx="2057400" cy="365125"/>
          </a:xfrm>
        </p:spPr>
        <p:txBody>
          <a:bodyPr/>
          <a:lstStyle/>
          <a:p>
            <a:pPr algn="l" rtl="1"/>
            <a:fld id="{F406CD6C-EFBE-497B-B02F-71827CD8C8E4}" type="slidenum">
              <a:rPr lang="he-IL" smtClean="0"/>
              <a:pPr algn="l" rtl="1"/>
              <a:t>16</a:t>
            </a:fld>
            <a:endParaRPr lang="he-IL" dirty="0"/>
          </a:p>
        </p:txBody>
      </p:sp>
      <p:sp>
        <p:nvSpPr>
          <p:cNvPr id="4" name="TextBox 5">
            <a:extLst>
              <a:ext uri="{FF2B5EF4-FFF2-40B4-BE49-F238E27FC236}">
                <a16:creationId xmlns:a16="http://schemas.microsoft.com/office/drawing/2014/main" id="{600F8BDE-49C4-4F1F-BDF7-F82EBDB90FE3}"/>
              </a:ext>
            </a:extLst>
          </p:cNvPr>
          <p:cNvSpPr txBox="1">
            <a:spLocks noChangeArrowheads="1"/>
          </p:cNvSpPr>
          <p:nvPr/>
        </p:nvSpPr>
        <p:spPr bwMode="auto">
          <a:xfrm>
            <a:off x="1904413" y="116851"/>
            <a:ext cx="5715000" cy="461665"/>
          </a:xfrm>
          <a:prstGeom prst="rect">
            <a:avLst/>
          </a:prstGeom>
          <a:noFill/>
          <a:ln w="9525">
            <a:noFill/>
            <a:miter lim="800000"/>
            <a:headEnd/>
            <a:tailEnd/>
          </a:ln>
        </p:spPr>
        <p:txBody>
          <a:bodyPr>
            <a:spAutoFit/>
          </a:bodyPr>
          <a:lstStyle>
            <a:defPPr>
              <a:defRPr lang="he-IL"/>
            </a:defPPr>
            <a:lvl1pPr algn="r" rtl="1" fontAlgn="base">
              <a:spcBef>
                <a:spcPct val="0"/>
              </a:spcBef>
              <a:spcAft>
                <a:spcPct val="0"/>
              </a:spcAft>
              <a:defRPr kern="1200">
                <a:solidFill>
                  <a:schemeClr val="tx1"/>
                </a:solidFill>
                <a:latin typeface="Arial" pitchFamily="34" charset="0"/>
                <a:ea typeface="+mn-ea"/>
                <a:cs typeface="Arial" pitchFamily="34" charset="0"/>
              </a:defRPr>
            </a:lvl1pPr>
            <a:lvl2pPr marL="457200" algn="r" rtl="1" fontAlgn="base">
              <a:spcBef>
                <a:spcPct val="0"/>
              </a:spcBef>
              <a:spcAft>
                <a:spcPct val="0"/>
              </a:spcAft>
              <a:defRPr kern="1200">
                <a:solidFill>
                  <a:schemeClr val="tx1"/>
                </a:solidFill>
                <a:latin typeface="Arial" pitchFamily="34" charset="0"/>
                <a:ea typeface="+mn-ea"/>
                <a:cs typeface="Arial" pitchFamily="34" charset="0"/>
              </a:defRPr>
            </a:lvl2pPr>
            <a:lvl3pPr marL="914400" algn="r" rtl="1" fontAlgn="base">
              <a:spcBef>
                <a:spcPct val="0"/>
              </a:spcBef>
              <a:spcAft>
                <a:spcPct val="0"/>
              </a:spcAft>
              <a:defRPr kern="1200">
                <a:solidFill>
                  <a:schemeClr val="tx1"/>
                </a:solidFill>
                <a:latin typeface="Arial" pitchFamily="34" charset="0"/>
                <a:ea typeface="+mn-ea"/>
                <a:cs typeface="Arial" pitchFamily="34" charset="0"/>
              </a:defRPr>
            </a:lvl3pPr>
            <a:lvl4pPr marL="1371600" algn="r" rtl="1" fontAlgn="base">
              <a:spcBef>
                <a:spcPct val="0"/>
              </a:spcBef>
              <a:spcAft>
                <a:spcPct val="0"/>
              </a:spcAft>
              <a:defRPr kern="1200">
                <a:solidFill>
                  <a:schemeClr val="tx1"/>
                </a:solidFill>
                <a:latin typeface="Arial" pitchFamily="34" charset="0"/>
                <a:ea typeface="+mn-ea"/>
                <a:cs typeface="Arial" pitchFamily="34" charset="0"/>
              </a:defRPr>
            </a:lvl4pPr>
            <a:lvl5pPr marL="1828800" algn="r" rtl="1" fontAlgn="base">
              <a:spcBef>
                <a:spcPct val="0"/>
              </a:spcBef>
              <a:spcAft>
                <a:spcPct val="0"/>
              </a:spcAft>
              <a:defRPr kern="1200">
                <a:solidFill>
                  <a:schemeClr val="tx1"/>
                </a:solidFill>
                <a:latin typeface="Arial" pitchFamily="34" charset="0"/>
                <a:ea typeface="+mn-ea"/>
                <a:cs typeface="Arial" pitchFamily="34" charset="0"/>
              </a:defRPr>
            </a:lvl5pPr>
            <a:lvl6pPr marL="2286000" algn="r" defTabSz="914400" rtl="1" eaLnBrk="1" latinLnBrk="0" hangingPunct="1">
              <a:defRPr kern="1200">
                <a:solidFill>
                  <a:schemeClr val="tx1"/>
                </a:solidFill>
                <a:latin typeface="Arial" pitchFamily="34" charset="0"/>
                <a:ea typeface="+mn-ea"/>
                <a:cs typeface="Arial" pitchFamily="34" charset="0"/>
              </a:defRPr>
            </a:lvl6pPr>
            <a:lvl7pPr marL="2743200" algn="r" defTabSz="914400" rtl="1" eaLnBrk="1" latinLnBrk="0" hangingPunct="1">
              <a:defRPr kern="1200">
                <a:solidFill>
                  <a:schemeClr val="tx1"/>
                </a:solidFill>
                <a:latin typeface="Arial" pitchFamily="34" charset="0"/>
                <a:ea typeface="+mn-ea"/>
                <a:cs typeface="Arial" pitchFamily="34" charset="0"/>
              </a:defRPr>
            </a:lvl7pPr>
            <a:lvl8pPr marL="3200400" algn="r" defTabSz="914400" rtl="1" eaLnBrk="1" latinLnBrk="0" hangingPunct="1">
              <a:defRPr kern="1200">
                <a:solidFill>
                  <a:schemeClr val="tx1"/>
                </a:solidFill>
                <a:latin typeface="Arial" pitchFamily="34" charset="0"/>
                <a:ea typeface="+mn-ea"/>
                <a:cs typeface="Arial" pitchFamily="34" charset="0"/>
              </a:defRPr>
            </a:lvl8pPr>
            <a:lvl9pPr marL="3657600" algn="r" defTabSz="914400" rtl="1" eaLnBrk="1" latinLnBrk="0" hangingPunct="1">
              <a:defRPr kern="1200">
                <a:solidFill>
                  <a:schemeClr val="tx1"/>
                </a:solidFill>
                <a:latin typeface="Arial" pitchFamily="34" charset="0"/>
                <a:ea typeface="+mn-ea"/>
                <a:cs typeface="Arial" pitchFamily="34" charset="0"/>
              </a:defRPr>
            </a:lvl9pPr>
          </a:lstStyle>
          <a:p>
            <a:pPr algn="ctr"/>
            <a:r>
              <a:rPr lang="he-IL" sz="2400" b="1" u="sng" dirty="0">
                <a:latin typeface="Calibri" pitchFamily="34" charset="0"/>
              </a:rPr>
              <a:t>חקר ישימות- תיאור חלופות</a:t>
            </a:r>
          </a:p>
        </p:txBody>
      </p:sp>
      <p:graphicFrame>
        <p:nvGraphicFramePr>
          <p:cNvPr id="5" name="טבלה 4">
            <a:extLst>
              <a:ext uri="{FF2B5EF4-FFF2-40B4-BE49-F238E27FC236}">
                <a16:creationId xmlns:a16="http://schemas.microsoft.com/office/drawing/2014/main" id="{9346E866-1C75-467E-8E0F-2EDBB0564523}"/>
              </a:ext>
            </a:extLst>
          </p:cNvPr>
          <p:cNvGraphicFramePr>
            <a:graphicFrameLocks noGrp="1"/>
          </p:cNvGraphicFramePr>
          <p:nvPr>
            <p:extLst>
              <p:ext uri="{D42A27DB-BD31-4B8C-83A1-F6EECF244321}">
                <p14:modId xmlns:p14="http://schemas.microsoft.com/office/powerpoint/2010/main" val="3678920281"/>
              </p:ext>
            </p:extLst>
          </p:nvPr>
        </p:nvGraphicFramePr>
        <p:xfrm>
          <a:off x="0" y="848050"/>
          <a:ext cx="9132897" cy="4911995"/>
        </p:xfrm>
        <a:graphic>
          <a:graphicData uri="http://schemas.openxmlformats.org/drawingml/2006/table">
            <a:tbl>
              <a:tblPr rtl="1" firstRow="1" bandRow="1">
                <a:tableStyleId>{5C22544A-7EE6-4342-B048-85BDC9FD1C3A}</a:tableStyleId>
              </a:tblPr>
              <a:tblGrid>
                <a:gridCol w="1759058">
                  <a:extLst>
                    <a:ext uri="{9D8B030D-6E8A-4147-A177-3AD203B41FA5}">
                      <a16:colId xmlns:a16="http://schemas.microsoft.com/office/drawing/2014/main" val="71426873"/>
                    </a:ext>
                  </a:extLst>
                </a:gridCol>
                <a:gridCol w="2694233">
                  <a:extLst>
                    <a:ext uri="{9D8B030D-6E8A-4147-A177-3AD203B41FA5}">
                      <a16:colId xmlns:a16="http://schemas.microsoft.com/office/drawing/2014/main" val="431819426"/>
                    </a:ext>
                  </a:extLst>
                </a:gridCol>
                <a:gridCol w="2828720">
                  <a:extLst>
                    <a:ext uri="{9D8B030D-6E8A-4147-A177-3AD203B41FA5}">
                      <a16:colId xmlns:a16="http://schemas.microsoft.com/office/drawing/2014/main" val="1856563751"/>
                    </a:ext>
                  </a:extLst>
                </a:gridCol>
                <a:gridCol w="1850886">
                  <a:extLst>
                    <a:ext uri="{9D8B030D-6E8A-4147-A177-3AD203B41FA5}">
                      <a16:colId xmlns:a16="http://schemas.microsoft.com/office/drawing/2014/main" val="229718485"/>
                    </a:ext>
                  </a:extLst>
                </a:gridCol>
              </a:tblGrid>
              <a:tr h="605175">
                <a:tc>
                  <a:txBody>
                    <a:bodyPr/>
                    <a:lstStyle/>
                    <a:p>
                      <a:pPr rtl="1"/>
                      <a:r>
                        <a:rPr lang="he-IL" sz="1400" b="1" dirty="0"/>
                        <a:t>קריטריונים</a:t>
                      </a:r>
                    </a:p>
                  </a:txBody>
                  <a:tcPr/>
                </a:tc>
                <a:tc>
                  <a:txBody>
                    <a:bodyPr/>
                    <a:lstStyle/>
                    <a:p>
                      <a:pPr algn="ctr" rtl="1"/>
                      <a:r>
                        <a:rPr lang="he-IL" sz="1400" b="1" dirty="0"/>
                        <a:t>חלופה 1</a:t>
                      </a:r>
                    </a:p>
                    <a:p>
                      <a:pPr algn="ctr" rtl="1"/>
                      <a:r>
                        <a:rPr lang="he-IL" sz="1400" b="1" dirty="0"/>
                        <a:t> </a:t>
                      </a:r>
                      <a:r>
                        <a:rPr lang="en-US" sz="1400" b="1" dirty="0"/>
                        <a:t>SITE123</a:t>
                      </a:r>
                      <a:endParaRPr lang="he-IL" sz="1400" b="1" dirty="0"/>
                    </a:p>
                  </a:txBody>
                  <a:tcPr/>
                </a:tc>
                <a:tc>
                  <a:txBody>
                    <a:bodyPr/>
                    <a:lstStyle/>
                    <a:p>
                      <a:pPr algn="ctr" rtl="1"/>
                      <a:r>
                        <a:rPr lang="he-IL" sz="1400" b="1" dirty="0"/>
                        <a:t>חלופה 2</a:t>
                      </a:r>
                      <a:endParaRPr lang="en-US" sz="1400" b="1" dirty="0"/>
                    </a:p>
                    <a:p>
                      <a:pPr algn="ctr" rtl="1"/>
                      <a:r>
                        <a:rPr lang="en-US" sz="1400" b="1" dirty="0"/>
                        <a:t>WIX</a:t>
                      </a:r>
                      <a:endParaRPr lang="he-IL" sz="1400" b="1" dirty="0"/>
                    </a:p>
                  </a:txBody>
                  <a:tcPr/>
                </a:tc>
                <a:tc>
                  <a:txBody>
                    <a:bodyPr/>
                    <a:lstStyle/>
                    <a:p>
                      <a:pPr algn="ctr" rtl="1"/>
                      <a:r>
                        <a:rPr lang="he-IL" sz="1400" b="1" dirty="0"/>
                        <a:t>חלופה 3</a:t>
                      </a:r>
                    </a:p>
                    <a:p>
                      <a:pPr algn="ctr" rtl="1"/>
                      <a:r>
                        <a:rPr lang="en-US" sz="1400" b="1" dirty="0"/>
                        <a:t>Google</a:t>
                      </a:r>
                      <a:endParaRPr lang="he-IL" sz="1400" b="1" dirty="0"/>
                    </a:p>
                  </a:txBody>
                  <a:tcPr/>
                </a:tc>
                <a:extLst>
                  <a:ext uri="{0D108BD9-81ED-4DB2-BD59-A6C34878D82A}">
                    <a16:rowId xmlns:a16="http://schemas.microsoft.com/office/drawing/2014/main" val="3492365514"/>
                  </a:ext>
                </a:extLst>
              </a:tr>
              <a:tr h="2349504">
                <a:tc>
                  <a:txBody>
                    <a:bodyPr/>
                    <a:lstStyle/>
                    <a:p>
                      <a:pPr rtl="1"/>
                      <a:r>
                        <a:rPr lang="he-IL" sz="1400" b="1" dirty="0"/>
                        <a:t>תיאור הכלי</a:t>
                      </a:r>
                    </a:p>
                  </a:txBody>
                  <a:tcPr/>
                </a:tc>
                <a:tc>
                  <a:txBody>
                    <a:bodyPr/>
                    <a:lstStyle/>
                    <a:p>
                      <a:pPr marL="285750" indent="-285750" rtl="1">
                        <a:buFont typeface="Arial" panose="020B0604020202020204" pitchFamily="34" charset="0"/>
                        <a:buChar char="•"/>
                      </a:pPr>
                      <a:r>
                        <a:rPr lang="he-IL" sz="1400" dirty="0"/>
                        <a:t>אתר אינטרנט לבניית אתרים בחינם </a:t>
                      </a:r>
                    </a:p>
                    <a:p>
                      <a:pPr marL="285750" indent="-285750" rtl="1">
                        <a:buFont typeface="Arial" panose="020B0604020202020204" pitchFamily="34" charset="0"/>
                        <a:buChar char="•"/>
                      </a:pPr>
                      <a:r>
                        <a:rPr lang="he-IL" sz="1400" dirty="0"/>
                        <a:t>תואם לנייד </a:t>
                      </a:r>
                    </a:p>
                    <a:p>
                      <a:pPr marL="285750" indent="-285750" rtl="1">
                        <a:buFont typeface="Arial" panose="020B0604020202020204" pitchFamily="34" charset="0"/>
                        <a:buChar char="•"/>
                      </a:pPr>
                      <a:r>
                        <a:rPr lang="he-IL" sz="1400" dirty="0"/>
                        <a:t>מספק כלים מתקדמים של שילוב רשתות חברתיות</a:t>
                      </a:r>
                    </a:p>
                    <a:p>
                      <a:pPr marL="285750" indent="-285750" rtl="1">
                        <a:buFont typeface="Arial" panose="020B0604020202020204" pitchFamily="34" charset="0"/>
                        <a:buChar char="•"/>
                      </a:pPr>
                      <a:r>
                        <a:rPr lang="he-IL" sz="1400" dirty="0"/>
                        <a:t>תוספים של גורמים שלישיים</a:t>
                      </a:r>
                    </a:p>
                    <a:p>
                      <a:pPr marL="285750" indent="-285750" rtl="1">
                        <a:buFont typeface="Arial" panose="020B0604020202020204" pitchFamily="34" charset="0"/>
                        <a:buChar char="•"/>
                      </a:pPr>
                      <a:r>
                        <a:rPr lang="he-IL" sz="1400" dirty="0"/>
                        <a:t>הגנת סיסמה לאתר </a:t>
                      </a:r>
                    </a:p>
                    <a:p>
                      <a:pPr marL="285750" indent="-285750" rtl="1">
                        <a:buFont typeface="Arial" panose="020B0604020202020204" pitchFamily="34" charset="0"/>
                        <a:buChar char="•"/>
                      </a:pPr>
                      <a:r>
                        <a:rPr lang="he-IL" sz="1400" dirty="0"/>
                        <a:t>עיצוב אתרים גמיש</a:t>
                      </a:r>
                    </a:p>
                  </a:txBody>
                  <a:tcPr/>
                </a:tc>
                <a:tc>
                  <a:txBody>
                    <a:bodyPr/>
                    <a:lstStyle/>
                    <a:p>
                      <a:pPr marL="285750" indent="-285750" rtl="1">
                        <a:buFont typeface="Arial" panose="020B0604020202020204" pitchFamily="34" charset="0"/>
                        <a:buChar char="•"/>
                      </a:pPr>
                      <a:r>
                        <a:rPr lang="he-IL" sz="1400" dirty="0"/>
                        <a:t>מערכת ליצירת אתרים בחינם ובקלות</a:t>
                      </a:r>
                    </a:p>
                    <a:p>
                      <a:pPr marL="285750" indent="-285750" rtl="1">
                        <a:buFont typeface="Arial" panose="020B0604020202020204" pitchFamily="34" charset="0"/>
                        <a:buChar char="•"/>
                      </a:pPr>
                      <a:r>
                        <a:rPr lang="he-IL" sz="1400" dirty="0"/>
                        <a:t> מספק יכולות מתקדמות לבניית אתרים</a:t>
                      </a:r>
                    </a:p>
                    <a:p>
                      <a:pPr marL="285750" indent="-285750" rtl="1">
                        <a:buFont typeface="Arial" panose="020B0604020202020204" pitchFamily="34" charset="0"/>
                        <a:buChar char="•"/>
                      </a:pPr>
                      <a:r>
                        <a:rPr lang="he-IL" sz="1400" dirty="0"/>
                        <a:t>מאפשר להציג תוכן וכלים חיצוניים</a:t>
                      </a:r>
                    </a:p>
                    <a:p>
                      <a:pPr marL="285750" indent="-285750" rtl="1">
                        <a:buFont typeface="Arial" panose="020B0604020202020204" pitchFamily="34" charset="0"/>
                        <a:buChar char="•"/>
                      </a:pPr>
                      <a:r>
                        <a:rPr lang="he-IL" sz="1400" dirty="0"/>
                        <a:t>מאפשר עיקוב וניהול אחרי ביצוע האתר</a:t>
                      </a:r>
                    </a:p>
                    <a:p>
                      <a:pPr marL="285750" indent="-285750" rtl="1">
                        <a:buFont typeface="Arial" panose="020B0604020202020204" pitchFamily="34" charset="0"/>
                        <a:buChar char="•"/>
                      </a:pPr>
                      <a:r>
                        <a:rPr lang="he-IL" sz="1400" dirty="0"/>
                        <a:t>מציע פתרון מלא מתשתית ותכונות עסקיות ברמה ארגונית</a:t>
                      </a:r>
                    </a:p>
                  </a:txBody>
                  <a:tcPr/>
                </a:tc>
                <a:tc>
                  <a:txBody>
                    <a:bodyPr/>
                    <a:lstStyle/>
                    <a:p>
                      <a:pPr marL="285750" indent="-285750" rtl="1">
                        <a:buFont typeface="Arial" panose="020B0604020202020204" pitchFamily="34" charset="0"/>
                        <a:buChar char="•"/>
                      </a:pPr>
                      <a:r>
                        <a:rPr lang="he-IL" sz="1400" dirty="0"/>
                        <a:t>אתר אינטרנט לבניית אתרים בעלות נמוכה</a:t>
                      </a:r>
                    </a:p>
                    <a:p>
                      <a:pPr marL="285750" indent="-285750" rtl="1">
                        <a:buFont typeface="Arial" panose="020B0604020202020204" pitchFamily="34" charset="0"/>
                        <a:buChar char="•"/>
                      </a:pPr>
                      <a:r>
                        <a:rPr lang="he-IL" sz="1400" dirty="0"/>
                        <a:t>מאפשר שיתופי פעולה באינטרנט</a:t>
                      </a:r>
                    </a:p>
                    <a:p>
                      <a:pPr marL="285750" indent="-285750" rtl="1">
                        <a:buFont typeface="Arial" panose="020B0604020202020204" pitchFamily="34" charset="0"/>
                        <a:buChar char="•"/>
                      </a:pPr>
                      <a:r>
                        <a:rPr lang="he-IL" sz="1400" dirty="0"/>
                        <a:t>מאפשר השתתפות בשיחות פרטיות או קבוצתיות</a:t>
                      </a:r>
                    </a:p>
                  </a:txBody>
                  <a:tcPr/>
                </a:tc>
                <a:extLst>
                  <a:ext uri="{0D108BD9-81ED-4DB2-BD59-A6C34878D82A}">
                    <a16:rowId xmlns:a16="http://schemas.microsoft.com/office/drawing/2014/main" val="1074624383"/>
                  </a:ext>
                </a:extLst>
              </a:tr>
              <a:tr h="606382">
                <a:tc>
                  <a:txBody>
                    <a:bodyPr/>
                    <a:lstStyle/>
                    <a:p>
                      <a:pPr rtl="1"/>
                      <a:r>
                        <a:rPr lang="he-IL" sz="1400" b="1" dirty="0"/>
                        <a:t>ידידותית למשתמש</a:t>
                      </a:r>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400" dirty="0"/>
                        <a:t>ידידותית </a:t>
                      </a:r>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400" dirty="0"/>
                        <a:t>ידידותית מאוד</a:t>
                      </a:r>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400" dirty="0"/>
                        <a:t>ידידותית </a:t>
                      </a:r>
                    </a:p>
                  </a:txBody>
                  <a:tcPr/>
                </a:tc>
                <a:extLst>
                  <a:ext uri="{0D108BD9-81ED-4DB2-BD59-A6C34878D82A}">
                    <a16:rowId xmlns:a16="http://schemas.microsoft.com/office/drawing/2014/main" val="2115434892"/>
                  </a:ext>
                </a:extLst>
              </a:tr>
              <a:tr h="745759">
                <a:tc>
                  <a:txBody>
                    <a:bodyPr/>
                    <a:lstStyle/>
                    <a:p>
                      <a:pPr rtl="1"/>
                      <a:r>
                        <a:rPr lang="he-IL" sz="1400" b="1" dirty="0"/>
                        <a:t>התאמה לדרישות </a:t>
                      </a:r>
                      <a:r>
                        <a:rPr lang="en-US" sz="1400" b="1" dirty="0"/>
                        <a:t>FR</a:t>
                      </a:r>
                      <a:endParaRPr lang="he-IL" sz="1400" b="1"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400" dirty="0"/>
                        <a:t>התאמה כמעט מלאה</a:t>
                      </a:r>
                    </a:p>
                    <a:p>
                      <a:pPr rtl="1"/>
                      <a:endParaRPr lang="he-IL" sz="1400"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400" dirty="0"/>
                        <a:t>התאמה מלאה</a:t>
                      </a:r>
                    </a:p>
                    <a:p>
                      <a:pPr rtl="1"/>
                      <a:endParaRPr lang="he-IL" sz="1400"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400" dirty="0"/>
                        <a:t>התאמה כמעט מלאה</a:t>
                      </a:r>
                    </a:p>
                    <a:p>
                      <a:pPr rtl="1"/>
                      <a:endParaRPr lang="he-IL" sz="1400" dirty="0"/>
                    </a:p>
                  </a:txBody>
                  <a:tcPr/>
                </a:tc>
                <a:extLst>
                  <a:ext uri="{0D108BD9-81ED-4DB2-BD59-A6C34878D82A}">
                    <a16:rowId xmlns:a16="http://schemas.microsoft.com/office/drawing/2014/main" val="1711236448"/>
                  </a:ext>
                </a:extLst>
              </a:tr>
              <a:tr h="605175">
                <a:tc>
                  <a:txBody>
                    <a:bodyPr/>
                    <a:lstStyle/>
                    <a:p>
                      <a:pPr rtl="1"/>
                      <a:r>
                        <a:rPr lang="he-IL" sz="1400" b="1" dirty="0"/>
                        <a:t>נגישות</a:t>
                      </a:r>
                      <a:r>
                        <a:rPr lang="en-US" sz="1400" b="1" dirty="0"/>
                        <a:t>/</a:t>
                      </a:r>
                      <a:r>
                        <a:rPr lang="he-IL" sz="1400" b="1" dirty="0"/>
                        <a:t> ענן</a:t>
                      </a:r>
                      <a:r>
                        <a:rPr lang="en-US" sz="1400" b="1" dirty="0"/>
                        <a:t>/</a:t>
                      </a:r>
                      <a:r>
                        <a:rPr lang="he-IL" sz="1400" b="1" dirty="0"/>
                        <a:t> סוגי מכשירים</a:t>
                      </a:r>
                    </a:p>
                  </a:txBody>
                  <a:tcPr/>
                </a:tc>
                <a:tc>
                  <a:txBody>
                    <a:bodyPr/>
                    <a:lstStyle/>
                    <a:p>
                      <a:pPr rtl="1"/>
                      <a:r>
                        <a:rPr lang="he-IL" sz="1400" dirty="0"/>
                        <a:t>מלאה</a:t>
                      </a:r>
                    </a:p>
                  </a:txBody>
                  <a:tcPr/>
                </a:tc>
                <a:tc>
                  <a:txBody>
                    <a:bodyPr/>
                    <a:lstStyle/>
                    <a:p>
                      <a:pPr rtl="1"/>
                      <a:r>
                        <a:rPr lang="he-IL" sz="1400" dirty="0"/>
                        <a:t>מלאה</a:t>
                      </a:r>
                    </a:p>
                  </a:txBody>
                  <a:tcPr/>
                </a:tc>
                <a:tc>
                  <a:txBody>
                    <a:bodyPr/>
                    <a:lstStyle/>
                    <a:p>
                      <a:pPr rtl="1"/>
                      <a:r>
                        <a:rPr lang="he-IL" sz="1400" dirty="0"/>
                        <a:t>מלאה</a:t>
                      </a:r>
                    </a:p>
                  </a:txBody>
                  <a:tcPr/>
                </a:tc>
                <a:extLst>
                  <a:ext uri="{0D108BD9-81ED-4DB2-BD59-A6C34878D82A}">
                    <a16:rowId xmlns:a16="http://schemas.microsoft.com/office/drawing/2014/main" val="726888213"/>
                  </a:ext>
                </a:extLst>
              </a:tr>
            </a:tbl>
          </a:graphicData>
        </a:graphic>
      </p:graphicFrame>
      <p:pic>
        <p:nvPicPr>
          <p:cNvPr id="6" name="תמונה 5">
            <a:extLst>
              <a:ext uri="{FF2B5EF4-FFF2-40B4-BE49-F238E27FC236}">
                <a16:creationId xmlns:a16="http://schemas.microsoft.com/office/drawing/2014/main" id="{91020CB7-75CB-49FF-90A8-02ABB9B049BA}"/>
              </a:ext>
            </a:extLst>
          </p:cNvPr>
          <p:cNvPicPr>
            <a:picLocks noChangeAspect="1"/>
          </p:cNvPicPr>
          <p:nvPr/>
        </p:nvPicPr>
        <p:blipFill>
          <a:blip r:embed="rId2"/>
          <a:stretch>
            <a:fillRect/>
          </a:stretch>
        </p:blipFill>
        <p:spPr>
          <a:xfrm>
            <a:off x="8165794" y="1"/>
            <a:ext cx="978206" cy="782664"/>
          </a:xfrm>
          <a:prstGeom prst="rect">
            <a:avLst/>
          </a:prstGeom>
        </p:spPr>
      </p:pic>
      <p:pic>
        <p:nvPicPr>
          <p:cNvPr id="7" name="תמונה 6">
            <a:extLst>
              <a:ext uri="{FF2B5EF4-FFF2-40B4-BE49-F238E27FC236}">
                <a16:creationId xmlns:a16="http://schemas.microsoft.com/office/drawing/2014/main" id="{706B30C5-C27E-48FA-BDF0-89A89A9308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8" name="תיבת טקסט 7">
            <a:extLst>
              <a:ext uri="{FF2B5EF4-FFF2-40B4-BE49-F238E27FC236}">
                <a16:creationId xmlns:a16="http://schemas.microsoft.com/office/drawing/2014/main" id="{EAE0D274-1B7C-7D91-57B9-111655A2661F}"/>
              </a:ext>
            </a:extLst>
          </p:cNvPr>
          <p:cNvSpPr txBox="1"/>
          <p:nvPr/>
        </p:nvSpPr>
        <p:spPr>
          <a:xfrm>
            <a:off x="4761913" y="44660"/>
            <a:ext cx="1118026" cy="253916"/>
          </a:xfrm>
          <a:prstGeom prst="rect">
            <a:avLst/>
          </a:prstGeom>
          <a:noFill/>
        </p:spPr>
        <p:txBody>
          <a:bodyPr wrap="square" rtlCol="1">
            <a:spAutoFit/>
          </a:bodyPr>
          <a:lstStyle/>
          <a:p>
            <a:r>
              <a:rPr lang="en-US" sz="1050" b="1" dirty="0"/>
              <a:t>10,11</a:t>
            </a:r>
            <a:endParaRPr lang="he-IL" sz="1050" b="1" dirty="0"/>
          </a:p>
        </p:txBody>
      </p:sp>
      <p:sp>
        <p:nvSpPr>
          <p:cNvPr id="9" name="תיבת טקסט 8">
            <a:extLst>
              <a:ext uri="{FF2B5EF4-FFF2-40B4-BE49-F238E27FC236}">
                <a16:creationId xmlns:a16="http://schemas.microsoft.com/office/drawing/2014/main" id="{788C47C8-9716-293E-A629-B70AA5557E72}"/>
              </a:ext>
            </a:extLst>
          </p:cNvPr>
          <p:cNvSpPr txBox="1"/>
          <p:nvPr/>
        </p:nvSpPr>
        <p:spPr>
          <a:xfrm>
            <a:off x="7143068" y="5825436"/>
            <a:ext cx="2000932" cy="1061829"/>
          </a:xfrm>
          <a:prstGeom prst="rect">
            <a:avLst/>
          </a:prstGeom>
          <a:noFill/>
        </p:spPr>
        <p:txBody>
          <a:bodyPr wrap="none" rtlCol="1">
            <a:spAutoFit/>
          </a:bodyPr>
          <a:lstStyle/>
          <a:p>
            <a:pPr algn="r" rtl="1"/>
            <a:endParaRPr lang="he-IL" sz="1050" dirty="0">
              <a:solidFill>
                <a:schemeClr val="bg1">
                  <a:lumMod val="50000"/>
                </a:schemeClr>
              </a:solidFill>
              <a:latin typeface="Arial" panose="020B0604020202020204" pitchFamily="34" charset="0"/>
            </a:endParaRPr>
          </a:p>
          <a:p>
            <a:pPr algn="r" rtl="1"/>
            <a:r>
              <a:rPr lang="he-IL" sz="1050" dirty="0">
                <a:solidFill>
                  <a:schemeClr val="bg1">
                    <a:lumMod val="50000"/>
                  </a:schemeClr>
                </a:solidFill>
                <a:latin typeface="Arial" panose="020B0604020202020204" pitchFamily="34" charset="0"/>
                <a:cs typeface="Arial" panose="020B0604020202020204" pitchFamily="34" charset="0"/>
              </a:rPr>
              <a:t>10.שובל, פ. (2017) </a:t>
            </a:r>
          </a:p>
          <a:p>
            <a:pPr algn="r" rtl="1"/>
            <a:r>
              <a:rPr lang="he-IL" sz="1050" dirty="0">
                <a:solidFill>
                  <a:schemeClr val="bg1">
                    <a:lumMod val="50000"/>
                  </a:schemeClr>
                </a:solidFill>
                <a:latin typeface="Arial" panose="020B0604020202020204" pitchFamily="34" charset="0"/>
                <a:cs typeface="Arial" panose="020B0604020202020204" pitchFamily="34" charset="0"/>
              </a:rPr>
              <a:t>11.שרגא, ש. , </a:t>
            </a:r>
            <a:r>
              <a:rPr lang="he-IL" sz="1050" dirty="0" err="1">
                <a:solidFill>
                  <a:schemeClr val="bg1">
                    <a:lumMod val="50000"/>
                  </a:schemeClr>
                </a:solidFill>
                <a:latin typeface="Arial" panose="020B0604020202020204" pitchFamily="34" charset="0"/>
                <a:cs typeface="Arial" panose="020B0604020202020204" pitchFamily="34" charset="0"/>
              </a:rPr>
              <a:t>רובינוביץ</a:t>
            </a:r>
            <a:r>
              <a:rPr lang="he-IL" sz="1050" dirty="0">
                <a:solidFill>
                  <a:schemeClr val="bg1">
                    <a:lumMod val="50000"/>
                  </a:schemeClr>
                </a:solidFill>
                <a:latin typeface="Arial" panose="020B0604020202020204" pitchFamily="34" charset="0"/>
                <a:cs typeface="Arial" panose="020B0604020202020204" pitchFamily="34" charset="0"/>
              </a:rPr>
              <a:t>, י. (2012)</a:t>
            </a:r>
            <a:endParaRPr lang="he-IL" sz="1050" b="1" u="sng" dirty="0">
              <a:solidFill>
                <a:schemeClr val="bg1">
                  <a:lumMod val="50000"/>
                </a:schemeClr>
              </a:solidFill>
              <a:latin typeface="Arial" panose="020B0604020202020204" pitchFamily="34" charset="0"/>
              <a:cs typeface="Arial" panose="020B0604020202020204" pitchFamily="34" charset="0"/>
            </a:endParaRPr>
          </a:p>
          <a:p>
            <a:pPr algn="r" rtl="1"/>
            <a:r>
              <a:rPr lang="he-IL" sz="1050" dirty="0">
                <a:latin typeface="Arial" panose="020B0604020202020204" pitchFamily="34" charset="0"/>
                <a:cs typeface="Arial" panose="020B0604020202020204" pitchFamily="34" charset="0"/>
              </a:rPr>
              <a:t> </a:t>
            </a:r>
            <a:r>
              <a:rPr lang="en-US" sz="1050" dirty="0">
                <a:latin typeface="Arial" panose="020B0604020202020204" pitchFamily="34" charset="0"/>
                <a:cs typeface="Arial" panose="020B0604020202020204" pitchFamily="34" charset="0"/>
                <a:hlinkClick r:id="rId4"/>
              </a:rPr>
              <a:t>WIX LINK</a:t>
            </a:r>
            <a:r>
              <a:rPr lang="en-US" sz="1050" dirty="0">
                <a:latin typeface="Arial" panose="020B0604020202020204" pitchFamily="34" charset="0"/>
                <a:cs typeface="Arial" panose="020B0604020202020204" pitchFamily="34" charset="0"/>
              </a:rPr>
              <a:t>.16</a:t>
            </a:r>
          </a:p>
          <a:p>
            <a:pPr algn="r" rtl="1"/>
            <a:r>
              <a:rPr lang="en-US" sz="1050" dirty="0">
                <a:latin typeface="Arial" panose="020B0604020202020204" pitchFamily="34" charset="0"/>
                <a:cs typeface="Arial" panose="020B0604020202020204" pitchFamily="34" charset="0"/>
                <a:hlinkClick r:id="rId5"/>
              </a:rPr>
              <a:t>SITE123 LINK</a:t>
            </a:r>
            <a:r>
              <a:rPr lang="en-US" sz="1050" dirty="0">
                <a:latin typeface="Arial" panose="020B0604020202020204" pitchFamily="34" charset="0"/>
                <a:cs typeface="Arial" panose="020B0604020202020204" pitchFamily="34" charset="0"/>
              </a:rPr>
              <a:t>.17</a:t>
            </a:r>
            <a:r>
              <a:rPr lang="he-IL" sz="1050" dirty="0">
                <a:latin typeface="Arial" panose="020B0604020202020204" pitchFamily="34" charset="0"/>
                <a:cs typeface="Arial" panose="020B0604020202020204" pitchFamily="34" charset="0"/>
              </a:rPr>
              <a:t> </a:t>
            </a:r>
            <a:endParaRPr lang="en-US" sz="1050" dirty="0">
              <a:latin typeface="Arial" panose="020B0604020202020204" pitchFamily="34" charset="0"/>
              <a:cs typeface="Arial" panose="020B0604020202020204" pitchFamily="34" charset="0"/>
            </a:endParaRPr>
          </a:p>
          <a:p>
            <a:pPr algn="r" rtl="1"/>
            <a:r>
              <a:rPr lang="en-US" sz="1050" dirty="0">
                <a:latin typeface="Arial" panose="020B0604020202020204" pitchFamily="34" charset="0"/>
                <a:cs typeface="Arial" panose="020B0604020202020204" pitchFamily="34" charset="0"/>
                <a:hlinkClick r:id="rId6"/>
              </a:rPr>
              <a:t>WorkSpaceGoogleLINK</a:t>
            </a:r>
            <a:r>
              <a:rPr lang="en-US" sz="1050" dirty="0">
                <a:latin typeface="Arial" panose="020B0604020202020204" pitchFamily="34" charset="0"/>
                <a:cs typeface="Arial" panose="020B0604020202020204" pitchFamily="34" charset="0"/>
              </a:rPr>
              <a:t>.18</a:t>
            </a:r>
            <a:endParaRPr lang="he-IL" sz="1050" dirty="0">
              <a:solidFill>
                <a:schemeClr val="bg1">
                  <a:lumMod val="50000"/>
                </a:schemeClr>
              </a:solidFill>
            </a:endParaRPr>
          </a:p>
        </p:txBody>
      </p:sp>
      <p:sp>
        <p:nvSpPr>
          <p:cNvPr id="10" name="תיבת טקסט 9">
            <a:extLst>
              <a:ext uri="{FF2B5EF4-FFF2-40B4-BE49-F238E27FC236}">
                <a16:creationId xmlns:a16="http://schemas.microsoft.com/office/drawing/2014/main" id="{03D22474-C037-2AC7-EEF2-6ED719AFE321}"/>
              </a:ext>
            </a:extLst>
          </p:cNvPr>
          <p:cNvSpPr txBox="1"/>
          <p:nvPr/>
        </p:nvSpPr>
        <p:spPr>
          <a:xfrm>
            <a:off x="406820" y="1280775"/>
            <a:ext cx="1118026" cy="253916"/>
          </a:xfrm>
          <a:prstGeom prst="rect">
            <a:avLst/>
          </a:prstGeom>
          <a:noFill/>
        </p:spPr>
        <p:txBody>
          <a:bodyPr wrap="square" rtlCol="1">
            <a:spAutoFit/>
          </a:bodyPr>
          <a:lstStyle/>
          <a:p>
            <a:r>
              <a:rPr lang="en-US" sz="1050" b="1" dirty="0"/>
              <a:t>18</a:t>
            </a:r>
            <a:endParaRPr lang="he-IL" sz="1050" b="1" dirty="0"/>
          </a:p>
        </p:txBody>
      </p:sp>
      <p:sp>
        <p:nvSpPr>
          <p:cNvPr id="11" name="תיבת טקסט 10">
            <a:extLst>
              <a:ext uri="{FF2B5EF4-FFF2-40B4-BE49-F238E27FC236}">
                <a16:creationId xmlns:a16="http://schemas.microsoft.com/office/drawing/2014/main" id="{94F6A967-FC47-1659-4F9A-769D69D025E0}"/>
              </a:ext>
            </a:extLst>
          </p:cNvPr>
          <p:cNvSpPr txBox="1"/>
          <p:nvPr/>
        </p:nvSpPr>
        <p:spPr>
          <a:xfrm>
            <a:off x="2834701" y="1287971"/>
            <a:ext cx="1118026" cy="253916"/>
          </a:xfrm>
          <a:prstGeom prst="rect">
            <a:avLst/>
          </a:prstGeom>
          <a:noFill/>
        </p:spPr>
        <p:txBody>
          <a:bodyPr wrap="square" rtlCol="1">
            <a:spAutoFit/>
          </a:bodyPr>
          <a:lstStyle/>
          <a:p>
            <a:r>
              <a:rPr lang="en-US" sz="1050" b="1" dirty="0"/>
              <a:t>16</a:t>
            </a:r>
            <a:endParaRPr lang="he-IL" sz="1050" b="1" dirty="0"/>
          </a:p>
        </p:txBody>
      </p:sp>
      <p:sp>
        <p:nvSpPr>
          <p:cNvPr id="12" name="תיבת טקסט 11">
            <a:extLst>
              <a:ext uri="{FF2B5EF4-FFF2-40B4-BE49-F238E27FC236}">
                <a16:creationId xmlns:a16="http://schemas.microsoft.com/office/drawing/2014/main" id="{ACAE560A-57B1-5326-201B-182A62650A6D}"/>
              </a:ext>
            </a:extLst>
          </p:cNvPr>
          <p:cNvSpPr txBox="1"/>
          <p:nvPr/>
        </p:nvSpPr>
        <p:spPr>
          <a:xfrm>
            <a:off x="5454412" y="1287971"/>
            <a:ext cx="1118026" cy="253916"/>
          </a:xfrm>
          <a:prstGeom prst="rect">
            <a:avLst/>
          </a:prstGeom>
          <a:noFill/>
        </p:spPr>
        <p:txBody>
          <a:bodyPr wrap="square" rtlCol="1">
            <a:spAutoFit/>
          </a:bodyPr>
          <a:lstStyle/>
          <a:p>
            <a:r>
              <a:rPr lang="en-US" sz="1050" b="1" dirty="0"/>
              <a:t>17</a:t>
            </a:r>
            <a:endParaRPr lang="he-IL" sz="1050" b="1" dirty="0"/>
          </a:p>
        </p:txBody>
      </p:sp>
      <p:sp>
        <p:nvSpPr>
          <p:cNvPr id="13" name="תיבת טקסט 12">
            <a:extLst>
              <a:ext uri="{FF2B5EF4-FFF2-40B4-BE49-F238E27FC236}">
                <a16:creationId xmlns:a16="http://schemas.microsoft.com/office/drawing/2014/main" id="{EE841F43-43EB-41AF-6F58-079432050B7D}"/>
              </a:ext>
            </a:extLst>
          </p:cNvPr>
          <p:cNvSpPr txBox="1"/>
          <p:nvPr/>
        </p:nvSpPr>
        <p:spPr>
          <a:xfrm>
            <a:off x="2219376" y="5873532"/>
            <a:ext cx="4923692" cy="369332"/>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1">
            <a:spAutoFit/>
          </a:bodyPr>
          <a:lstStyle>
            <a:defPPr>
              <a:defRPr lang="en-US"/>
            </a:defPPr>
            <a:lvl1pPr algn="ctr" rtl="1">
              <a:defRPr sz="2400" b="1">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he-IL" dirty="0"/>
              <a:t>בחינת עלויות ותועלת יושלמו לסמינר 3 </a:t>
            </a:r>
          </a:p>
        </p:txBody>
      </p:sp>
    </p:spTree>
    <p:extLst>
      <p:ext uri="{BB962C8B-B14F-4D97-AF65-F5344CB8AC3E}">
        <p14:creationId xmlns:p14="http://schemas.microsoft.com/office/powerpoint/2010/main" val="1966635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20CC8092-6FE6-EC34-399E-2EB8AB95D825}"/>
              </a:ext>
            </a:extLst>
          </p:cNvPr>
          <p:cNvSpPr>
            <a:spLocks noGrp="1"/>
          </p:cNvSpPr>
          <p:nvPr>
            <p:ph idx="1"/>
          </p:nvPr>
        </p:nvSpPr>
        <p:spPr>
          <a:xfrm>
            <a:off x="628650" y="2283234"/>
            <a:ext cx="7886700" cy="3520848"/>
          </a:xfrm>
        </p:spPr>
        <p:txBody>
          <a:bodyPr>
            <a:normAutofit fontScale="92500" lnSpcReduction="20000"/>
          </a:bodyPr>
          <a:lstStyle/>
          <a:p>
            <a:pPr marL="0" indent="0">
              <a:lnSpc>
                <a:spcPct val="100000"/>
              </a:lnSpc>
              <a:buNone/>
            </a:pPr>
            <a:r>
              <a:rPr lang="he-IL" sz="1800" b="1" u="sng" dirty="0"/>
              <a:t>תמצית המאמר :</a:t>
            </a:r>
          </a:p>
          <a:p>
            <a:pPr marL="0" indent="0">
              <a:lnSpc>
                <a:spcPct val="100000"/>
              </a:lnSpc>
              <a:buNone/>
            </a:pPr>
            <a:r>
              <a:rPr lang="he-IL" sz="1800" dirty="0"/>
              <a:t>מטרת המאמר זה להציג מחקר שמטרתו לראות שאימהות כיום, הן הורות פעילה בחיפוש מידע באינטרנט. הם משתמשים בפלטפורמות שונות כדי לגשת למידע.</a:t>
            </a:r>
          </a:p>
          <a:p>
            <a:pPr marL="0" indent="0">
              <a:lnSpc>
                <a:spcPct val="100000"/>
              </a:lnSpc>
              <a:buNone/>
            </a:pPr>
            <a:r>
              <a:rPr lang="he-IL" sz="1800" dirty="0"/>
              <a:t>המחקר זה מראה כי לאימהות יש רמה שונה של מודעות בנושא אמינות מידע. לחלק </a:t>
            </a:r>
            <a:r>
              <a:rPr lang="he-IL" sz="1900" dirty="0"/>
              <a:t>מהאימהות</a:t>
            </a:r>
            <a:r>
              <a:rPr lang="he-IL" sz="1800" dirty="0"/>
              <a:t> יש אמינות גבוהה ל-מידע מקוון מבלי לבדוק אם המידע מדויק או לא. בעוד שהאחרים מיישמים אסטרטגיות מסוימות כדי לבדוק את מהימנות המידע, באיזו פלטפורמה להשתמש, איזה מידע לראות, של מי כותבים את המידע ושל מה אם יש למידע את מידת הדמיון עם מידע אחר. </a:t>
            </a:r>
          </a:p>
          <a:p>
            <a:pPr marL="0" indent="0">
              <a:lnSpc>
                <a:spcPct val="100000"/>
              </a:lnSpc>
              <a:buNone/>
            </a:pPr>
            <a:r>
              <a:rPr lang="he-IL" sz="1800" dirty="0"/>
              <a:t>מלבד מידע על הורות, אימהות אלו מנסות גם למצוא בן לוויהו תמוך בפיתוח מערכת יחסים עם עמיתים מקוונים. </a:t>
            </a:r>
          </a:p>
          <a:p>
            <a:pPr marL="0" indent="0">
              <a:lnSpc>
                <a:spcPct val="100000"/>
              </a:lnSpc>
              <a:buNone/>
            </a:pPr>
            <a:r>
              <a:rPr lang="he-IL" sz="1800" dirty="0"/>
              <a:t>אינטרנט מידע ותמיכה השפיעו על החיים של אימהות אלה, הם הודו שהם בעלי ידע הולך וגובר, הגברת המודעות לתרגול הורות טוב והגברת הביטחון. זה מסיק שהאינטרנט הוא מקור חשוב שלמידע ותמיכה. </a:t>
            </a:r>
            <a:endParaRPr lang="he-IL" sz="1800" b="1" u="sng" dirty="0"/>
          </a:p>
          <a:p>
            <a:pPr marL="0" indent="0">
              <a:lnSpc>
                <a:spcPct val="100000"/>
              </a:lnSpc>
              <a:buNone/>
            </a:pPr>
            <a:endParaRPr lang="he-IL" sz="1800" dirty="0"/>
          </a:p>
          <a:p>
            <a:pPr marL="0" indent="0">
              <a:lnSpc>
                <a:spcPct val="100000"/>
              </a:lnSpc>
              <a:buNone/>
            </a:pPr>
            <a:endParaRPr lang="he-IL" sz="1800" dirty="0"/>
          </a:p>
          <a:p>
            <a:pPr marL="0" indent="0">
              <a:lnSpc>
                <a:spcPct val="100000"/>
              </a:lnSpc>
              <a:buNone/>
            </a:pPr>
            <a:endParaRPr lang="he-IL" sz="1800" dirty="0"/>
          </a:p>
        </p:txBody>
      </p:sp>
      <p:sp>
        <p:nvSpPr>
          <p:cNvPr id="5" name="מציין מיקום של מספר שקופית 4">
            <a:extLst>
              <a:ext uri="{FF2B5EF4-FFF2-40B4-BE49-F238E27FC236}">
                <a16:creationId xmlns:a16="http://schemas.microsoft.com/office/drawing/2014/main" id="{EC6DFC86-5342-23FD-A64D-355BCD153633}"/>
              </a:ext>
            </a:extLst>
          </p:cNvPr>
          <p:cNvSpPr>
            <a:spLocks noGrp="1"/>
          </p:cNvSpPr>
          <p:nvPr>
            <p:ph type="sldNum" sz="quarter" idx="12"/>
          </p:nvPr>
        </p:nvSpPr>
        <p:spPr>
          <a:xfrm>
            <a:off x="0" y="6356351"/>
            <a:ext cx="2057400" cy="365125"/>
          </a:xfrm>
        </p:spPr>
        <p:txBody>
          <a:bodyPr/>
          <a:lstStyle/>
          <a:p>
            <a:pPr algn="l"/>
            <a:fld id="{F406CD6C-EFBE-497B-B02F-71827CD8C8E4}" type="slidenum">
              <a:rPr lang="he-IL" smtClean="0"/>
              <a:pPr algn="l"/>
              <a:t>17</a:t>
            </a:fld>
            <a:endParaRPr lang="he-IL" dirty="0"/>
          </a:p>
        </p:txBody>
      </p:sp>
      <p:pic>
        <p:nvPicPr>
          <p:cNvPr id="6" name="תמונה 5">
            <a:extLst>
              <a:ext uri="{FF2B5EF4-FFF2-40B4-BE49-F238E27FC236}">
                <a16:creationId xmlns:a16="http://schemas.microsoft.com/office/drawing/2014/main" id="{BD4AE603-1B04-F165-47C0-750915E345A7}"/>
              </a:ext>
            </a:extLst>
          </p:cNvPr>
          <p:cNvPicPr>
            <a:picLocks noChangeAspect="1"/>
          </p:cNvPicPr>
          <p:nvPr/>
        </p:nvPicPr>
        <p:blipFill>
          <a:blip r:embed="rId2"/>
          <a:stretch>
            <a:fillRect/>
          </a:stretch>
        </p:blipFill>
        <p:spPr>
          <a:xfrm>
            <a:off x="8165794" y="1"/>
            <a:ext cx="978206" cy="782664"/>
          </a:xfrm>
          <a:prstGeom prst="rect">
            <a:avLst/>
          </a:prstGeom>
        </p:spPr>
      </p:pic>
      <p:pic>
        <p:nvPicPr>
          <p:cNvPr id="7" name="תמונה 6">
            <a:extLst>
              <a:ext uri="{FF2B5EF4-FFF2-40B4-BE49-F238E27FC236}">
                <a16:creationId xmlns:a16="http://schemas.microsoft.com/office/drawing/2014/main" id="{C181D8CF-2E24-EDA8-6289-F45C223D41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8" name="תיבת טקסט 7">
            <a:extLst>
              <a:ext uri="{FF2B5EF4-FFF2-40B4-BE49-F238E27FC236}">
                <a16:creationId xmlns:a16="http://schemas.microsoft.com/office/drawing/2014/main" id="{334C1DA5-805E-E900-3F47-63CDE21C64A4}"/>
              </a:ext>
            </a:extLst>
          </p:cNvPr>
          <p:cNvSpPr txBox="1"/>
          <p:nvPr/>
        </p:nvSpPr>
        <p:spPr>
          <a:xfrm>
            <a:off x="282123" y="1243578"/>
            <a:ext cx="8749336" cy="646331"/>
          </a:xfrm>
          <a:prstGeom prst="rect">
            <a:avLst/>
          </a:prstGeom>
          <a:noFill/>
        </p:spPr>
        <p:txBody>
          <a:bodyPr wrap="square" rtlCol="1">
            <a:spAutoFit/>
          </a:bodyPr>
          <a:lstStyle/>
          <a:p>
            <a:r>
              <a:rPr lang="en-US" sz="1800" b="1" i="0" u="none" strike="noStrike" baseline="0" dirty="0">
                <a:latin typeface="Times New Roman,Bold"/>
              </a:rPr>
              <a:t>I Become More Confident’: Mother Use of Online </a:t>
            </a:r>
            <a:r>
              <a:rPr lang="en-US" sz="1800" b="1" i="0" u="none" strike="noStrike" baseline="0" dirty="0">
                <a:latin typeface="Times New Roman" panose="02020603050405020304" pitchFamily="18" charset="0"/>
              </a:rPr>
              <a:t>Platform for Parenting Information</a:t>
            </a:r>
            <a:endParaRPr lang="en-US" sz="1800" b="1" i="0" u="none" strike="noStrike" baseline="0" dirty="0">
              <a:latin typeface="Times New Roman,Bold"/>
            </a:endParaRPr>
          </a:p>
          <a:p>
            <a:pPr algn="r"/>
            <a:endParaRPr lang="he-IL" sz="1800" b="0" i="0" dirty="0">
              <a:solidFill>
                <a:srgbClr val="1C1D1E"/>
              </a:solidFill>
              <a:effectLst/>
              <a:latin typeface="Open Sans" panose="020F0502020204030204" pitchFamily="34" charset="0"/>
            </a:endParaRPr>
          </a:p>
        </p:txBody>
      </p:sp>
      <p:sp>
        <p:nvSpPr>
          <p:cNvPr id="9" name="תיבת טקסט 8">
            <a:extLst>
              <a:ext uri="{FF2B5EF4-FFF2-40B4-BE49-F238E27FC236}">
                <a16:creationId xmlns:a16="http://schemas.microsoft.com/office/drawing/2014/main" id="{3B0FC407-63EB-E56D-E94C-DF41ACA6A5E7}"/>
              </a:ext>
            </a:extLst>
          </p:cNvPr>
          <p:cNvSpPr txBox="1"/>
          <p:nvPr/>
        </p:nvSpPr>
        <p:spPr>
          <a:xfrm>
            <a:off x="3244697" y="1705243"/>
            <a:ext cx="5410200" cy="369332"/>
          </a:xfrm>
          <a:prstGeom prst="rect">
            <a:avLst/>
          </a:prstGeom>
          <a:noFill/>
        </p:spPr>
        <p:txBody>
          <a:bodyPr wrap="square" rtlCol="1">
            <a:spAutoFit/>
          </a:bodyPr>
          <a:lstStyle/>
          <a:p>
            <a:pPr algn="ctr"/>
            <a:r>
              <a:rPr lang="en-US" sz="1800" b="1" i="0" u="none" strike="noStrike" baseline="0" dirty="0">
                <a:latin typeface="Times New Roman" panose="02020603050405020304" pitchFamily="18" charset="0"/>
              </a:rPr>
              <a:t>Syifa Syarifah Alamiyah </a:t>
            </a:r>
            <a:r>
              <a:rPr lang="he-IL" b="1" u="sng" dirty="0">
                <a:solidFill>
                  <a:srgbClr val="1C1D1E"/>
                </a:solidFill>
                <a:latin typeface="Open Sans" panose="020F0502020204030204" pitchFamily="34" charset="0"/>
              </a:rPr>
              <a:t>שם המחבר: </a:t>
            </a:r>
            <a:r>
              <a:rPr lang="he-IL" sz="1800" b="1" i="0" u="none" strike="noStrike" baseline="0" dirty="0">
                <a:latin typeface="Times New Roman" panose="02020603050405020304" pitchFamily="18" charset="0"/>
              </a:rPr>
              <a:t>  2019</a:t>
            </a:r>
            <a:endParaRPr lang="he-IL" dirty="0"/>
          </a:p>
        </p:txBody>
      </p:sp>
      <p:sp>
        <p:nvSpPr>
          <p:cNvPr id="11" name="תיבת טקסט 10">
            <a:extLst>
              <a:ext uri="{FF2B5EF4-FFF2-40B4-BE49-F238E27FC236}">
                <a16:creationId xmlns:a16="http://schemas.microsoft.com/office/drawing/2014/main" id="{F826BDEE-F11C-1389-0E3E-2B663EA922F2}"/>
              </a:ext>
            </a:extLst>
          </p:cNvPr>
          <p:cNvSpPr txBox="1"/>
          <p:nvPr/>
        </p:nvSpPr>
        <p:spPr>
          <a:xfrm>
            <a:off x="2930980" y="183764"/>
            <a:ext cx="582930" cy="253916"/>
          </a:xfrm>
          <a:prstGeom prst="rect">
            <a:avLst/>
          </a:prstGeom>
          <a:noFill/>
        </p:spPr>
        <p:txBody>
          <a:bodyPr wrap="square">
            <a:spAutoFit/>
          </a:bodyPr>
          <a:lstStyle/>
          <a:p>
            <a:r>
              <a:rPr lang="en-US" sz="1050" dirty="0"/>
              <a:t>19</a:t>
            </a:r>
            <a:endParaRPr lang="he-IL" sz="1050" dirty="0"/>
          </a:p>
        </p:txBody>
      </p:sp>
      <p:sp>
        <p:nvSpPr>
          <p:cNvPr id="13" name="תיבת טקסט 12">
            <a:extLst>
              <a:ext uri="{FF2B5EF4-FFF2-40B4-BE49-F238E27FC236}">
                <a16:creationId xmlns:a16="http://schemas.microsoft.com/office/drawing/2014/main" id="{DCBDBDE0-A0A6-FA5F-7F73-4A62EBDA3A37}"/>
              </a:ext>
            </a:extLst>
          </p:cNvPr>
          <p:cNvSpPr txBox="1"/>
          <p:nvPr/>
        </p:nvSpPr>
        <p:spPr>
          <a:xfrm>
            <a:off x="1273629" y="6012741"/>
            <a:ext cx="7535636" cy="253916"/>
          </a:xfrm>
          <a:prstGeom prst="rect">
            <a:avLst/>
          </a:prstGeom>
          <a:noFill/>
        </p:spPr>
        <p:txBody>
          <a:bodyPr wrap="square" rtlCol="1">
            <a:spAutoFit/>
          </a:bodyPr>
          <a:lstStyle/>
          <a:p>
            <a:pPr algn="r" rtl="1"/>
            <a:r>
              <a:rPr lang="en-US" sz="1050" dirty="0">
                <a:solidFill>
                  <a:schemeClr val="bg1">
                    <a:lumMod val="50000"/>
                  </a:schemeClr>
                </a:solidFill>
                <a:latin typeface="Arial" panose="020B0604020202020204" pitchFamily="34" charset="0"/>
              </a:rPr>
              <a:t>19.</a:t>
            </a:r>
            <a:r>
              <a:rPr lang="en-US" sz="1050" dirty="0">
                <a:solidFill>
                  <a:schemeClr val="bg1">
                    <a:lumMod val="50000"/>
                  </a:schemeClr>
                </a:solidFill>
                <a:latin typeface="Open Sans" panose="020F0502020204030204" pitchFamily="34" charset="0"/>
                <a:hlinkClick r:id="rId4">
                  <a:extLst>
                    <a:ext uri="{A12FA001-AC4F-418D-AE19-62706E023703}">
                      <ahyp:hlinkClr xmlns:ahyp="http://schemas.microsoft.com/office/drawing/2018/hyperlinkcolor" val="tx"/>
                    </a:ext>
                  </a:extLst>
                </a:hlinkClick>
              </a:rPr>
              <a:t> </a:t>
            </a:r>
            <a:r>
              <a:rPr lang="en-US" sz="1050" i="0" u="none" strike="noStrike" baseline="0" dirty="0">
                <a:solidFill>
                  <a:schemeClr val="bg1">
                    <a:lumMod val="50000"/>
                  </a:schemeClr>
                </a:solidFill>
                <a:latin typeface="Times New Roman" panose="02020603050405020304" pitchFamily="18" charset="0"/>
              </a:rPr>
              <a:t>Syifa Syarifah Alamiyah </a:t>
            </a:r>
            <a:r>
              <a:rPr lang="en-US" sz="1050" dirty="0">
                <a:solidFill>
                  <a:schemeClr val="bg1">
                    <a:lumMod val="50000"/>
                  </a:schemeClr>
                </a:solidFill>
                <a:latin typeface="Open Sans" panose="020F0502020204030204" pitchFamily="34" charset="0"/>
              </a:rPr>
              <a:t>(2019)</a:t>
            </a:r>
            <a:r>
              <a:rPr lang="en-US" sz="1050" i="0" dirty="0">
                <a:solidFill>
                  <a:schemeClr val="bg1">
                    <a:lumMod val="50000"/>
                  </a:schemeClr>
                </a:solidFill>
                <a:effectLst/>
                <a:latin typeface="Open Sans" panose="020B0606030504020204" pitchFamily="34" charset="0"/>
              </a:rPr>
              <a:t> </a:t>
            </a:r>
            <a:r>
              <a:rPr lang="en-US" sz="1050" i="0" u="none" strike="noStrike" baseline="0" dirty="0">
                <a:solidFill>
                  <a:schemeClr val="bg1">
                    <a:lumMod val="50000"/>
                  </a:schemeClr>
                </a:solidFill>
                <a:latin typeface="Times New Roman,Bold"/>
              </a:rPr>
              <a:t>I Become More Confident’: Mother Use of Online </a:t>
            </a:r>
            <a:r>
              <a:rPr lang="en-US" sz="1050" dirty="0">
                <a:solidFill>
                  <a:schemeClr val="bg1">
                    <a:lumMod val="50000"/>
                  </a:schemeClr>
                </a:solidFill>
                <a:latin typeface="Times New Roman" panose="02020603050405020304" pitchFamily="18" charset="0"/>
              </a:rPr>
              <a:t>Platform for Parenting Information</a:t>
            </a:r>
            <a:endParaRPr lang="en-US" sz="1050" dirty="0">
              <a:solidFill>
                <a:schemeClr val="bg1">
                  <a:lumMod val="50000"/>
                </a:schemeClr>
              </a:solidFill>
              <a:latin typeface="Open Sans" panose="020B0606030504020204" pitchFamily="34" charset="0"/>
            </a:endParaRPr>
          </a:p>
        </p:txBody>
      </p:sp>
      <p:sp>
        <p:nvSpPr>
          <p:cNvPr id="10" name="מציין מיקום של כותרת תחתונה 1">
            <a:extLst>
              <a:ext uri="{FF2B5EF4-FFF2-40B4-BE49-F238E27FC236}">
                <a16:creationId xmlns:a16="http://schemas.microsoft.com/office/drawing/2014/main" id="{0A4510B1-90C9-7D3F-3721-A81328238095}"/>
              </a:ext>
            </a:extLst>
          </p:cNvPr>
          <p:cNvSpPr>
            <a:spLocks noGrp="1"/>
          </p:cNvSpPr>
          <p:nvPr>
            <p:ph type="ftr" sz="quarter" idx="11"/>
          </p:nvPr>
        </p:nvSpPr>
        <p:spPr>
          <a:xfrm>
            <a:off x="3028950" y="6371845"/>
            <a:ext cx="3086100" cy="365125"/>
          </a:xfrm>
        </p:spPr>
        <p:txBody>
          <a:bodyPr/>
          <a:lstStyle/>
          <a:p>
            <a:r>
              <a:rPr lang="he-IL" b="1" dirty="0">
                <a:solidFill>
                  <a:schemeClr val="tx1"/>
                </a:solidFill>
              </a:rPr>
              <a:t>אתר אינטרנט לאימהות חדשות במגזר הבדואי                      </a:t>
            </a:r>
            <a:r>
              <a:rPr lang="en-US" b="1" dirty="0">
                <a:solidFill>
                  <a:schemeClr val="tx1"/>
                </a:solidFill>
              </a:rPr>
              <a:t>Navon-13-2024-sem2</a:t>
            </a:r>
            <a:endParaRPr lang="he-IL" b="1" dirty="0">
              <a:solidFill>
                <a:schemeClr val="tx1"/>
              </a:solidFill>
            </a:endParaRPr>
          </a:p>
        </p:txBody>
      </p:sp>
      <p:sp>
        <p:nvSpPr>
          <p:cNvPr id="16" name="תיבת טקסט 15">
            <a:extLst>
              <a:ext uri="{FF2B5EF4-FFF2-40B4-BE49-F238E27FC236}">
                <a16:creationId xmlns:a16="http://schemas.microsoft.com/office/drawing/2014/main" id="{4C2F4A6A-8BB0-1F2F-5F27-41F4A1FFC176}"/>
              </a:ext>
            </a:extLst>
          </p:cNvPr>
          <p:cNvSpPr txBox="1"/>
          <p:nvPr/>
        </p:nvSpPr>
        <p:spPr>
          <a:xfrm>
            <a:off x="3222445" y="126056"/>
            <a:ext cx="4378946" cy="369332"/>
          </a:xfrm>
          <a:prstGeom prst="rect">
            <a:avLst/>
          </a:prstGeom>
          <a:noFill/>
        </p:spPr>
        <p:txBody>
          <a:bodyPr wrap="square" rtlCol="1">
            <a:spAutoFit/>
          </a:bodyPr>
          <a:lstStyle/>
          <a:p>
            <a:r>
              <a:rPr lang="he-IL" sz="1800" b="1" u="sng" dirty="0">
                <a:latin typeface="Calibri" pitchFamily="34" charset="0"/>
                <a:cs typeface="+mn-cs"/>
              </a:rPr>
              <a:t>סקר ספרות-הצגת מאמר</a:t>
            </a:r>
            <a:endParaRPr lang="he-IL" dirty="0"/>
          </a:p>
        </p:txBody>
      </p:sp>
      <p:sp>
        <p:nvSpPr>
          <p:cNvPr id="17" name="תיבת טקסט 16">
            <a:extLst>
              <a:ext uri="{FF2B5EF4-FFF2-40B4-BE49-F238E27FC236}">
                <a16:creationId xmlns:a16="http://schemas.microsoft.com/office/drawing/2014/main" id="{DF442B7B-974D-45B2-C1B4-D684E02C7101}"/>
              </a:ext>
            </a:extLst>
          </p:cNvPr>
          <p:cNvSpPr txBox="1"/>
          <p:nvPr/>
        </p:nvSpPr>
        <p:spPr>
          <a:xfrm>
            <a:off x="1482807" y="801783"/>
            <a:ext cx="7225055" cy="369332"/>
          </a:xfrm>
          <a:prstGeom prst="rect">
            <a:avLst/>
          </a:prstGeom>
          <a:noFill/>
        </p:spPr>
        <p:txBody>
          <a:bodyPr wrap="none" rtlCol="1">
            <a:spAutoFit/>
          </a:bodyPr>
          <a:lstStyle/>
          <a:p>
            <a:r>
              <a:rPr lang="he-IL" sz="1800" b="1" i="0" dirty="0">
                <a:solidFill>
                  <a:srgbClr val="1C1D1E"/>
                </a:solidFill>
                <a:effectLst/>
                <a:latin typeface="Open Sans" panose="020F0502020204030204" pitchFamily="34" charset="0"/>
              </a:rPr>
              <a:t>אני הופך בטוח יותר: שימוש </a:t>
            </a:r>
            <a:r>
              <a:rPr lang="he-IL" b="1" dirty="0" err="1">
                <a:solidFill>
                  <a:srgbClr val="1C1D1E"/>
                </a:solidFill>
                <a:latin typeface="Open Sans" panose="020F0502020204030204" pitchFamily="34" charset="0"/>
              </a:rPr>
              <a:t>אמהות</a:t>
            </a:r>
            <a:r>
              <a:rPr lang="he-IL" b="1" dirty="0">
                <a:solidFill>
                  <a:srgbClr val="1C1D1E"/>
                </a:solidFill>
                <a:latin typeface="Open Sans" panose="020F0502020204030204" pitchFamily="34" charset="0"/>
              </a:rPr>
              <a:t> באינטרנט, כפלטפורמה למידע על הורות</a:t>
            </a:r>
            <a:endParaRPr lang="he-IL" b="1" dirty="0"/>
          </a:p>
        </p:txBody>
      </p:sp>
      <p:sp>
        <p:nvSpPr>
          <p:cNvPr id="19" name="תיבת טקסט 18">
            <a:extLst>
              <a:ext uri="{FF2B5EF4-FFF2-40B4-BE49-F238E27FC236}">
                <a16:creationId xmlns:a16="http://schemas.microsoft.com/office/drawing/2014/main" id="{AA54B36B-0248-FCF5-0641-EBDA66AE604F}"/>
              </a:ext>
            </a:extLst>
          </p:cNvPr>
          <p:cNvSpPr txBox="1"/>
          <p:nvPr/>
        </p:nvSpPr>
        <p:spPr>
          <a:xfrm>
            <a:off x="6411791" y="404693"/>
            <a:ext cx="1481065" cy="369332"/>
          </a:xfrm>
          <a:prstGeom prst="rect">
            <a:avLst/>
          </a:prstGeom>
          <a:noFill/>
        </p:spPr>
        <p:txBody>
          <a:bodyPr wrap="square">
            <a:spAutoFit/>
          </a:bodyPr>
          <a:lstStyle/>
          <a:p>
            <a:pPr algn="r" rtl="1"/>
            <a:r>
              <a:rPr lang="he-IL" b="1" u="sng" dirty="0"/>
              <a:t>שם מאמר:</a:t>
            </a:r>
            <a:endParaRPr lang="he-IL" dirty="0"/>
          </a:p>
        </p:txBody>
      </p:sp>
    </p:spTree>
    <p:extLst>
      <p:ext uri="{BB962C8B-B14F-4D97-AF65-F5344CB8AC3E}">
        <p14:creationId xmlns:p14="http://schemas.microsoft.com/office/powerpoint/2010/main" val="759773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A997B9A-A2CC-42C8-A941-5E9EC5D0E53B}"/>
              </a:ext>
            </a:extLst>
          </p:cNvPr>
          <p:cNvSpPr>
            <a:spLocks noGrp="1"/>
          </p:cNvSpPr>
          <p:nvPr>
            <p:ph type="title"/>
          </p:nvPr>
        </p:nvSpPr>
        <p:spPr>
          <a:xfrm>
            <a:off x="628650" y="365127"/>
            <a:ext cx="7886700" cy="186006"/>
          </a:xfrm>
        </p:spPr>
        <p:txBody>
          <a:bodyPr>
            <a:normAutofit fontScale="90000"/>
          </a:bodyPr>
          <a:lstStyle/>
          <a:p>
            <a:pPr algn="ctr"/>
            <a:r>
              <a:rPr lang="he-IL" sz="2400" b="1" u="sng" dirty="0">
                <a:latin typeface="Calibri" pitchFamily="34" charset="0"/>
                <a:cs typeface="+mn-cs"/>
              </a:rPr>
              <a:t>סקר ספרות-הצגת מאמר</a:t>
            </a:r>
            <a:endParaRPr lang="he-IL" sz="2400" dirty="0">
              <a:cs typeface="+mn-cs"/>
            </a:endParaRPr>
          </a:p>
        </p:txBody>
      </p:sp>
      <p:sp>
        <p:nvSpPr>
          <p:cNvPr id="3" name="מציין מיקום תוכן 2">
            <a:extLst>
              <a:ext uri="{FF2B5EF4-FFF2-40B4-BE49-F238E27FC236}">
                <a16:creationId xmlns:a16="http://schemas.microsoft.com/office/drawing/2014/main" id="{46AC5931-58C5-221A-2A60-8DA7045F9671}"/>
              </a:ext>
            </a:extLst>
          </p:cNvPr>
          <p:cNvSpPr>
            <a:spLocks noGrp="1"/>
          </p:cNvSpPr>
          <p:nvPr>
            <p:ph idx="1"/>
          </p:nvPr>
        </p:nvSpPr>
        <p:spPr>
          <a:xfrm>
            <a:off x="393894" y="686287"/>
            <a:ext cx="8454683" cy="3487003"/>
          </a:xfrm>
        </p:spPr>
        <p:txBody>
          <a:bodyPr>
            <a:normAutofit lnSpcReduction="10000"/>
          </a:bodyPr>
          <a:lstStyle/>
          <a:p>
            <a:pPr marL="0" indent="0">
              <a:buNone/>
            </a:pPr>
            <a:r>
              <a:rPr lang="he-IL" sz="1800" b="1" u="sng" dirty="0"/>
              <a:t>תוכן מאמר:</a:t>
            </a:r>
          </a:p>
          <a:p>
            <a:pPr marL="0" indent="0">
              <a:buNone/>
            </a:pPr>
            <a:r>
              <a:rPr lang="he-IL" sz="1800" dirty="0"/>
              <a:t>הצגת מוטיבציות לחיפוש בפלטפורמה מקוונת, איך הם משתמשים בפלטפורמה וגם איך האינטראקציה בין חברים בקהילה המקוונת. לחקור את האימהות האל החוויות, נעשה שימוש בשיטה איכותית. זה כולל קצה פתוח שאלונים וראיון טלפוני. כדי להעשיר את הנתונים נעשתה תצפית לפלטפורמות המקוונות שהוזכרו בראיון</a:t>
            </a:r>
            <a:endParaRPr lang="he-IL" sz="1800" b="1" u="sng" dirty="0"/>
          </a:p>
          <a:p>
            <a:pPr marL="0" indent="0">
              <a:buNone/>
            </a:pPr>
            <a:endParaRPr lang="he-IL" sz="1800" b="1" u="sng" dirty="0"/>
          </a:p>
          <a:p>
            <a:pPr marL="0" indent="0">
              <a:buNone/>
            </a:pPr>
            <a:r>
              <a:rPr lang="he-IL" sz="1800" b="1" u="sng" dirty="0"/>
              <a:t>מסקנות ותוצאות</a:t>
            </a:r>
          </a:p>
          <a:p>
            <a:pPr marL="0" indent="0">
              <a:buNone/>
            </a:pPr>
            <a:r>
              <a:rPr lang="he-IL" sz="1800" dirty="0"/>
              <a:t>מתוצאות המחקר שבוצע והוצג במאמר ניתן להסיק כי אתר אינטרנט מתאים לצרכי המשתמשים (האימהות) שחושפות שהמידע והתמיכה המקוונים האלה השפיע והחיים שלהם בצורה חיובית. הן מרגישות שיש להן יותר ידע ומודעות לכך לגרום להם להרגיש בטוחות ולא קל להתרגש בגלל היותם אמא. זה גם עולה בטוח יותר איך לגדל את הילדים בדרכם שלהם בהתבסס על הידע שהם צוברים.</a:t>
            </a:r>
            <a:endParaRPr lang="he-IL" sz="1800" b="1" u="sng" dirty="0"/>
          </a:p>
        </p:txBody>
      </p:sp>
      <p:sp>
        <p:nvSpPr>
          <p:cNvPr id="5" name="מציין מיקום של מספר שקופית 4">
            <a:extLst>
              <a:ext uri="{FF2B5EF4-FFF2-40B4-BE49-F238E27FC236}">
                <a16:creationId xmlns:a16="http://schemas.microsoft.com/office/drawing/2014/main" id="{B969CD42-9634-CD26-B556-0FDD80225D50}"/>
              </a:ext>
            </a:extLst>
          </p:cNvPr>
          <p:cNvSpPr>
            <a:spLocks noGrp="1"/>
          </p:cNvSpPr>
          <p:nvPr>
            <p:ph type="sldNum" sz="quarter" idx="12"/>
          </p:nvPr>
        </p:nvSpPr>
        <p:spPr>
          <a:xfrm>
            <a:off x="0" y="6356351"/>
            <a:ext cx="2057400" cy="365125"/>
          </a:xfrm>
        </p:spPr>
        <p:txBody>
          <a:bodyPr/>
          <a:lstStyle/>
          <a:p>
            <a:pPr algn="l"/>
            <a:fld id="{F406CD6C-EFBE-497B-B02F-71827CD8C8E4}" type="slidenum">
              <a:rPr lang="he-IL" smtClean="0"/>
              <a:pPr algn="l"/>
              <a:t>18</a:t>
            </a:fld>
            <a:endParaRPr lang="he-IL" dirty="0"/>
          </a:p>
        </p:txBody>
      </p:sp>
      <p:pic>
        <p:nvPicPr>
          <p:cNvPr id="6" name="תמונה 5">
            <a:extLst>
              <a:ext uri="{FF2B5EF4-FFF2-40B4-BE49-F238E27FC236}">
                <a16:creationId xmlns:a16="http://schemas.microsoft.com/office/drawing/2014/main" id="{4BD01F69-E3D4-37D1-F46D-6A03B7C4BB6A}"/>
              </a:ext>
            </a:extLst>
          </p:cNvPr>
          <p:cNvPicPr>
            <a:picLocks noChangeAspect="1"/>
          </p:cNvPicPr>
          <p:nvPr/>
        </p:nvPicPr>
        <p:blipFill>
          <a:blip r:embed="rId2"/>
          <a:stretch>
            <a:fillRect/>
          </a:stretch>
        </p:blipFill>
        <p:spPr>
          <a:xfrm>
            <a:off x="8165794" y="1"/>
            <a:ext cx="978206" cy="782664"/>
          </a:xfrm>
          <a:prstGeom prst="rect">
            <a:avLst/>
          </a:prstGeom>
        </p:spPr>
      </p:pic>
      <p:pic>
        <p:nvPicPr>
          <p:cNvPr id="7" name="תמונה 6">
            <a:extLst>
              <a:ext uri="{FF2B5EF4-FFF2-40B4-BE49-F238E27FC236}">
                <a16:creationId xmlns:a16="http://schemas.microsoft.com/office/drawing/2014/main" id="{E138FA28-BF6E-2B20-DBAA-B03B83707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9" name="תיבת טקסט 8">
            <a:extLst>
              <a:ext uri="{FF2B5EF4-FFF2-40B4-BE49-F238E27FC236}">
                <a16:creationId xmlns:a16="http://schemas.microsoft.com/office/drawing/2014/main" id="{A6E4D900-AC76-4F2F-9730-831C8BC3F237}"/>
              </a:ext>
            </a:extLst>
          </p:cNvPr>
          <p:cNvSpPr txBox="1"/>
          <p:nvPr/>
        </p:nvSpPr>
        <p:spPr>
          <a:xfrm>
            <a:off x="-688521" y="6592938"/>
            <a:ext cx="7434942" cy="253916"/>
          </a:xfrm>
          <a:prstGeom prst="rect">
            <a:avLst/>
          </a:prstGeom>
          <a:noFill/>
        </p:spPr>
        <p:txBody>
          <a:bodyPr wrap="square">
            <a:spAutoFit/>
          </a:bodyPr>
          <a:lstStyle/>
          <a:p>
            <a:pPr algn="r" rtl="1"/>
            <a:r>
              <a:rPr lang="en-US" sz="1050" dirty="0">
                <a:solidFill>
                  <a:schemeClr val="bg1">
                    <a:lumMod val="50000"/>
                  </a:schemeClr>
                </a:solidFill>
                <a:latin typeface="Arial" panose="020B0604020202020204" pitchFamily="34" charset="0"/>
              </a:rPr>
              <a:t>19.</a:t>
            </a:r>
            <a:r>
              <a:rPr lang="en-US" sz="1050" dirty="0">
                <a:solidFill>
                  <a:schemeClr val="bg1">
                    <a:lumMod val="50000"/>
                  </a:schemeClr>
                </a:solidFill>
                <a:latin typeface="Open Sans" panose="020F0502020204030204" pitchFamily="34" charset="0"/>
                <a:hlinkClick r:id="rId4">
                  <a:extLst>
                    <a:ext uri="{A12FA001-AC4F-418D-AE19-62706E023703}">
                      <ahyp:hlinkClr xmlns:ahyp="http://schemas.microsoft.com/office/drawing/2018/hyperlinkcolor" val="tx"/>
                    </a:ext>
                  </a:extLst>
                </a:hlinkClick>
              </a:rPr>
              <a:t> </a:t>
            </a:r>
            <a:r>
              <a:rPr lang="en-US" sz="1050" i="0" u="none" strike="noStrike" baseline="0" dirty="0">
                <a:solidFill>
                  <a:schemeClr val="bg1">
                    <a:lumMod val="50000"/>
                  </a:schemeClr>
                </a:solidFill>
                <a:latin typeface="Times New Roman" panose="02020603050405020304" pitchFamily="18" charset="0"/>
              </a:rPr>
              <a:t>Syifa Syarifah Alamiyah </a:t>
            </a:r>
            <a:r>
              <a:rPr lang="en-US" sz="1050" dirty="0">
                <a:solidFill>
                  <a:schemeClr val="bg1">
                    <a:lumMod val="50000"/>
                  </a:schemeClr>
                </a:solidFill>
                <a:latin typeface="Open Sans" panose="020F0502020204030204" pitchFamily="34" charset="0"/>
              </a:rPr>
              <a:t>(2019)</a:t>
            </a:r>
            <a:r>
              <a:rPr lang="en-US" sz="1050" i="0" dirty="0">
                <a:solidFill>
                  <a:schemeClr val="bg1">
                    <a:lumMod val="50000"/>
                  </a:schemeClr>
                </a:solidFill>
                <a:effectLst/>
                <a:latin typeface="Open Sans" panose="020B0606030504020204" pitchFamily="34" charset="0"/>
              </a:rPr>
              <a:t> </a:t>
            </a:r>
            <a:r>
              <a:rPr lang="en-US" sz="1050" i="0" u="none" strike="noStrike" baseline="0" dirty="0">
                <a:solidFill>
                  <a:schemeClr val="bg1">
                    <a:lumMod val="50000"/>
                  </a:schemeClr>
                </a:solidFill>
                <a:latin typeface="Times New Roman,Bold"/>
              </a:rPr>
              <a:t>I Become More Confident’: Mother Use of Online </a:t>
            </a:r>
            <a:r>
              <a:rPr lang="en-US" sz="1050" dirty="0">
                <a:solidFill>
                  <a:schemeClr val="bg1">
                    <a:lumMod val="50000"/>
                  </a:schemeClr>
                </a:solidFill>
                <a:latin typeface="Times New Roman" panose="02020603050405020304" pitchFamily="18" charset="0"/>
              </a:rPr>
              <a:t>Platform for Parenting Information</a:t>
            </a:r>
            <a:endParaRPr lang="en-US" sz="1050" dirty="0">
              <a:solidFill>
                <a:schemeClr val="bg1">
                  <a:lumMod val="50000"/>
                </a:schemeClr>
              </a:solidFill>
              <a:latin typeface="Open Sans" panose="020B0606030504020204" pitchFamily="34" charset="0"/>
            </a:endParaRPr>
          </a:p>
        </p:txBody>
      </p:sp>
      <p:sp>
        <p:nvSpPr>
          <p:cNvPr id="10" name="תיבת טקסט 9">
            <a:extLst>
              <a:ext uri="{FF2B5EF4-FFF2-40B4-BE49-F238E27FC236}">
                <a16:creationId xmlns:a16="http://schemas.microsoft.com/office/drawing/2014/main" id="{F91D2B4B-382B-1B94-29C4-72D2D99E2512}"/>
              </a:ext>
            </a:extLst>
          </p:cNvPr>
          <p:cNvSpPr txBox="1"/>
          <p:nvPr/>
        </p:nvSpPr>
        <p:spPr>
          <a:xfrm>
            <a:off x="3028950" y="185575"/>
            <a:ext cx="582930" cy="253916"/>
          </a:xfrm>
          <a:prstGeom prst="rect">
            <a:avLst/>
          </a:prstGeom>
          <a:noFill/>
        </p:spPr>
        <p:txBody>
          <a:bodyPr wrap="square">
            <a:spAutoFit/>
          </a:bodyPr>
          <a:lstStyle/>
          <a:p>
            <a:r>
              <a:rPr lang="en-US" sz="1050" dirty="0"/>
              <a:t>19</a:t>
            </a:r>
            <a:endParaRPr lang="he-IL" sz="1050" dirty="0"/>
          </a:p>
        </p:txBody>
      </p:sp>
      <p:sp>
        <p:nvSpPr>
          <p:cNvPr id="8" name="מציין מיקום של כותרת תחתונה 1">
            <a:extLst>
              <a:ext uri="{FF2B5EF4-FFF2-40B4-BE49-F238E27FC236}">
                <a16:creationId xmlns:a16="http://schemas.microsoft.com/office/drawing/2014/main" id="{53A64C01-6161-56E1-5385-BC035CBC4F4A}"/>
              </a:ext>
            </a:extLst>
          </p:cNvPr>
          <p:cNvSpPr>
            <a:spLocks noGrp="1"/>
          </p:cNvSpPr>
          <p:nvPr>
            <p:ph type="ftr" sz="quarter" idx="11"/>
          </p:nvPr>
        </p:nvSpPr>
        <p:spPr>
          <a:xfrm>
            <a:off x="3028950" y="6371845"/>
            <a:ext cx="3086100" cy="365125"/>
          </a:xfrm>
        </p:spPr>
        <p:txBody>
          <a:bodyPr/>
          <a:lstStyle/>
          <a:p>
            <a:r>
              <a:rPr lang="he-IL" b="1" dirty="0">
                <a:solidFill>
                  <a:schemeClr val="tx1"/>
                </a:solidFill>
              </a:rPr>
              <a:t>אתר אינטרנט לאימהות חדשות במגזר הבדואי                      </a:t>
            </a:r>
            <a:r>
              <a:rPr lang="en-US" b="1" dirty="0">
                <a:solidFill>
                  <a:schemeClr val="tx1"/>
                </a:solidFill>
              </a:rPr>
              <a:t>Navon-13-2024-sem2</a:t>
            </a:r>
            <a:endParaRPr lang="he-IL" b="1" dirty="0">
              <a:solidFill>
                <a:schemeClr val="tx1"/>
              </a:solidFill>
            </a:endParaRPr>
          </a:p>
        </p:txBody>
      </p:sp>
      <p:sp>
        <p:nvSpPr>
          <p:cNvPr id="4" name="תיבת טקסט 3">
            <a:extLst>
              <a:ext uri="{FF2B5EF4-FFF2-40B4-BE49-F238E27FC236}">
                <a16:creationId xmlns:a16="http://schemas.microsoft.com/office/drawing/2014/main" id="{3EE4428F-4649-E9DF-B0B0-B243F8579043}"/>
              </a:ext>
            </a:extLst>
          </p:cNvPr>
          <p:cNvSpPr txBox="1"/>
          <p:nvPr/>
        </p:nvSpPr>
        <p:spPr>
          <a:xfrm>
            <a:off x="196947" y="3913957"/>
            <a:ext cx="8750106" cy="2308324"/>
          </a:xfrm>
          <a:prstGeom prst="rect">
            <a:avLst/>
          </a:prstGeom>
          <a:solidFill>
            <a:schemeClr val="accent3">
              <a:lumMod val="20000"/>
              <a:lumOff val="80000"/>
            </a:schemeClr>
          </a:solidFill>
        </p:spPr>
        <p:txBody>
          <a:bodyPr wrap="square" rtlCol="1">
            <a:spAutoFit/>
          </a:bodyPr>
          <a:lstStyle/>
          <a:p>
            <a:pPr marL="0" indent="0" algn="r" rtl="1">
              <a:buNone/>
            </a:pPr>
            <a:r>
              <a:rPr lang="he-IL" sz="1800" b="1" u="sng" dirty="0"/>
              <a:t>תרומות המאמר לפרויקט שלנו</a:t>
            </a:r>
          </a:p>
          <a:p>
            <a:pPr marL="0" indent="0" algn="r" rtl="1">
              <a:buNone/>
            </a:pPr>
            <a:r>
              <a:rPr lang="he-IL" sz="1800" dirty="0"/>
              <a:t>המאמר עוסק כיצד פלטפורמה מקוונת משפיע בצורה יותר טובה  בקבלת החלטות אצל האימהות החדשות.</a:t>
            </a:r>
          </a:p>
          <a:p>
            <a:pPr marL="0" indent="0" algn="r" rtl="1">
              <a:buNone/>
            </a:pPr>
            <a:r>
              <a:rPr lang="he-IL" sz="1800" dirty="0"/>
              <a:t>הפלטפורמה המשמשת את האימהות למציאת המידע משתנה. </a:t>
            </a:r>
          </a:p>
          <a:p>
            <a:pPr marL="0" indent="0" algn="r" rtl="1">
              <a:buNone/>
            </a:pPr>
            <a:r>
              <a:rPr lang="he-IL" sz="1800" dirty="0"/>
              <a:t>המידע המקוון והדיון המקוון הזה העצימו את האם כהורה, זה מגביר את המודעות לחשיבות הידע בהורות, להגביר את הביטחון הקשור למסע ההורות שלהם ולעזור לאם לעשות קבלת החלטות טובה יותר.</a:t>
            </a:r>
          </a:p>
          <a:p>
            <a:pPr marL="0" indent="0" algn="ctr" rtl="1">
              <a:buNone/>
            </a:pPr>
            <a:r>
              <a:rPr lang="he-IL" b="1" dirty="0"/>
              <a:t>לכן , יש חשיבות גדולה לאתר אותו נקים בפרויקט שלנו </a:t>
            </a:r>
          </a:p>
        </p:txBody>
      </p:sp>
    </p:spTree>
    <p:extLst>
      <p:ext uri="{BB962C8B-B14F-4D97-AF65-F5344CB8AC3E}">
        <p14:creationId xmlns:p14="http://schemas.microsoft.com/office/powerpoint/2010/main" val="508199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Rectangle 2"/>
          <p:cNvSpPr txBox="1">
            <a:spLocks noChangeArrowheads="1"/>
          </p:cNvSpPr>
          <p:nvPr/>
        </p:nvSpPr>
        <p:spPr bwMode="auto">
          <a:xfrm>
            <a:off x="2440744" y="90968"/>
            <a:ext cx="4262511" cy="594122"/>
          </a:xfrm>
          <a:prstGeom prst="rect">
            <a:avLst/>
          </a:prstGeom>
          <a:noFill/>
          <a:ln w="9525">
            <a:noFill/>
            <a:miter lim="800000"/>
            <a:headEnd/>
            <a:tailEnd/>
          </a:ln>
        </p:spPr>
        <p:txBody>
          <a:bodyPr lIns="54000" tIns="54000" rIns="54000" bIns="54000" anchor="ctr"/>
          <a:lstStyle/>
          <a:p>
            <a:pPr algn="ctr" rtl="1" eaLnBrk="1" hangingPunct="1">
              <a:defRPr/>
            </a:pPr>
            <a:r>
              <a:rPr lang="he-IL" sz="2400" b="1" u="sng" dirty="0">
                <a:latin typeface="Times New Roman" pitchFamily="18" charset="0"/>
              </a:rPr>
              <a:t>לוח זמנים- ביצוע מול תכנון</a:t>
            </a:r>
          </a:p>
        </p:txBody>
      </p:sp>
      <p:sp>
        <p:nvSpPr>
          <p:cNvPr id="2057" name="מציין מיקום של כותרת תחתונה 8"/>
          <p:cNvSpPr>
            <a:spLocks noGrp="1"/>
          </p:cNvSpPr>
          <p:nvPr>
            <p:ph type="ftr" sz="quarter" idx="11"/>
          </p:nvPr>
        </p:nvSpPr>
        <p:spPr>
          <a:xfrm>
            <a:off x="2844585" y="6340599"/>
            <a:ext cx="3858670" cy="342900"/>
          </a:xfrm>
          <a:noFill/>
        </p:spPr>
        <p:txBody>
          <a:bodyPr/>
          <a:lstStyle/>
          <a:p>
            <a:pPr rtl="1">
              <a:spcBef>
                <a:spcPct val="20000"/>
              </a:spcBef>
            </a:pPr>
            <a:r>
              <a:rPr lang="he-IL" b="1" dirty="0">
                <a:solidFill>
                  <a:schemeClr val="tx1"/>
                </a:solidFill>
              </a:rPr>
              <a:t>אתר אינטרנט לאימהות חדשות במגזר הבדואי                     </a:t>
            </a:r>
            <a:endParaRPr lang="en-US" b="1" dirty="0">
              <a:solidFill>
                <a:schemeClr val="tx1"/>
              </a:solidFill>
            </a:endParaRPr>
          </a:p>
          <a:p>
            <a:pPr rtl="1">
              <a:spcBef>
                <a:spcPct val="20000"/>
              </a:spcBef>
            </a:pPr>
            <a:r>
              <a:rPr lang="en-US" b="1" dirty="0">
                <a:solidFill>
                  <a:schemeClr val="tx1"/>
                </a:solidFill>
              </a:rPr>
              <a:t>Navon-13-2024-sem2</a:t>
            </a:r>
          </a:p>
        </p:txBody>
      </p:sp>
      <p:sp>
        <p:nvSpPr>
          <p:cNvPr id="2" name="מציין מיקום של מספר שקופית 1">
            <a:extLst>
              <a:ext uri="{FF2B5EF4-FFF2-40B4-BE49-F238E27FC236}">
                <a16:creationId xmlns:a16="http://schemas.microsoft.com/office/drawing/2014/main" id="{A18BB344-154C-548F-6C80-E0046AE1C9DE}"/>
              </a:ext>
            </a:extLst>
          </p:cNvPr>
          <p:cNvSpPr>
            <a:spLocks noGrp="1"/>
          </p:cNvSpPr>
          <p:nvPr>
            <p:ph type="sldNum" sz="quarter" idx="12"/>
          </p:nvPr>
        </p:nvSpPr>
        <p:spPr>
          <a:xfrm>
            <a:off x="121897" y="6300984"/>
            <a:ext cx="2057400" cy="365125"/>
          </a:xfrm>
        </p:spPr>
        <p:txBody>
          <a:bodyPr/>
          <a:lstStyle/>
          <a:p>
            <a:pPr algn="l"/>
            <a:fld id="{F406CD6C-EFBE-497B-B02F-71827CD8C8E4}" type="slidenum">
              <a:rPr lang="he-IL" smtClean="0"/>
              <a:pPr algn="l"/>
              <a:t>19</a:t>
            </a:fld>
            <a:endParaRPr lang="he-IL"/>
          </a:p>
        </p:txBody>
      </p:sp>
      <p:pic>
        <p:nvPicPr>
          <p:cNvPr id="8" name="תמונה 7">
            <a:extLst>
              <a:ext uri="{FF2B5EF4-FFF2-40B4-BE49-F238E27FC236}">
                <a16:creationId xmlns:a16="http://schemas.microsoft.com/office/drawing/2014/main" id="{5A654CA8-B542-4D96-B8D1-1FAA22B72DCB}"/>
              </a:ext>
            </a:extLst>
          </p:cNvPr>
          <p:cNvPicPr/>
          <p:nvPr/>
        </p:nvPicPr>
        <p:blipFill>
          <a:blip r:embed="rId3">
            <a:extLst>
              <a:ext uri="{28A0092B-C50C-407E-A947-70E740481C1C}">
                <a14:useLocalDpi xmlns:a14="http://schemas.microsoft.com/office/drawing/2010/main" val="0"/>
              </a:ext>
            </a:extLst>
          </a:blip>
          <a:stretch>
            <a:fillRect/>
          </a:stretch>
        </p:blipFill>
        <p:spPr>
          <a:xfrm>
            <a:off x="239151" y="1046285"/>
            <a:ext cx="8623495" cy="5005803"/>
          </a:xfrm>
          <a:prstGeom prst="rect">
            <a:avLst/>
          </a:prstGeom>
        </p:spPr>
      </p:pic>
      <p:sp>
        <p:nvSpPr>
          <p:cNvPr id="4" name="חץ: שמאלה 3">
            <a:extLst>
              <a:ext uri="{FF2B5EF4-FFF2-40B4-BE49-F238E27FC236}">
                <a16:creationId xmlns:a16="http://schemas.microsoft.com/office/drawing/2014/main" id="{BBE8B65E-0340-4488-5581-AAD078DF5808}"/>
              </a:ext>
            </a:extLst>
          </p:cNvPr>
          <p:cNvSpPr/>
          <p:nvPr/>
        </p:nvSpPr>
        <p:spPr>
          <a:xfrm>
            <a:off x="8525021" y="3235921"/>
            <a:ext cx="618979" cy="386158"/>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1" anchor="ctr"/>
          <a:lstStyle/>
          <a:p>
            <a:pPr algn="ctr"/>
            <a:endParaRPr lang="he-IL"/>
          </a:p>
        </p:txBody>
      </p:sp>
      <p:pic>
        <p:nvPicPr>
          <p:cNvPr id="9" name="תמונה 8">
            <a:extLst>
              <a:ext uri="{FF2B5EF4-FFF2-40B4-BE49-F238E27FC236}">
                <a16:creationId xmlns:a16="http://schemas.microsoft.com/office/drawing/2014/main" id="{B58F72B5-8DE0-49EB-9AAB-9E2F56D9C7EB}"/>
              </a:ext>
            </a:extLst>
          </p:cNvPr>
          <p:cNvPicPr>
            <a:picLocks noChangeAspect="1"/>
          </p:cNvPicPr>
          <p:nvPr/>
        </p:nvPicPr>
        <p:blipFill>
          <a:blip r:embed="rId4"/>
          <a:stretch>
            <a:fillRect/>
          </a:stretch>
        </p:blipFill>
        <p:spPr>
          <a:xfrm>
            <a:off x="8165794" y="1"/>
            <a:ext cx="978206" cy="782664"/>
          </a:xfrm>
          <a:prstGeom prst="rect">
            <a:avLst/>
          </a:prstGeom>
        </p:spPr>
      </p:pic>
      <p:pic>
        <p:nvPicPr>
          <p:cNvPr id="10" name="תמונה 9">
            <a:extLst>
              <a:ext uri="{FF2B5EF4-FFF2-40B4-BE49-F238E27FC236}">
                <a16:creationId xmlns:a16="http://schemas.microsoft.com/office/drawing/2014/main" id="{450495DE-B28D-4790-882F-FB81762952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11485513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ציין מיקום של כותרת תחתונה 3">
            <a:extLst>
              <a:ext uri="{FF2B5EF4-FFF2-40B4-BE49-F238E27FC236}">
                <a16:creationId xmlns:a16="http://schemas.microsoft.com/office/drawing/2014/main" id="{349E3E42-3F9B-FD1D-9632-F052F8609A26}"/>
              </a:ext>
            </a:extLst>
          </p:cNvPr>
          <p:cNvSpPr>
            <a:spLocks noGrp="1"/>
          </p:cNvSpPr>
          <p:nvPr>
            <p:ph type="ftr" sz="quarter" idx="11"/>
          </p:nvPr>
        </p:nvSpPr>
        <p:spPr/>
        <p:txBody>
          <a:bodyPr/>
          <a:lstStyle/>
          <a:p>
            <a:r>
              <a:rPr lang="he-IL" b="1" dirty="0">
                <a:solidFill>
                  <a:schemeClr val="tx1"/>
                </a:solidFill>
              </a:rPr>
              <a:t>אתר אינטרנט לאימהות חדשות במגזר הבדואי                      </a:t>
            </a:r>
            <a:r>
              <a:rPr lang="en-US" b="1" dirty="0">
                <a:solidFill>
                  <a:schemeClr val="tx1"/>
                </a:solidFill>
              </a:rPr>
              <a:t>Navon-13-2024-sem2</a:t>
            </a:r>
            <a:endParaRPr lang="he-IL" b="1" dirty="0">
              <a:solidFill>
                <a:schemeClr val="tx1"/>
              </a:solidFill>
            </a:endParaRPr>
          </a:p>
        </p:txBody>
      </p:sp>
      <p:pic>
        <p:nvPicPr>
          <p:cNvPr id="6" name="תמונה 5">
            <a:extLst>
              <a:ext uri="{FF2B5EF4-FFF2-40B4-BE49-F238E27FC236}">
                <a16:creationId xmlns:a16="http://schemas.microsoft.com/office/drawing/2014/main" id="{9559C016-DFCB-43C1-ACB9-099EDBE6240D}"/>
              </a:ext>
            </a:extLst>
          </p:cNvPr>
          <p:cNvPicPr>
            <a:picLocks noChangeAspect="1"/>
          </p:cNvPicPr>
          <p:nvPr/>
        </p:nvPicPr>
        <p:blipFill>
          <a:blip r:embed="rId2"/>
          <a:stretch>
            <a:fillRect/>
          </a:stretch>
        </p:blipFill>
        <p:spPr>
          <a:xfrm>
            <a:off x="8165794" y="1"/>
            <a:ext cx="978206" cy="782664"/>
          </a:xfrm>
          <a:prstGeom prst="rect">
            <a:avLst/>
          </a:prstGeom>
        </p:spPr>
      </p:pic>
      <p:pic>
        <p:nvPicPr>
          <p:cNvPr id="7" name="תמונה 6">
            <a:extLst>
              <a:ext uri="{FF2B5EF4-FFF2-40B4-BE49-F238E27FC236}">
                <a16:creationId xmlns:a16="http://schemas.microsoft.com/office/drawing/2014/main" id="{EFAB98B5-1249-42BC-AE8C-BC13C95623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8" name="Rectangle 2">
            <a:extLst>
              <a:ext uri="{FF2B5EF4-FFF2-40B4-BE49-F238E27FC236}">
                <a16:creationId xmlns:a16="http://schemas.microsoft.com/office/drawing/2014/main" id="{D2AC5ACF-D65D-74B1-DF3F-A4BFDDD1428E}"/>
              </a:ext>
            </a:extLst>
          </p:cNvPr>
          <p:cNvSpPr txBox="1">
            <a:spLocks noChangeArrowheads="1"/>
          </p:cNvSpPr>
          <p:nvPr/>
        </p:nvSpPr>
        <p:spPr bwMode="auto">
          <a:xfrm>
            <a:off x="2590869" y="94269"/>
            <a:ext cx="4262511" cy="594122"/>
          </a:xfrm>
          <a:prstGeom prst="rect">
            <a:avLst/>
          </a:prstGeom>
          <a:noFill/>
          <a:ln w="9525">
            <a:noFill/>
            <a:miter lim="800000"/>
            <a:headEnd/>
            <a:tailEnd/>
          </a:ln>
        </p:spPr>
        <p:txBody>
          <a:bodyPr lIns="54000" tIns="54000" rIns="54000" bIns="54000" anchor="ctr"/>
          <a:lstStyle/>
          <a:p>
            <a:pPr algn="ctr" rtl="1" eaLnBrk="1" hangingPunct="1">
              <a:defRPr/>
            </a:pPr>
            <a:r>
              <a:rPr lang="he-IL" sz="2400" b="1" u="sng" dirty="0">
                <a:latin typeface="Times New Roman" pitchFamily="18" charset="0"/>
              </a:rPr>
              <a:t>ביבליוגרפיה</a:t>
            </a:r>
          </a:p>
        </p:txBody>
      </p:sp>
      <p:sp>
        <p:nvSpPr>
          <p:cNvPr id="11" name="TextBox 2">
            <a:extLst>
              <a:ext uri="{FF2B5EF4-FFF2-40B4-BE49-F238E27FC236}">
                <a16:creationId xmlns:a16="http://schemas.microsoft.com/office/drawing/2014/main" id="{D7FA7111-A9E6-8A2D-AD99-5A012BD2EB90}"/>
              </a:ext>
            </a:extLst>
          </p:cNvPr>
          <p:cNvSpPr txBox="1"/>
          <p:nvPr/>
        </p:nvSpPr>
        <p:spPr>
          <a:xfrm>
            <a:off x="179512" y="703889"/>
            <a:ext cx="8784976" cy="5879045"/>
          </a:xfrm>
          <a:prstGeom prst="rect">
            <a:avLst/>
          </a:prstGeom>
          <a:noFill/>
        </p:spPr>
        <p:txBody>
          <a:bodyPr wrap="square" rtlCol="1">
            <a:spAutoFit/>
          </a:bodyPr>
          <a:lstStyle/>
          <a:p>
            <a:pPr algn="r" rtl="1">
              <a:lnSpc>
                <a:spcPct val="150000"/>
              </a:lnSpc>
            </a:pPr>
            <a:r>
              <a:rPr lang="he-IL" b="1" dirty="0">
                <a:latin typeface="Arial" panose="020B0604020202020204" pitchFamily="34" charset="0"/>
                <a:cs typeface="Arial" panose="020B0604020202020204" pitchFamily="34" charset="0"/>
              </a:rPr>
              <a:t>מקורות בעברית:</a:t>
            </a:r>
            <a:endParaRPr lang="he-IL" dirty="0">
              <a:latin typeface="Arial" panose="020B0604020202020204" pitchFamily="34" charset="0"/>
              <a:cs typeface="Arial" panose="020B0604020202020204" pitchFamily="34" charset="0"/>
            </a:endParaRPr>
          </a:p>
          <a:p>
            <a:pPr algn="r" rtl="1"/>
            <a:endParaRPr lang="he-IL" sz="1600" dirty="0">
              <a:latin typeface="Arial" panose="020B0604020202020204" pitchFamily="34" charset="0"/>
              <a:cs typeface="Arial" panose="020B0604020202020204" pitchFamily="34" charset="0"/>
            </a:endParaRPr>
          </a:p>
          <a:p>
            <a:pPr algn="r" rtl="1"/>
            <a:endParaRPr lang="he-IL" sz="1600" dirty="0">
              <a:latin typeface="Arial" panose="020B0604020202020204" pitchFamily="34" charset="0"/>
              <a:cs typeface="Arial" panose="020B0604020202020204" pitchFamily="34" charset="0"/>
            </a:endParaRPr>
          </a:p>
          <a:p>
            <a:pPr algn="r" rtl="1"/>
            <a:endParaRPr lang="he-IL" sz="1600" dirty="0">
              <a:latin typeface="Arial" panose="020B0604020202020204" pitchFamily="34" charset="0"/>
              <a:cs typeface="Arial" panose="020B0604020202020204" pitchFamily="34" charset="0"/>
            </a:endParaRPr>
          </a:p>
          <a:p>
            <a:pPr algn="r" rtl="1"/>
            <a:endParaRPr lang="he-IL" sz="1600" dirty="0">
              <a:latin typeface="Arial" panose="020B0604020202020204" pitchFamily="34" charset="0"/>
              <a:cs typeface="Arial" panose="020B0604020202020204" pitchFamily="34" charset="0"/>
            </a:endParaRPr>
          </a:p>
          <a:p>
            <a:pPr algn="r" rtl="1"/>
            <a:endParaRPr lang="he-IL" sz="1600" dirty="0">
              <a:latin typeface="Arial" panose="020B0604020202020204" pitchFamily="34" charset="0"/>
              <a:cs typeface="Arial" panose="020B0604020202020204" pitchFamily="34" charset="0"/>
            </a:endParaRPr>
          </a:p>
          <a:p>
            <a:pPr algn="r" rtl="1"/>
            <a:endParaRPr lang="he-IL" sz="1600" dirty="0">
              <a:latin typeface="Arial" panose="020B0604020202020204" pitchFamily="34" charset="0"/>
              <a:cs typeface="Arial" panose="020B0604020202020204" pitchFamily="34" charset="0"/>
            </a:endParaRPr>
          </a:p>
          <a:p>
            <a:pPr algn="r" rtl="1"/>
            <a:endParaRPr lang="he-IL" sz="1600" dirty="0">
              <a:latin typeface="Arial" panose="020B0604020202020204" pitchFamily="34" charset="0"/>
              <a:cs typeface="Arial" panose="020B0604020202020204" pitchFamily="34" charset="0"/>
            </a:endParaRPr>
          </a:p>
          <a:p>
            <a:pPr algn="r" rtl="1"/>
            <a:endParaRPr lang="he-IL" sz="1600" dirty="0">
              <a:latin typeface="Arial" panose="020B0604020202020204" pitchFamily="34" charset="0"/>
              <a:cs typeface="Arial" panose="020B0604020202020204" pitchFamily="34" charset="0"/>
            </a:endParaRPr>
          </a:p>
          <a:p>
            <a:pPr algn="r" rtl="1"/>
            <a:endParaRPr lang="he-IL" sz="1600" dirty="0">
              <a:latin typeface="Arial" panose="020B0604020202020204" pitchFamily="34" charset="0"/>
              <a:cs typeface="Arial" panose="020B0604020202020204" pitchFamily="34" charset="0"/>
            </a:endParaRPr>
          </a:p>
          <a:p>
            <a:pPr algn="r" rtl="1"/>
            <a:endParaRPr lang="he-IL" sz="1600" dirty="0">
              <a:latin typeface="Arial" panose="020B0604020202020204" pitchFamily="34" charset="0"/>
              <a:cs typeface="Arial" panose="020B0604020202020204" pitchFamily="34" charset="0"/>
            </a:endParaRPr>
          </a:p>
          <a:p>
            <a:pPr algn="r" rtl="1"/>
            <a:endParaRPr lang="he-IL" sz="1600" dirty="0">
              <a:latin typeface="Arial" panose="020B0604020202020204" pitchFamily="34" charset="0"/>
              <a:cs typeface="Arial" panose="020B0604020202020204" pitchFamily="34" charset="0"/>
            </a:endParaRPr>
          </a:p>
          <a:p>
            <a:pPr algn="r" rtl="1"/>
            <a:endParaRPr lang="he-IL" sz="1600" dirty="0">
              <a:latin typeface="Arial" panose="020B0604020202020204" pitchFamily="34" charset="0"/>
              <a:cs typeface="Arial" panose="020B0604020202020204" pitchFamily="34" charset="0"/>
            </a:endParaRPr>
          </a:p>
          <a:p>
            <a:pPr algn="r" rtl="1"/>
            <a:endParaRPr lang="he-IL" sz="1600" dirty="0">
              <a:latin typeface="Arial" panose="020B0604020202020204" pitchFamily="34" charset="0"/>
              <a:cs typeface="Arial" panose="020B0604020202020204" pitchFamily="34" charset="0"/>
            </a:endParaRPr>
          </a:p>
          <a:p>
            <a:pPr algn="r" rtl="1"/>
            <a:endParaRPr lang="he-IL" sz="1600" dirty="0">
              <a:latin typeface="Arial" panose="020B0604020202020204" pitchFamily="34" charset="0"/>
              <a:cs typeface="Arial" panose="020B0604020202020204" pitchFamily="34" charset="0"/>
            </a:endParaRPr>
          </a:p>
          <a:p>
            <a:pPr algn="r" rtl="1"/>
            <a:endParaRPr lang="he-IL" sz="1600" dirty="0">
              <a:latin typeface="Arial" panose="020B0604020202020204" pitchFamily="34" charset="0"/>
              <a:cs typeface="Arial" panose="020B0604020202020204" pitchFamily="34" charset="0"/>
            </a:endParaRPr>
          </a:p>
          <a:p>
            <a:pPr algn="r" rtl="1"/>
            <a:endParaRPr lang="he-IL" sz="1600" dirty="0">
              <a:latin typeface="Arial" panose="020B0604020202020204" pitchFamily="34" charset="0"/>
              <a:cs typeface="Arial" panose="020B0604020202020204" pitchFamily="34" charset="0"/>
            </a:endParaRPr>
          </a:p>
          <a:p>
            <a:pPr algn="r" rtl="1">
              <a:lnSpc>
                <a:spcPct val="150000"/>
              </a:lnSpc>
            </a:pPr>
            <a:endParaRPr lang="he-IL" sz="1600" dirty="0">
              <a:latin typeface="Arial" panose="020B0604020202020204" pitchFamily="34" charset="0"/>
              <a:cs typeface="Arial" panose="020B0604020202020204" pitchFamily="34" charset="0"/>
            </a:endParaRPr>
          </a:p>
          <a:p>
            <a:pPr algn="r" rtl="1">
              <a:lnSpc>
                <a:spcPct val="150000"/>
              </a:lnSpc>
            </a:pPr>
            <a:endParaRPr lang="he-IL" sz="1600" dirty="0">
              <a:latin typeface="Arial" panose="020B0604020202020204" pitchFamily="34" charset="0"/>
              <a:cs typeface="Arial" panose="020B0604020202020204" pitchFamily="34" charset="0"/>
            </a:endParaRPr>
          </a:p>
          <a:p>
            <a:pPr algn="r" rtl="1">
              <a:lnSpc>
                <a:spcPct val="150000"/>
              </a:lnSpc>
            </a:pPr>
            <a:endParaRPr lang="he-IL" sz="1600" dirty="0">
              <a:latin typeface="Arial" panose="020B0604020202020204" pitchFamily="34" charset="0"/>
              <a:cs typeface="Arial" panose="020B0604020202020204" pitchFamily="34" charset="0"/>
            </a:endParaRPr>
          </a:p>
          <a:p>
            <a:pPr algn="r" rtl="1">
              <a:lnSpc>
                <a:spcPct val="150000"/>
              </a:lnSpc>
            </a:pPr>
            <a:endParaRPr lang="he-IL" sz="1600" dirty="0">
              <a:latin typeface="Arial" panose="020B0604020202020204" pitchFamily="34" charset="0"/>
              <a:cs typeface="Arial" panose="020B0604020202020204" pitchFamily="34" charset="0"/>
            </a:endParaRPr>
          </a:p>
        </p:txBody>
      </p:sp>
      <p:sp>
        <p:nvSpPr>
          <p:cNvPr id="15" name="מציין מיקום תוכן 2">
            <a:extLst>
              <a:ext uri="{FF2B5EF4-FFF2-40B4-BE49-F238E27FC236}">
                <a16:creationId xmlns:a16="http://schemas.microsoft.com/office/drawing/2014/main" id="{EA247243-3223-5D84-8ABC-BD2303EA28FA}"/>
              </a:ext>
            </a:extLst>
          </p:cNvPr>
          <p:cNvSpPr txBox="1">
            <a:spLocks/>
          </p:cNvSpPr>
          <p:nvPr/>
        </p:nvSpPr>
        <p:spPr>
          <a:xfrm>
            <a:off x="354842" y="1157002"/>
            <a:ext cx="8560558" cy="4997109"/>
          </a:xfrm>
          <a:prstGeom prst="rect">
            <a:avLst/>
          </a:prstGeom>
        </p:spPr>
        <p:txBody>
          <a:bodyPr vert="horz" lIns="91440" tIns="45720" rIns="91440" bIns="45720" rtlCol="0">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he-IL" sz="1400" dirty="0" err="1"/>
              <a:t>אוריאנה</a:t>
            </a:r>
            <a:r>
              <a:rPr lang="he-IL" sz="1400" dirty="0"/>
              <a:t> א</a:t>
            </a:r>
            <a:r>
              <a:rPr lang="en-US" sz="1400" dirty="0">
                <a:latin typeface="Calibri" panose="020F0502020204030204" pitchFamily="34" charset="0"/>
                <a:ea typeface="Calibri" panose="020F0502020204030204" pitchFamily="34" charset="0"/>
              </a:rPr>
              <a:t> ' </a:t>
            </a:r>
            <a:r>
              <a:rPr lang="he-IL" sz="1400" dirty="0">
                <a:latin typeface="Calibri" panose="020F0502020204030204" pitchFamily="34" charset="0"/>
                <a:ea typeface="Calibri" panose="020F0502020204030204" pitchFamily="34" charset="0"/>
              </a:rPr>
              <a:t> , (2023) "</a:t>
            </a:r>
            <a:r>
              <a:rPr lang="he-IL" sz="1400" dirty="0"/>
              <a:t>נתונים על אוכלוסיית הבדואים בנגב " מרכז המחקר והמדעי, נדלה בתאריך(06.02.2024). נדלה מתוך :</a:t>
            </a:r>
            <a:r>
              <a:rPr lang="he-IL" sz="1400" dirty="0">
                <a:hlinkClick r:id="rId4"/>
              </a:rPr>
              <a:t> קישור למאמר</a:t>
            </a:r>
            <a:endParaRPr lang="he-IL" sz="1400" dirty="0"/>
          </a:p>
          <a:p>
            <a:pPr marL="0" indent="0">
              <a:lnSpc>
                <a:spcPct val="100000"/>
              </a:lnSpc>
              <a:buNone/>
            </a:pPr>
            <a:r>
              <a:rPr lang="he-IL" sz="1400" dirty="0" err="1">
                <a:latin typeface="Calibri" panose="020F0502020204030204" pitchFamily="34" charset="0"/>
                <a:ea typeface="Calibri" panose="020F0502020204030204" pitchFamily="34" charset="0"/>
              </a:rPr>
              <a:t>איריק</a:t>
            </a:r>
            <a:r>
              <a:rPr lang="he-IL" sz="1400" dirty="0">
                <a:latin typeface="Calibri" panose="020F0502020204030204" pitchFamily="34" charset="0"/>
                <a:ea typeface="Calibri" panose="020F0502020204030204" pitchFamily="34" charset="0"/>
              </a:rPr>
              <a:t> ,ר</a:t>
            </a:r>
            <a:r>
              <a:rPr lang="en-US" sz="1400" dirty="0">
                <a:latin typeface="Calibri" panose="020F0502020204030204" pitchFamily="34" charset="0"/>
                <a:ea typeface="Calibri" panose="020F0502020204030204" pitchFamily="34" charset="0"/>
              </a:rPr>
              <a:t>'</a:t>
            </a:r>
            <a:r>
              <a:rPr lang="he-IL" sz="1400" dirty="0">
                <a:latin typeface="Calibri" panose="020F0502020204030204" pitchFamily="34" charset="0"/>
                <a:ea typeface="Calibri" panose="020F0502020204030204" pitchFamily="34" charset="0"/>
              </a:rPr>
              <a:t> , ד"ר </a:t>
            </a:r>
            <a:r>
              <a:rPr lang="he-IL" sz="1400" dirty="0" err="1">
                <a:latin typeface="Calibri" panose="020F0502020204030204" pitchFamily="34" charset="0"/>
                <a:ea typeface="Calibri" panose="020F0502020204030204" pitchFamily="34" charset="0"/>
              </a:rPr>
              <a:t>תאבת,א</a:t>
            </a:r>
            <a:r>
              <a:rPr lang="en-US" sz="1400" dirty="0">
                <a:latin typeface="Calibri" panose="020F0502020204030204" pitchFamily="34" charset="0"/>
                <a:ea typeface="Calibri" panose="020F0502020204030204" pitchFamily="34" charset="0"/>
              </a:rPr>
              <a:t>'</a:t>
            </a:r>
            <a:r>
              <a:rPr lang="he-IL" sz="1400" dirty="0">
                <a:latin typeface="Calibri" panose="020F0502020204030204" pitchFamily="34" charset="0"/>
                <a:ea typeface="Calibri" panose="020F0502020204030204" pitchFamily="34" charset="0"/>
              </a:rPr>
              <a:t> (2011) </a:t>
            </a:r>
            <a:r>
              <a:rPr lang="he-IL" sz="1400" dirty="0"/>
              <a:t>"החברה הבדואית בנגב" ,יוזמות אברהם ,</a:t>
            </a:r>
            <a:r>
              <a:rPr lang="he-IL" sz="1400" dirty="0">
                <a:latin typeface="Calibri" panose="020F0502020204030204" pitchFamily="34" charset="0"/>
                <a:ea typeface="Calibri" panose="020F0502020204030204" pitchFamily="34" charset="0"/>
              </a:rPr>
              <a:t> . נדלה בתאריך (06.02.2024)</a:t>
            </a:r>
            <a:r>
              <a:rPr lang="he-IL" sz="1400" dirty="0"/>
              <a:t> נדלה מתוך :</a:t>
            </a:r>
            <a:r>
              <a:rPr lang="he-IL" sz="1400" dirty="0">
                <a:hlinkClick r:id="rId5"/>
              </a:rPr>
              <a:t>קישור למאמר</a:t>
            </a:r>
            <a:endParaRPr lang="he-IL" sz="1400" dirty="0"/>
          </a:p>
          <a:p>
            <a:pPr marL="0" indent="0">
              <a:lnSpc>
                <a:spcPct val="100000"/>
              </a:lnSpc>
              <a:buNone/>
            </a:pPr>
            <a:r>
              <a:rPr lang="he-IL" sz="1400" dirty="0"/>
              <a:t>רוני ה</a:t>
            </a:r>
            <a:r>
              <a:rPr lang="en-US" sz="1400" dirty="0">
                <a:latin typeface="Calibri" panose="020F0502020204030204" pitchFamily="34" charset="0"/>
                <a:ea typeface="Calibri" panose="020F0502020204030204" pitchFamily="34" charset="0"/>
              </a:rPr>
              <a:t> '</a:t>
            </a:r>
            <a:r>
              <a:rPr lang="he-IL" sz="1400" dirty="0">
                <a:latin typeface="Calibri" panose="020F0502020204030204" pitchFamily="34" charset="0"/>
                <a:ea typeface="Calibri" panose="020F0502020204030204" pitchFamily="34" charset="0"/>
              </a:rPr>
              <a:t> ,(2022) "נישואי קטינות : ריכוז נתונים "</a:t>
            </a:r>
            <a:r>
              <a:rPr lang="he-IL" sz="1400" dirty="0"/>
              <a:t>,מרכז המחקר והמידע של הכנסת, </a:t>
            </a:r>
            <a:r>
              <a:rPr lang="he-IL" sz="1400" dirty="0">
                <a:latin typeface="Calibri" panose="020F0502020204030204" pitchFamily="34" charset="0"/>
                <a:ea typeface="Calibri" panose="020F0502020204030204" pitchFamily="34" charset="0"/>
              </a:rPr>
              <a:t>נדלה בתאריך (06.02.2024)</a:t>
            </a:r>
            <a:r>
              <a:rPr lang="he-IL" sz="1400" dirty="0"/>
              <a:t> נדלה מתוך :</a:t>
            </a:r>
            <a:r>
              <a:rPr lang="he-IL" sz="1400" dirty="0">
                <a:hlinkClick r:id="rId6"/>
              </a:rPr>
              <a:t> קישור למאמר</a:t>
            </a:r>
            <a:endParaRPr lang="he-IL" sz="1400" dirty="0"/>
          </a:p>
          <a:p>
            <a:pPr marL="0" indent="0">
              <a:lnSpc>
                <a:spcPct val="100000"/>
              </a:lnSpc>
              <a:buNone/>
            </a:pPr>
            <a:r>
              <a:rPr lang="he-IL" sz="1400" dirty="0"/>
              <a:t>רשימת מחברים , (2008) , "מצב הבריאות של תינוקות וילדים בדואים עד גיל 6 שנים ביישובי קבע ובכפרים הבלתי מוכרים בנגב", המרכז הלאומי לבקרת מחלות, נדלה בתאריך :(</a:t>
            </a:r>
            <a:r>
              <a:rPr lang="he-IL" sz="1400" dirty="0">
                <a:latin typeface="Calibri" panose="020F0502020204030204" pitchFamily="34" charset="0"/>
                <a:ea typeface="Calibri" panose="020F0502020204030204" pitchFamily="34" charset="0"/>
              </a:rPr>
              <a:t>06.02.2024</a:t>
            </a:r>
            <a:r>
              <a:rPr lang="he-IL" sz="1400" dirty="0"/>
              <a:t>). נדלה מתוך:-</a:t>
            </a:r>
            <a:r>
              <a:rPr lang="he-IL" sz="1400" dirty="0">
                <a:hlinkClick r:id="rId7"/>
              </a:rPr>
              <a:t>קישור למאמר</a:t>
            </a:r>
            <a:endParaRPr lang="he-IL" sz="1400" dirty="0"/>
          </a:p>
          <a:p>
            <a:pPr marL="0" indent="0">
              <a:lnSpc>
                <a:spcPct val="100000"/>
              </a:lnSpc>
              <a:buNone/>
            </a:pPr>
            <a:r>
              <a:rPr lang="he-IL" sz="1400" dirty="0"/>
              <a:t>(2020) , "כל האמת על הכפרים הלא מוכרים בנגב- ומאבקם לשוויון", סיכוי-</a:t>
            </a:r>
            <a:r>
              <a:rPr lang="he-IL" sz="1400" dirty="0" err="1"/>
              <a:t>אופוק</a:t>
            </a:r>
            <a:r>
              <a:rPr lang="he-IL" sz="1400" dirty="0"/>
              <a:t> לשוויון ושותפות(</a:t>
            </a:r>
            <a:r>
              <a:rPr lang="he-IL" sz="1400" dirty="0" err="1"/>
              <a:t>ע"ר</a:t>
            </a:r>
            <a:r>
              <a:rPr lang="he-IL" sz="1400" dirty="0"/>
              <a:t>) ,נדלה בתאריך (</a:t>
            </a:r>
            <a:r>
              <a:rPr lang="he-IL" sz="1400" dirty="0">
                <a:latin typeface="Calibri" panose="020F0502020204030204" pitchFamily="34" charset="0"/>
                <a:ea typeface="Calibri" panose="020F0502020204030204" pitchFamily="34" charset="0"/>
              </a:rPr>
              <a:t>06.02.2024</a:t>
            </a:r>
            <a:r>
              <a:rPr lang="he-IL" sz="1400" dirty="0"/>
              <a:t>) נדלה מתוך </a:t>
            </a:r>
            <a:r>
              <a:rPr lang="he-IL" sz="1400" dirty="0">
                <a:hlinkClick r:id="rId8"/>
              </a:rPr>
              <a:t>קישור למאמר</a:t>
            </a:r>
            <a:endParaRPr lang="he-IL" sz="1400" dirty="0"/>
          </a:p>
          <a:p>
            <a:pPr marL="0" indent="0">
              <a:buNone/>
            </a:pPr>
            <a:r>
              <a:rPr lang="he-IL" sz="1400" dirty="0"/>
              <a:t>"דיכאון אחרי לידה ובמהלך ההיריון-מידע לאישה ההרה, ליולדות ולבני משפחתה" , משרד הבריאות. </a:t>
            </a:r>
            <a:r>
              <a:rPr lang="he-IL" sz="1400" dirty="0">
                <a:latin typeface="Calibri" panose="020F0502020204030204" pitchFamily="34" charset="0"/>
                <a:ea typeface="Calibri" panose="020F0502020204030204" pitchFamily="34" charset="0"/>
              </a:rPr>
              <a:t>נדלה בתאריך (06.02.2024)</a:t>
            </a:r>
            <a:r>
              <a:rPr lang="he-IL" sz="1400" dirty="0"/>
              <a:t>  נדלה מתוך :-</a:t>
            </a:r>
            <a:r>
              <a:rPr lang="he-IL" sz="1400" dirty="0">
                <a:hlinkClick r:id="rId9"/>
              </a:rPr>
              <a:t> קישור למאמר</a:t>
            </a:r>
            <a:endParaRPr lang="he-IL" sz="1400" dirty="0"/>
          </a:p>
          <a:p>
            <a:pPr marL="0" indent="0" algn="r" rtl="1">
              <a:buNone/>
            </a:pPr>
            <a:r>
              <a:rPr lang="he-IL" sz="1400" dirty="0">
                <a:latin typeface="Arial" panose="020B0604020202020204" pitchFamily="34" charset="0"/>
                <a:cs typeface="Arial" panose="020B0604020202020204" pitchFamily="34" charset="0"/>
              </a:rPr>
              <a:t>שובל, פ. (2017) תכנון, ניתוח ועיצוב מערכות מידע. האוניברסיטה הפתוחה.</a:t>
            </a:r>
          </a:p>
          <a:p>
            <a:pPr marL="0" indent="0" algn="r" rtl="1">
              <a:buNone/>
            </a:pPr>
            <a:r>
              <a:rPr lang="he-IL" sz="1400" dirty="0">
                <a:latin typeface="Arial" panose="020B0604020202020204" pitchFamily="34" charset="0"/>
                <a:cs typeface="Arial" panose="020B0604020202020204" pitchFamily="34" charset="0"/>
              </a:rPr>
              <a:t>שרגא, ש. , </a:t>
            </a:r>
            <a:r>
              <a:rPr lang="he-IL" sz="1400" dirty="0" err="1">
                <a:latin typeface="Arial" panose="020B0604020202020204" pitchFamily="34" charset="0"/>
                <a:cs typeface="Arial" panose="020B0604020202020204" pitchFamily="34" charset="0"/>
              </a:rPr>
              <a:t>רובינוביץ</a:t>
            </a:r>
            <a:r>
              <a:rPr lang="he-IL" sz="1400" dirty="0">
                <a:latin typeface="Arial" panose="020B0604020202020204" pitchFamily="34" charset="0"/>
                <a:cs typeface="Arial" panose="020B0604020202020204" pitchFamily="34" charset="0"/>
              </a:rPr>
              <a:t>, י. (2012) מערכות ייצור משולבות מחשב. האוניברסיטה הפתוחה.</a:t>
            </a:r>
            <a:endParaRPr lang="he-IL" sz="1050" dirty="0"/>
          </a:p>
        </p:txBody>
      </p:sp>
    </p:spTree>
    <p:extLst>
      <p:ext uri="{BB962C8B-B14F-4D97-AF65-F5344CB8AC3E}">
        <p14:creationId xmlns:p14="http://schemas.microsoft.com/office/powerpoint/2010/main" val="2352146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ציין מיקום של כותרת תחתונה 3">
            <a:extLst>
              <a:ext uri="{FF2B5EF4-FFF2-40B4-BE49-F238E27FC236}">
                <a16:creationId xmlns:a16="http://schemas.microsoft.com/office/drawing/2014/main" id="{BA592DEC-65B0-07BE-DF1A-60DA12DDEBF3}"/>
              </a:ext>
            </a:extLst>
          </p:cNvPr>
          <p:cNvSpPr>
            <a:spLocks noGrp="1"/>
          </p:cNvSpPr>
          <p:nvPr>
            <p:ph type="ftr" sz="quarter" idx="11"/>
          </p:nvPr>
        </p:nvSpPr>
        <p:spPr/>
        <p:txBody>
          <a:bodyPr/>
          <a:lstStyle/>
          <a:p>
            <a:r>
              <a:rPr lang="he-IL" b="1" dirty="0">
                <a:solidFill>
                  <a:schemeClr val="tx1"/>
                </a:solidFill>
              </a:rPr>
              <a:t>אתר אינטרנט לאימהות חדשות במגזר הבדואי                     </a:t>
            </a:r>
            <a:r>
              <a:rPr lang="en-US" b="1" dirty="0">
                <a:solidFill>
                  <a:schemeClr val="tx1"/>
                </a:solidFill>
              </a:rPr>
              <a:t>Navon-13-2024-sem2</a:t>
            </a:r>
            <a:endParaRPr lang="he-IL" b="1" dirty="0">
              <a:solidFill>
                <a:schemeClr val="tx1"/>
              </a:solidFill>
            </a:endParaRPr>
          </a:p>
        </p:txBody>
      </p:sp>
      <p:pic>
        <p:nvPicPr>
          <p:cNvPr id="6" name="תמונה 5">
            <a:extLst>
              <a:ext uri="{FF2B5EF4-FFF2-40B4-BE49-F238E27FC236}">
                <a16:creationId xmlns:a16="http://schemas.microsoft.com/office/drawing/2014/main" id="{D6498D5D-2D19-487C-B053-E0370CFDD5F7}"/>
              </a:ext>
            </a:extLst>
          </p:cNvPr>
          <p:cNvPicPr>
            <a:picLocks noChangeAspect="1"/>
          </p:cNvPicPr>
          <p:nvPr/>
        </p:nvPicPr>
        <p:blipFill>
          <a:blip r:embed="rId2"/>
          <a:stretch>
            <a:fillRect/>
          </a:stretch>
        </p:blipFill>
        <p:spPr>
          <a:xfrm>
            <a:off x="8165794" y="1"/>
            <a:ext cx="978206" cy="782664"/>
          </a:xfrm>
          <a:prstGeom prst="rect">
            <a:avLst/>
          </a:prstGeom>
        </p:spPr>
      </p:pic>
      <p:pic>
        <p:nvPicPr>
          <p:cNvPr id="8" name="תמונה 7">
            <a:extLst>
              <a:ext uri="{FF2B5EF4-FFF2-40B4-BE49-F238E27FC236}">
                <a16:creationId xmlns:a16="http://schemas.microsoft.com/office/drawing/2014/main" id="{CB31B3CE-71A5-42A5-8319-1C256FB7EA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4" y="-1"/>
            <a:ext cx="862087" cy="782663"/>
          </a:xfrm>
          <a:prstGeom prst="ellipse">
            <a:avLst/>
          </a:prstGeom>
          <a:ln w="1905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1" name="Rectangle 2">
            <a:extLst>
              <a:ext uri="{FF2B5EF4-FFF2-40B4-BE49-F238E27FC236}">
                <a16:creationId xmlns:a16="http://schemas.microsoft.com/office/drawing/2014/main" id="{C13725CE-4929-D3CA-7B64-F0C2DE4E61DD}"/>
              </a:ext>
            </a:extLst>
          </p:cNvPr>
          <p:cNvSpPr txBox="1">
            <a:spLocks noChangeArrowheads="1"/>
          </p:cNvSpPr>
          <p:nvPr/>
        </p:nvSpPr>
        <p:spPr bwMode="auto">
          <a:xfrm>
            <a:off x="2440744" y="90968"/>
            <a:ext cx="4262511" cy="594122"/>
          </a:xfrm>
          <a:prstGeom prst="rect">
            <a:avLst/>
          </a:prstGeom>
          <a:noFill/>
          <a:ln w="9525">
            <a:noFill/>
            <a:miter lim="800000"/>
            <a:headEnd/>
            <a:tailEnd/>
          </a:ln>
        </p:spPr>
        <p:txBody>
          <a:bodyPr lIns="54000" tIns="54000" rIns="54000" bIns="54000" anchor="ctr"/>
          <a:lstStyle/>
          <a:p>
            <a:pPr algn="ctr" rtl="1" eaLnBrk="1" hangingPunct="1">
              <a:defRPr/>
            </a:pPr>
            <a:r>
              <a:rPr lang="he-IL" sz="2400" b="1" u="sng" dirty="0">
                <a:latin typeface="Times New Roman" pitchFamily="18" charset="0"/>
              </a:rPr>
              <a:t>ביבליוגרפיה</a:t>
            </a:r>
          </a:p>
        </p:txBody>
      </p:sp>
      <p:sp>
        <p:nvSpPr>
          <p:cNvPr id="13" name="TextBox 2">
            <a:extLst>
              <a:ext uri="{FF2B5EF4-FFF2-40B4-BE49-F238E27FC236}">
                <a16:creationId xmlns:a16="http://schemas.microsoft.com/office/drawing/2014/main" id="{C11ED97F-72D0-D76B-E4CF-0B6746C71A3B}"/>
              </a:ext>
            </a:extLst>
          </p:cNvPr>
          <p:cNvSpPr txBox="1"/>
          <p:nvPr/>
        </p:nvSpPr>
        <p:spPr>
          <a:xfrm>
            <a:off x="24554" y="2883865"/>
            <a:ext cx="8784976" cy="2031325"/>
          </a:xfrm>
          <a:prstGeom prst="rect">
            <a:avLst/>
          </a:prstGeom>
          <a:noFill/>
        </p:spPr>
        <p:txBody>
          <a:bodyPr wrap="square" rtlCol="1">
            <a:spAutoFit/>
          </a:bodyPr>
          <a:lstStyle/>
          <a:p>
            <a:pPr algn="r" rtl="1"/>
            <a:r>
              <a:rPr lang="he-IL" b="1" u="sng" dirty="0">
                <a:latin typeface="Arial" panose="020B0604020202020204" pitchFamily="34" charset="0"/>
                <a:cs typeface="Arial" panose="020B0604020202020204" pitchFamily="34" charset="0"/>
              </a:rPr>
              <a:t>אתרי אינטרנט</a:t>
            </a:r>
            <a:endParaRPr lang="en-US" dirty="0">
              <a:latin typeface="Arial" panose="020B0604020202020204" pitchFamily="34" charset="0"/>
              <a:cs typeface="Arial" panose="020B0604020202020204" pitchFamily="34" charset="0"/>
            </a:endParaRPr>
          </a:p>
          <a:p>
            <a:pPr algn="r" rtl="1"/>
            <a:r>
              <a:rPr lang="en-US" dirty="0">
                <a:latin typeface="Arial" panose="020B0604020202020204" pitchFamily="34" charset="0"/>
                <a:cs typeface="Arial" panose="020B0604020202020204" pitchFamily="34" charset="0"/>
                <a:hlinkClick r:id="rId4"/>
              </a:rPr>
              <a:t>https://www.mamanatural.com/</a:t>
            </a:r>
            <a:r>
              <a:rPr lang="he-IL" dirty="0">
                <a:latin typeface="Arial" panose="020B0604020202020204" pitchFamily="34" charset="0"/>
                <a:cs typeface="Arial" panose="020B0604020202020204" pitchFamily="34" charset="0"/>
              </a:rPr>
              <a:t> נדלה בתאריך(17.2.2024)</a:t>
            </a:r>
          </a:p>
          <a:p>
            <a:pPr algn="r" rtl="1"/>
            <a:r>
              <a:rPr lang="he-IL" dirty="0">
                <a:hlinkClick r:id="rId5"/>
              </a:rPr>
              <a:t>לידה זה </a:t>
            </a:r>
            <a:r>
              <a:rPr lang="he-IL" dirty="0" err="1">
                <a:hlinkClick r:id="rId5"/>
              </a:rPr>
              <a:t>כח</a:t>
            </a:r>
            <a:r>
              <a:rPr lang="he-IL" dirty="0">
                <a:hlinkClick r:id="rId5"/>
              </a:rPr>
              <a:t> | מידע להריוניות ויולדות (</a:t>
            </a:r>
            <a:r>
              <a:rPr lang="en-US" dirty="0">
                <a:hlinkClick r:id="rId5"/>
              </a:rPr>
              <a:t>powerbirth.co.il)</a:t>
            </a:r>
            <a:r>
              <a:rPr lang="he-IL" dirty="0"/>
              <a:t>נדלה בתאריך(17.2.2024)</a:t>
            </a:r>
            <a:endParaRPr lang="he-IL" dirty="0">
              <a:latin typeface="Arial" panose="020B0604020202020204" pitchFamily="34" charset="0"/>
              <a:cs typeface="Arial" panose="020B0604020202020204" pitchFamily="34" charset="0"/>
            </a:endParaRPr>
          </a:p>
          <a:p>
            <a:pPr algn="r" rtl="1"/>
            <a:r>
              <a:rPr lang="he-IL" dirty="0">
                <a:hlinkClick r:id="rId6"/>
              </a:rPr>
              <a:t>עמוד הבית - ארגון המיילדות בישראל (</a:t>
            </a:r>
            <a:r>
              <a:rPr lang="en-US" dirty="0">
                <a:hlinkClick r:id="rId6"/>
              </a:rPr>
              <a:t>midwives.org.il)</a:t>
            </a:r>
            <a:r>
              <a:rPr lang="he-IL" dirty="0"/>
              <a:t>נדלה בתאריך(17.2.2024)</a:t>
            </a:r>
            <a:endParaRPr lang="en-US" dirty="0">
              <a:latin typeface="Arial" panose="020B0604020202020204" pitchFamily="34" charset="0"/>
              <a:cs typeface="Arial" panose="020B0604020202020204" pitchFamily="34" charset="0"/>
            </a:endParaRPr>
          </a:p>
          <a:p>
            <a:pPr algn="r" rtl="1"/>
            <a:r>
              <a:rPr lang="en-US" dirty="0">
                <a:latin typeface="Arial" panose="020B0604020202020204" pitchFamily="34" charset="0"/>
                <a:cs typeface="Arial" panose="020B0604020202020204" pitchFamily="34" charset="0"/>
                <a:hlinkClick r:id="rId7"/>
              </a:rPr>
              <a:t> WIX LINK</a:t>
            </a:r>
            <a:r>
              <a:rPr lang="he-IL" dirty="0">
                <a:latin typeface="Arial" panose="020B0604020202020204" pitchFamily="34" charset="0"/>
                <a:cs typeface="Arial" panose="020B0604020202020204" pitchFamily="34" charset="0"/>
              </a:rPr>
              <a:t> נדלה בתאריך(18.2.2024)</a:t>
            </a:r>
            <a:endParaRPr lang="he-IL" dirty="0">
              <a:latin typeface="Arial" panose="020B0604020202020204" pitchFamily="34" charset="0"/>
            </a:endParaRPr>
          </a:p>
          <a:p>
            <a:pPr algn="r" rtl="1"/>
            <a:r>
              <a:rPr lang="en-US" dirty="0">
                <a:latin typeface="Arial" panose="020B0604020202020204" pitchFamily="34" charset="0"/>
                <a:cs typeface="Arial" panose="020B0604020202020204" pitchFamily="34" charset="0"/>
                <a:hlinkClick r:id="rId8"/>
              </a:rPr>
              <a:t>SITE123 LINK</a:t>
            </a:r>
            <a:r>
              <a:rPr lang="he-IL" dirty="0">
                <a:latin typeface="Arial" panose="020B0604020202020204" pitchFamily="34" charset="0"/>
                <a:cs typeface="Arial" panose="020B0604020202020204" pitchFamily="34" charset="0"/>
              </a:rPr>
              <a:t> נדלה בתאריך(18.2.2024)</a:t>
            </a:r>
          </a:p>
          <a:p>
            <a:pPr algn="r" rtl="1"/>
            <a:r>
              <a:rPr lang="en-US" dirty="0" err="1">
                <a:latin typeface="Arial" panose="020B0604020202020204" pitchFamily="34" charset="0"/>
                <a:cs typeface="Arial" panose="020B0604020202020204" pitchFamily="34" charset="0"/>
                <a:hlinkClick r:id="rId9"/>
              </a:rPr>
              <a:t>WorkSpaceGoogleLINK</a:t>
            </a:r>
            <a:r>
              <a:rPr lang="he-IL" dirty="0">
                <a:latin typeface="Arial" panose="020B0604020202020204" pitchFamily="34" charset="0"/>
                <a:cs typeface="Arial" panose="020B0604020202020204" pitchFamily="34" charset="0"/>
              </a:rPr>
              <a:t> נדלה בתאריך(18.2.2024)</a:t>
            </a:r>
            <a:endParaRPr lang="en-US" dirty="0">
              <a:latin typeface="Arial" panose="020B0604020202020204" pitchFamily="34" charset="0"/>
              <a:cs typeface="Arial" panose="020B0604020202020204" pitchFamily="34" charset="0"/>
            </a:endParaRPr>
          </a:p>
        </p:txBody>
      </p:sp>
      <p:sp>
        <p:nvSpPr>
          <p:cNvPr id="14" name="TextBox 2">
            <a:extLst>
              <a:ext uri="{FF2B5EF4-FFF2-40B4-BE49-F238E27FC236}">
                <a16:creationId xmlns:a16="http://schemas.microsoft.com/office/drawing/2014/main" id="{401F707D-0A12-9FE9-E474-23DA9D9BD7D0}"/>
              </a:ext>
            </a:extLst>
          </p:cNvPr>
          <p:cNvSpPr txBox="1"/>
          <p:nvPr/>
        </p:nvSpPr>
        <p:spPr>
          <a:xfrm>
            <a:off x="2229274" y="5135109"/>
            <a:ext cx="6580256" cy="2031325"/>
          </a:xfrm>
          <a:prstGeom prst="rect">
            <a:avLst/>
          </a:prstGeom>
          <a:noFill/>
        </p:spPr>
        <p:txBody>
          <a:bodyPr wrap="square" rtlCol="1">
            <a:spAutoFit/>
          </a:bodyPr>
          <a:lstStyle/>
          <a:p>
            <a:pPr algn="r" rtl="1"/>
            <a:r>
              <a:rPr lang="he-IL" b="1" u="sng" dirty="0">
                <a:latin typeface="Arial" panose="020B0604020202020204" pitchFamily="34" charset="0"/>
                <a:cs typeface="Arial" panose="020B0604020202020204" pitchFamily="34" charset="0"/>
              </a:rPr>
              <a:t>מקורות פנים ארגוניים</a:t>
            </a:r>
          </a:p>
          <a:p>
            <a:pPr algn="r" rtl="1"/>
            <a:r>
              <a:rPr lang="he-IL" dirty="0">
                <a:latin typeface="Arial" panose="020B0604020202020204" pitchFamily="34" charset="0"/>
                <a:cs typeface="Arial" panose="020B0604020202020204" pitchFamily="34" charset="0"/>
              </a:rPr>
              <a:t>ראיון עם אם צעירה</a:t>
            </a:r>
          </a:p>
          <a:p>
            <a:pPr algn="r" rtl="1"/>
            <a:r>
              <a:rPr lang="he-IL" dirty="0">
                <a:latin typeface="Arial" panose="020B0604020202020204" pitchFamily="34" charset="0"/>
                <a:cs typeface="Arial" panose="020B0604020202020204" pitchFamily="34" charset="0"/>
              </a:rPr>
              <a:t>ראיון אם ותיקה</a:t>
            </a:r>
          </a:p>
          <a:p>
            <a:pPr algn="r" rtl="1"/>
            <a:r>
              <a:rPr lang="he-IL" dirty="0">
                <a:latin typeface="Arial" panose="020B0604020202020204" pitchFamily="34" charset="0"/>
                <a:cs typeface="Arial" panose="020B0604020202020204" pitchFamily="34" charset="0"/>
              </a:rPr>
              <a:t>סקר אימהות ציעורת ,2024</a:t>
            </a:r>
          </a:p>
          <a:p>
            <a:pPr algn="r" rtl="1"/>
            <a:endParaRPr lang="he-IL" dirty="0">
              <a:latin typeface="Arial" panose="020B0604020202020204" pitchFamily="34" charset="0"/>
              <a:cs typeface="Arial" panose="020B0604020202020204" pitchFamily="34" charset="0"/>
            </a:endParaRPr>
          </a:p>
          <a:p>
            <a:pPr algn="r" rtl="1"/>
            <a:endParaRPr lang="he-IL" dirty="0">
              <a:latin typeface="Arial" panose="020B0604020202020204" pitchFamily="34" charset="0"/>
              <a:cs typeface="Arial" panose="020B0604020202020204" pitchFamily="34" charset="0"/>
            </a:endParaRPr>
          </a:p>
          <a:p>
            <a:pPr algn="r" rtl="1"/>
            <a:endParaRPr lang="en-US" dirty="0">
              <a:latin typeface="Arial" panose="020B0604020202020204" pitchFamily="34" charset="0"/>
              <a:cs typeface="Arial" panose="020B0604020202020204" pitchFamily="34" charset="0"/>
            </a:endParaRPr>
          </a:p>
        </p:txBody>
      </p:sp>
      <p:sp>
        <p:nvSpPr>
          <p:cNvPr id="17" name="מלבן 16">
            <a:extLst>
              <a:ext uri="{FF2B5EF4-FFF2-40B4-BE49-F238E27FC236}">
                <a16:creationId xmlns:a16="http://schemas.microsoft.com/office/drawing/2014/main" id="{E4FCD5A0-2963-87A2-988F-EE9CCD45DDBE}"/>
              </a:ext>
            </a:extLst>
          </p:cNvPr>
          <p:cNvSpPr/>
          <p:nvPr/>
        </p:nvSpPr>
        <p:spPr>
          <a:xfrm>
            <a:off x="568960" y="1033077"/>
            <a:ext cx="8097520" cy="2395528"/>
          </a:xfrm>
          <a:prstGeom prst="rect">
            <a:avLst/>
          </a:prstGeom>
        </p:spPr>
        <p:txBody>
          <a:bodyPr wrap="square">
            <a:spAutoFit/>
          </a:bodyPr>
          <a:lstStyle/>
          <a:p>
            <a:pPr algn="r" rtl="0">
              <a:lnSpc>
                <a:spcPct val="150000"/>
              </a:lnSpc>
            </a:pPr>
            <a:r>
              <a:rPr lang="he-IL" b="1" u="sng" dirty="0">
                <a:latin typeface="Arial" panose="020B0604020202020204" pitchFamily="34" charset="0"/>
                <a:cs typeface="Arial" panose="020B0604020202020204" pitchFamily="34" charset="0"/>
              </a:rPr>
              <a:t>מקורות באנגלית</a:t>
            </a:r>
            <a:endParaRPr lang="he-IL" sz="1400" b="1" u="sng" dirty="0">
              <a:latin typeface="Arial" panose="020B0604020202020204" pitchFamily="34" charset="0"/>
              <a:cs typeface="Arial" panose="020B0604020202020204" pitchFamily="34" charset="0"/>
            </a:endParaRPr>
          </a:p>
          <a:p>
            <a:pPr>
              <a:lnSpc>
                <a:spcPct val="150000"/>
              </a:lnSpc>
            </a:pPr>
            <a:r>
              <a:rPr lang="en-US" sz="1400" dirty="0">
                <a:latin typeface="Arial" panose="020B0604020202020204" pitchFamily="34" charset="0"/>
                <a:cs typeface="Arial" panose="020B0604020202020204" pitchFamily="34" charset="0"/>
              </a:rPr>
              <a:t> Stories into UML Use </a:t>
            </a:r>
            <a:r>
              <a:rPr lang="en-US" sz="1400" dirty="0" err="1">
                <a:latin typeface="Arial" panose="020B0604020202020204" pitchFamily="34" charset="0"/>
                <a:cs typeface="Arial" panose="020B0604020202020204" pitchFamily="34" charset="0"/>
              </a:rPr>
              <a:t>CaseDiagrams</a:t>
            </a:r>
            <a:r>
              <a:rPr lang="en-US" sz="1400" dirty="0">
                <a:latin typeface="Arial" panose="020B0604020202020204" pitchFamily="34" charset="0"/>
                <a:cs typeface="Arial" panose="020B0604020202020204" pitchFamily="34" charset="0"/>
              </a:rPr>
              <a:t> using NLP Techniques. Procedia Computer Science</a:t>
            </a:r>
            <a:r>
              <a:rPr lang="he-IL" sz="1400" dirty="0">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 Martin </a:t>
            </a:r>
            <a:r>
              <a:rPr lang="en-US" sz="1400" dirty="0" err="1">
                <a:latin typeface="Arial" panose="020B0604020202020204" pitchFamily="34" charset="0"/>
                <a:cs typeface="Arial" panose="020B0604020202020204" pitchFamily="34" charset="0"/>
              </a:rPr>
              <a:t>Sarnovsky</a:t>
            </a:r>
            <a:r>
              <a:rPr lang="en-US" sz="1400" dirty="0">
                <a:latin typeface="Arial" panose="020B0604020202020204" pitchFamily="34" charset="0"/>
                <a:cs typeface="Arial" panose="020B0604020202020204" pitchFamily="34" charset="0"/>
              </a:rPr>
              <a:t>, Peter Bednar and Miroslav </a:t>
            </a:r>
            <a:r>
              <a:rPr lang="en-US" sz="1400" dirty="0" err="1">
                <a:latin typeface="Arial" panose="020B0604020202020204" pitchFamily="34" charset="0"/>
                <a:cs typeface="Arial" panose="020B0604020202020204" pitchFamily="34" charset="0"/>
              </a:rPr>
              <a:t>Smatana</a:t>
            </a:r>
            <a:r>
              <a:rPr lang="en-US" sz="1400" dirty="0">
                <a:latin typeface="Arial" panose="020B0604020202020204" pitchFamily="34" charset="0"/>
                <a:cs typeface="Arial" panose="020B0604020202020204" pitchFamily="34" charset="0"/>
              </a:rPr>
              <a:t>. Big Data Processing and Analytics</a:t>
            </a:r>
            <a:endParaRPr lang="he-IL" sz="1400" dirty="0">
              <a:latin typeface="Arial" panose="020B0604020202020204" pitchFamily="34" charset="0"/>
              <a:cs typeface="Arial" panose="020B0604020202020204" pitchFamily="34" charset="0"/>
            </a:endParaRPr>
          </a:p>
          <a:p>
            <a:r>
              <a:rPr lang="en-US" sz="1400" dirty="0">
                <a:solidFill>
                  <a:srgbClr val="000000"/>
                </a:solidFill>
                <a:latin typeface="Open Sans" panose="020F0502020204030204" pitchFamily="34" charset="0"/>
                <a:hlinkClick r:id="rId10"/>
              </a:rPr>
              <a:t> </a:t>
            </a:r>
            <a:r>
              <a:rPr lang="en-US" sz="1400" b="1" i="0" u="none" strike="noStrike" baseline="0" dirty="0">
                <a:latin typeface="Times New Roman" panose="02020603050405020304" pitchFamily="18" charset="0"/>
              </a:rPr>
              <a:t>Syifa Syarifah Alamiyah </a:t>
            </a:r>
            <a:r>
              <a:rPr lang="en-US" sz="1400" dirty="0">
                <a:solidFill>
                  <a:srgbClr val="000000"/>
                </a:solidFill>
                <a:latin typeface="Open Sans" panose="020F0502020204030204" pitchFamily="34" charset="0"/>
              </a:rPr>
              <a:t>(2019)</a:t>
            </a:r>
            <a:r>
              <a:rPr lang="en-US" sz="1400" b="1" i="0" dirty="0">
                <a:solidFill>
                  <a:srgbClr val="1C1D1E"/>
                </a:solidFill>
                <a:effectLst/>
                <a:latin typeface="Open Sans" panose="020B0606030504020204" pitchFamily="34" charset="0"/>
              </a:rPr>
              <a:t> </a:t>
            </a:r>
            <a:r>
              <a:rPr lang="en-US" sz="1800" b="1" i="0" u="none" strike="noStrike" baseline="0" dirty="0">
                <a:latin typeface="Times New Roman,Bold"/>
              </a:rPr>
              <a:t>I Become More Confident’: Mother Use of Online </a:t>
            </a:r>
            <a:r>
              <a:rPr lang="en-US" b="1" dirty="0">
                <a:latin typeface="Times New Roman" panose="02020603050405020304" pitchFamily="18" charset="0"/>
              </a:rPr>
              <a:t>Platform for Parenting Information</a:t>
            </a:r>
            <a:endParaRPr lang="en-US" sz="1400" b="1" i="0" dirty="0">
              <a:solidFill>
                <a:srgbClr val="1C1D1E"/>
              </a:solidFill>
              <a:effectLst/>
              <a:latin typeface="Open Sans" panose="020B0606030504020204" pitchFamily="34" charset="0"/>
            </a:endParaRPr>
          </a:p>
          <a:p>
            <a:pPr>
              <a:lnSpc>
                <a:spcPct val="150000"/>
              </a:lnSpc>
            </a:pPr>
            <a:endParaRPr lang="he-IL" sz="1400" dirty="0">
              <a:latin typeface="Arial" panose="020B0604020202020204" pitchFamily="34" charset="0"/>
              <a:cs typeface="Arial" panose="020B0604020202020204" pitchFamily="34" charset="0"/>
            </a:endParaRPr>
          </a:p>
          <a:p>
            <a:pPr algn="r" rtl="0">
              <a:lnSpc>
                <a:spcPct val="150000"/>
              </a:lnSpc>
            </a:pPr>
            <a:endParaRPr lang="de-DE" b="1"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587280"/>
      </p:ext>
    </p:extLst>
  </p:cSld>
  <p:clrMapOvr>
    <a:masterClrMapping/>
  </p:clrMapOvr>
</p:sld>
</file>

<file path=ppt/theme/theme1.xml><?xml version="1.0" encoding="utf-8"?>
<a:theme xmlns:a="http://schemas.openxmlformats.org/drawingml/2006/main" name="ערכת נושא Office">
  <a:themeElements>
    <a:clrScheme name="ערכת נושא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ערכת נושא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ערכת נושא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FD7F06E185B0A4AA6D38547DC736365" ma:contentTypeVersion="4" ma:contentTypeDescription="Create a new document." ma:contentTypeScope="" ma:versionID="f25227434b7eadc4c9fd4e03511c2039">
  <xsd:schema xmlns:xsd="http://www.w3.org/2001/XMLSchema" xmlns:xs="http://www.w3.org/2001/XMLSchema" xmlns:p="http://schemas.microsoft.com/office/2006/metadata/properties" xmlns:ns3="f43b7b1a-9b2a-4528-a9d6-c83c855c16e8" targetNamespace="http://schemas.microsoft.com/office/2006/metadata/properties" ma:root="true" ma:fieldsID="10ea6806850b955d705b7925754abdd8" ns3:_="">
    <xsd:import namespace="f43b7b1a-9b2a-4528-a9d6-c83c855c16e8"/>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43b7b1a-9b2a-4528-a9d6-c83c855c16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CE1FD5-E7F0-404B-92EF-893C34201AC2}">
  <ds:schemaRefs>
    <ds:schemaRef ds:uri="http://schemas.microsoft.com/sharepoint/v3/contenttype/forms"/>
  </ds:schemaRefs>
</ds:datastoreItem>
</file>

<file path=customXml/itemProps2.xml><?xml version="1.0" encoding="utf-8"?>
<ds:datastoreItem xmlns:ds="http://schemas.openxmlformats.org/officeDocument/2006/customXml" ds:itemID="{0014D415-D5B9-473E-8216-84FC972B18BD}">
  <ds:schemaRefs>
    <ds:schemaRef ds:uri="http://schemas.microsoft.com/office/2006/metadata/properties"/>
    <ds:schemaRef ds:uri="http://www.w3.org/XML/1998/namespace"/>
    <ds:schemaRef ds:uri="http://schemas.openxmlformats.org/package/2006/metadata/core-properties"/>
    <ds:schemaRef ds:uri="http://schemas.microsoft.com/office/infopath/2007/PartnerControls"/>
    <ds:schemaRef ds:uri="http://purl.org/dc/dcmitype/"/>
    <ds:schemaRef ds:uri="http://schemas.microsoft.com/office/2006/documentManagement/types"/>
    <ds:schemaRef ds:uri="http://purl.org/dc/terms/"/>
    <ds:schemaRef ds:uri="http://purl.org/dc/elements/1.1/"/>
    <ds:schemaRef ds:uri="f43b7b1a-9b2a-4528-a9d6-c83c855c16e8"/>
  </ds:schemaRefs>
</ds:datastoreItem>
</file>

<file path=customXml/itemProps3.xml><?xml version="1.0" encoding="utf-8"?>
<ds:datastoreItem xmlns:ds="http://schemas.openxmlformats.org/officeDocument/2006/customXml" ds:itemID="{B3DFC7B0-4DCC-4A4A-BABD-0E890631DC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43b7b1a-9b2a-4528-a9d6-c83c855c16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3734</TotalTime>
  <Words>2712</Words>
  <Application>Microsoft Office PowerPoint</Application>
  <PresentationFormat>‫הצגה על המסך (4:3)</PresentationFormat>
  <Paragraphs>523</Paragraphs>
  <Slides>21</Slides>
  <Notes>11</Notes>
  <HiddenSlides>0</HiddenSlides>
  <MMClips>0</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21</vt:i4>
      </vt:variant>
    </vt:vector>
  </HeadingPairs>
  <TitlesOfParts>
    <vt:vector size="29" baseType="lpstr">
      <vt:lpstr>Arial</vt:lpstr>
      <vt:lpstr>Calibri</vt:lpstr>
      <vt:lpstr>Calibri Light</vt:lpstr>
      <vt:lpstr>David</vt:lpstr>
      <vt:lpstr>Open Sans</vt:lpstr>
      <vt:lpstr>Times New Roman</vt:lpstr>
      <vt:lpstr>Times New Roman,Bold</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סקר ספרות-הצגת מאמר</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student</dc:creator>
  <cp:lastModifiedBy>אסיא אלסייד</cp:lastModifiedBy>
  <cp:revision>107</cp:revision>
  <dcterms:created xsi:type="dcterms:W3CDTF">2023-12-25T08:56:48Z</dcterms:created>
  <dcterms:modified xsi:type="dcterms:W3CDTF">2024-02-19T10:01:46Z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0x0101007FD7F06E185B0A4AA6D38547DC736365</vt:lpwstr>
  </property>
</Properties>
</file>