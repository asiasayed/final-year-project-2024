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60" r:id="rId4"/>
  </p:sldMasterIdLst>
  <p:notesMasterIdLst>
    <p:notesMasterId r:id="rId38"/>
  </p:notesMasterIdLst>
  <p:sldIdLst>
    <p:sldId id="257" r:id="rId5"/>
    <p:sldId id="258" r:id="rId6"/>
    <p:sldId id="259" r:id="rId7"/>
    <p:sldId id="269" r:id="rId8"/>
    <p:sldId id="268" r:id="rId9"/>
    <p:sldId id="263" r:id="rId10"/>
    <p:sldId id="264" r:id="rId11"/>
    <p:sldId id="265" r:id="rId12"/>
    <p:sldId id="277" r:id="rId13"/>
    <p:sldId id="298" r:id="rId14"/>
    <p:sldId id="297" r:id="rId15"/>
    <p:sldId id="299" r:id="rId16"/>
    <p:sldId id="282" r:id="rId17"/>
    <p:sldId id="287" r:id="rId18"/>
    <p:sldId id="283" r:id="rId19"/>
    <p:sldId id="284" r:id="rId20"/>
    <p:sldId id="290" r:id="rId21"/>
    <p:sldId id="291" r:id="rId22"/>
    <p:sldId id="289" r:id="rId23"/>
    <p:sldId id="294" r:id="rId24"/>
    <p:sldId id="295" r:id="rId25"/>
    <p:sldId id="292" r:id="rId26"/>
    <p:sldId id="293" r:id="rId27"/>
    <p:sldId id="296" r:id="rId28"/>
    <p:sldId id="288" r:id="rId29"/>
    <p:sldId id="266" r:id="rId30"/>
    <p:sldId id="275" r:id="rId31"/>
    <p:sldId id="276" r:id="rId32"/>
    <p:sldId id="260" r:id="rId33"/>
    <p:sldId id="271" r:id="rId34"/>
    <p:sldId id="272" r:id="rId35"/>
    <p:sldId id="280" r:id="rId36"/>
    <p:sldId id="274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901" autoAdjust="0"/>
    <p:restoredTop sz="95847" autoAdjust="0"/>
  </p:normalViewPr>
  <p:slideViewPr>
    <p:cSldViewPr snapToGrid="0">
      <p:cViewPr varScale="1">
        <p:scale>
          <a:sx n="68" d="100"/>
          <a:sy n="68" d="100"/>
        </p:scale>
        <p:origin x="13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62"/>
    </p:cViewPr>
  </p:sorterViewPr>
  <p:notesViewPr>
    <p:cSldViewPr snapToGrid="0">
      <p:cViewPr varScale="1">
        <p:scale>
          <a:sx n="75" d="100"/>
          <a:sy n="75" d="100"/>
        </p:scale>
        <p:origin x="293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5cb140357f4f39d/&#1513;&#1493;&#1500;&#1495;&#1503;%20&#1492;&#1506;&#1489;&#1493;&#1491;&#1492;/&#1505;&#1511;&#1512;%20&#1500;&#1497;&#1502;&#1492;&#1493;&#1514;%20&#1495;&#1491;&#1513;&#1493;&#1514;%20(&#1514;&#1490;&#1493;&#1489;&#1493;&#1514;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5cb140357f4f39d/&#1513;&#1493;&#1500;&#1495;&#1503;%20&#1492;&#1506;&#1489;&#1493;&#1491;&#1492;/&#1505;&#1511;&#1512;%20&#1500;&#1497;&#1502;&#1492;&#1493;&#1514;%20&#1495;&#1491;&#1513;&#1493;&#1514;%20(&#1514;&#1490;&#1493;&#1489;&#1493;&#1514;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c5cb140357f4f39d/&#1513;&#1493;&#1500;&#1495;&#1503;%20&#1492;&#1506;&#1489;&#1493;&#1491;&#1492;/&#1495;&#1493;&#1489;&#1512;&#1514;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6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121674665976306"/>
          <c:y val="0.11602814801932165"/>
          <c:w val="0.75316548976326825"/>
          <c:h val="0.710585079763697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18-25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0-1</c:v>
                </c:pt>
                <c:pt idx="1">
                  <c:v>+2</c:v>
                </c:pt>
              </c:strCache>
            </c:strRef>
          </c:cat>
          <c:val>
            <c:numRef>
              <c:f>גיליון1!$B$2:$B$3</c:f>
              <c:numCache>
                <c:formatCode>0%</c:formatCode>
                <c:ptCount val="2"/>
                <c:pt idx="0">
                  <c:v>0.32</c:v>
                </c:pt>
                <c:pt idx="1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4-4F64-9B2A-B15E45AACEA2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+26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0-1</c:v>
                </c:pt>
                <c:pt idx="1">
                  <c:v>+2</c:v>
                </c:pt>
              </c:strCache>
            </c:strRef>
          </c:cat>
          <c:val>
            <c:numRef>
              <c:f>גיליון1!$C$2:$C$3</c:f>
              <c:numCache>
                <c:formatCode>0%</c:formatCode>
                <c:ptCount val="2"/>
                <c:pt idx="0">
                  <c:v>0.05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A4-4F64-9B2A-B15E45AACE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4"/>
        <c:overlap val="100"/>
        <c:axId val="713289727"/>
        <c:axId val="724183839"/>
      </c:barChart>
      <c:catAx>
        <c:axId val="713289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24183839"/>
        <c:crosses val="autoZero"/>
        <c:auto val="1"/>
        <c:lblAlgn val="ctr"/>
        <c:lblOffset val="100"/>
        <c:noMultiLvlLbl val="0"/>
      </c:catAx>
      <c:valAx>
        <c:axId val="724183839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1800" b="1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שיעור תשובות לשאלה </a:t>
                </a:r>
                <a:endParaRPr lang="he-IL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13289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142623880387067"/>
          <c:y val="1.4366429539564912E-2"/>
          <c:w val="0.35456528476625671"/>
          <c:h val="8.58141883176709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'תגובות לטופס 1'!$I$113</c:f>
              <c:strCache>
                <c:ptCount val="1"/>
                <c:pt idx="0">
                  <c:v>האם מתבישת או חוששת לשאול שאלות?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26%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655-4D03-9D9C-30575AAED7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74%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655-4D03-9D9C-30575AAED7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'תגובות לטופס 1'!$H$114:$H$115</c:f>
              <c:strCache>
                <c:ptCount val="2"/>
                <c:pt idx="0">
                  <c:v>כן</c:v>
                </c:pt>
                <c:pt idx="1">
                  <c:v>לא</c:v>
                </c:pt>
              </c:strCache>
            </c:strRef>
          </c:cat>
          <c:val>
            <c:numRef>
              <c:f>'תגובות לטופס 1'!$I$114:$I$115</c:f>
              <c:numCache>
                <c:formatCode>General</c:formatCode>
                <c:ptCount val="2"/>
                <c:pt idx="0">
                  <c:v>40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55-4D03-9D9C-30575AAED7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90060559"/>
        <c:axId val="964156991"/>
      </c:barChart>
      <c:catAx>
        <c:axId val="990060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64156991"/>
        <c:crosses val="autoZero"/>
        <c:auto val="1"/>
        <c:lblAlgn val="ctr"/>
        <c:lblOffset val="100"/>
        <c:noMultiLvlLbl val="0"/>
      </c:catAx>
      <c:valAx>
        <c:axId val="964156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1800" b="1">
                    <a:solidFill>
                      <a:schemeClr val="tx1"/>
                    </a:solidFill>
                  </a:rPr>
                  <a:t>מספר</a:t>
                </a:r>
                <a:r>
                  <a:rPr lang="he-IL" sz="1800" b="1" baseline="0">
                    <a:solidFill>
                      <a:schemeClr val="tx1"/>
                    </a:solidFill>
                  </a:rPr>
                  <a:t> התגובות</a:t>
                </a:r>
                <a:endParaRPr lang="he-IL" sz="1800" b="1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90060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 baseline="0" dirty="0"/>
              <a:t>  </a:t>
            </a:r>
            <a:endParaRPr lang="he-IL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כן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גיליון1!$A$2:$A$6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</c:numCache>
            </c:numRef>
          </c:cat>
          <c:val>
            <c:numRef>
              <c:f>גיליון1!$B$2:$B$6</c:f>
              <c:numCache>
                <c:formatCode>0%</c:formatCode>
                <c:ptCount val="5"/>
                <c:pt idx="0">
                  <c:v>0.61</c:v>
                </c:pt>
                <c:pt idx="1">
                  <c:v>0.79</c:v>
                </c:pt>
                <c:pt idx="2">
                  <c:v>0.78</c:v>
                </c:pt>
                <c:pt idx="3">
                  <c:v>0.89</c:v>
                </c:pt>
                <c:pt idx="4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DC-44ED-B316-A377B4CCEB1C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לא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גיליון1!$A$2:$A$6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</c:numCache>
            </c:numRef>
          </c:cat>
          <c:val>
            <c:numRef>
              <c:f>גיליון1!$C$2:$C$6</c:f>
              <c:numCache>
                <c:formatCode>0%</c:formatCode>
                <c:ptCount val="5"/>
                <c:pt idx="0">
                  <c:v>0.39</c:v>
                </c:pt>
                <c:pt idx="1">
                  <c:v>0.21</c:v>
                </c:pt>
                <c:pt idx="2">
                  <c:v>0.22</c:v>
                </c:pt>
                <c:pt idx="3">
                  <c:v>0.11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DC-44ED-B316-A377B4CCEB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99517727"/>
        <c:axId val="724194655"/>
      </c:barChart>
      <c:catAx>
        <c:axId val="6995177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sz="2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מס'</a:t>
                </a:r>
                <a:r>
                  <a:rPr lang="he-IL" sz="2400" b="1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שאלה</a:t>
                </a:r>
                <a:endParaRPr lang="he-IL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0.48497509703782793"/>
              <c:y val="0.792032306376175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sz="24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24194655"/>
        <c:crosses val="autoZero"/>
        <c:auto val="1"/>
        <c:lblAlgn val="ctr"/>
        <c:lblOffset val="100"/>
        <c:noMultiLvlLbl val="0"/>
      </c:catAx>
      <c:valAx>
        <c:axId val="72419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2000" b="1" i="0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שיעור  תשובות  לשאלה</a:t>
                </a:r>
                <a:endParaRPr lang="he-IL" sz="200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699517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536207932008484"/>
          <c:y val="9.8387600171546217E-3"/>
          <c:w val="0.32144512640490153"/>
          <c:h val="5.83553566657161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097833054128141"/>
          <c:y val="6.8517485079427287E-2"/>
          <c:w val="0.67804333891743718"/>
          <c:h val="0.79830905091296245"/>
        </c:manualLayout>
      </c:layout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0A-4880-BBDC-B9E3CED0472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1F-4F85-86F4-597F2FCF76F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A1F-4F85-86F4-597F2FCF76FC}"/>
              </c:ext>
            </c:extLst>
          </c:dPt>
          <c:dLbls>
            <c:dLbl>
              <c:idx val="0"/>
              <c:layout>
                <c:manualLayout>
                  <c:x val="0.13350937681857716"/>
                  <c:y val="-0.17297168178029884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D0A-4880-BBDC-B9E3CED04722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גיליון1!$A$2:$A$4</c:f>
              <c:strCache>
                <c:ptCount val="3"/>
                <c:pt idx="0">
                  <c:v>קורבי משפחה</c:v>
                </c:pt>
                <c:pt idx="1">
                  <c:v>חברים</c:v>
                </c:pt>
                <c:pt idx="2">
                  <c:v>אחר</c:v>
                </c:pt>
              </c:strCache>
            </c:strRef>
          </c:cat>
          <c:val>
            <c:numRef>
              <c:f>גיליון1!$B$2:$B$4</c:f>
              <c:numCache>
                <c:formatCode>0%</c:formatCode>
                <c:ptCount val="3"/>
                <c:pt idx="0">
                  <c:v>0.84</c:v>
                </c:pt>
                <c:pt idx="1">
                  <c:v>7.0000000000000007E-2</c:v>
                </c:pt>
                <c:pt idx="2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0A-4880-BBDC-B9E3CED047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82168037939175"/>
          <c:y val="6.4104598171424651E-2"/>
          <c:w val="0.79072169846965534"/>
          <c:h val="0.8208775511841464"/>
        </c:manualLayout>
      </c:layout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CB3-4307-8205-90A42D18D2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6F9-424F-8C8B-5C934A91B658}"/>
              </c:ext>
            </c:extLst>
          </c:dPt>
          <c:dLbls>
            <c:dLbl>
              <c:idx val="0"/>
              <c:layout>
                <c:manualLayout>
                  <c:x val="-6.2982454734267834E-2"/>
                  <c:y val="-0.32361829843329448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CB3-4307-8205-90A42D18D2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גיליון1!$A$2:$A$3</c:f>
              <c:strCache>
                <c:ptCount val="2"/>
                <c:pt idx="0">
                  <c:v>כן</c:v>
                </c:pt>
                <c:pt idx="1">
                  <c:v>לא</c:v>
                </c:pt>
              </c:strCache>
            </c:strRef>
          </c:cat>
          <c:val>
            <c:numRef>
              <c:f>גיליון1!$B$2:$B$3</c:f>
              <c:numCache>
                <c:formatCode>0%</c:formatCode>
                <c:ptCount val="2"/>
                <c:pt idx="0">
                  <c:v>0.94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B3-4307-8205-90A42D18D2A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he-IL"/>
              <a:t>תוחלת התועלת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3"/>
          <c:order val="0"/>
          <c:tx>
            <c:strRef>
              <c:f>[חוברת1.xlsx]גיליון1!$H$8</c:f>
              <c:strCache>
                <c:ptCount val="1"/>
                <c:pt idx="0">
                  <c:v>חלופה א׳ (SITE123)</c:v>
                </c:pt>
              </c:strCache>
            </c:strRef>
          </c:tx>
          <c:xVal>
            <c:strRef>
              <c:f>[חוברת1.xlsx]גיליון1!$I$7:$J$7</c:f>
              <c:strCache>
                <c:ptCount val="2"/>
                <c:pt idx="0">
                  <c:v>עלות מנורמלת</c:v>
                </c:pt>
                <c:pt idx="1">
                  <c:v>תועלת</c:v>
                </c:pt>
              </c:strCache>
            </c:strRef>
          </c:xVal>
          <c:yVal>
            <c:numRef>
              <c:f>[חוברת1.xlsx]גיליון1!$I$8:$J$8</c:f>
              <c:numCache>
                <c:formatCode>General</c:formatCode>
                <c:ptCount val="2"/>
                <c:pt idx="0">
                  <c:v>0.18099999999999999</c:v>
                </c:pt>
                <c:pt idx="1">
                  <c:v>0.23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25D-4E1C-968A-A2041804004C}"/>
            </c:ext>
          </c:extLst>
        </c:ser>
        <c:ser>
          <c:idx val="5"/>
          <c:order val="2"/>
          <c:tx>
            <c:strRef>
              <c:f>[חוברת1.xlsx]גיליון1!$H$10</c:f>
              <c:strCache>
                <c:ptCount val="1"/>
                <c:pt idx="0">
                  <c:v>חלופה ג׳ (Google)</c:v>
                </c:pt>
              </c:strCache>
            </c:strRef>
          </c:tx>
          <c:spPr>
            <a:ln w="57150"/>
          </c:spPr>
          <c:marker>
            <c:spPr>
              <a:ln w="57150"/>
            </c:spPr>
          </c:marker>
          <c:xVal>
            <c:strRef>
              <c:f>[חוברת1.xlsx]גיליון1!$I$7:$J$7</c:f>
              <c:strCache>
                <c:ptCount val="2"/>
                <c:pt idx="0">
                  <c:v>עלות מנורמלת</c:v>
                </c:pt>
                <c:pt idx="1">
                  <c:v>תועלת</c:v>
                </c:pt>
              </c:strCache>
            </c:strRef>
          </c:xVal>
          <c:yVal>
            <c:numRef>
              <c:f>[חוברת1.xlsx]גיליון1!$I$10:$J$10</c:f>
              <c:numCache>
                <c:formatCode>General</c:formatCode>
                <c:ptCount val="2"/>
                <c:pt idx="0">
                  <c:v>0.104</c:v>
                </c:pt>
                <c:pt idx="1">
                  <c:v>0.28000000000000003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25D-4E1C-968A-A2041804004C}"/>
            </c:ext>
          </c:extLst>
        </c:ser>
        <c:ser>
          <c:idx val="0"/>
          <c:order val="3"/>
          <c:tx>
            <c:strRef>
              <c:f>[חוברת1.xlsx]גיליון1!$H$8</c:f>
              <c:strCache>
                <c:ptCount val="1"/>
                <c:pt idx="0">
                  <c:v>חלופה א׳ (SITE123)</c:v>
                </c:pt>
              </c:strCache>
            </c:strRef>
          </c:tx>
          <c:spPr>
            <a:ln w="3810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38100">
                <a:solidFill>
                  <a:srgbClr val="FFC000"/>
                </a:solidFill>
                <a:round/>
              </a:ln>
              <a:effectLst/>
            </c:spPr>
          </c:marker>
          <c:xVal>
            <c:strRef>
              <c:f>[חוברת1.xlsx]גיליון1!$I$7:$J$7</c:f>
              <c:strCache>
                <c:ptCount val="2"/>
                <c:pt idx="0">
                  <c:v>עלות מנורמלת</c:v>
                </c:pt>
                <c:pt idx="1">
                  <c:v>תועלת</c:v>
                </c:pt>
              </c:strCache>
            </c:strRef>
          </c:xVal>
          <c:yVal>
            <c:numRef>
              <c:f>[חוברת1.xlsx]גיליון1!$I$8:$J$8</c:f>
              <c:numCache>
                <c:formatCode>General</c:formatCode>
                <c:ptCount val="2"/>
                <c:pt idx="0">
                  <c:v>0.18099999999999999</c:v>
                </c:pt>
                <c:pt idx="1">
                  <c:v>0.23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D25D-4E1C-968A-A2041804004C}"/>
            </c:ext>
          </c:extLst>
        </c:ser>
        <c:ser>
          <c:idx val="1"/>
          <c:order val="4"/>
          <c:tx>
            <c:strRef>
              <c:f>[חוברת1.xlsx]גיליון1!$H$9</c:f>
              <c:strCache>
                <c:ptCount val="1"/>
                <c:pt idx="0">
                  <c:v>חלופה ב׳ (WIX)</c:v>
                </c:pt>
              </c:strCache>
            </c:strRef>
          </c:tx>
          <c:spPr>
            <a:ln>
              <a:noFill/>
            </a:ln>
          </c:spPr>
          <c:marker>
            <c:spPr>
              <a:noFill/>
              <a:ln>
                <a:noFill/>
              </a:ln>
            </c:spPr>
          </c:marker>
          <c:xVal>
            <c:strRef>
              <c:f>[חוברת1.xlsx]גיליון1!$I$7:$J$7</c:f>
              <c:strCache>
                <c:ptCount val="2"/>
                <c:pt idx="0">
                  <c:v>עלות מנורמלת</c:v>
                </c:pt>
                <c:pt idx="1">
                  <c:v>תועלת</c:v>
                </c:pt>
              </c:strCache>
            </c:strRef>
          </c:xVal>
          <c:yVal>
            <c:numRef>
              <c:f>[חוברת1.xlsx]גיליון1!$I$9:$J$9</c:f>
              <c:numCache>
                <c:formatCode>General</c:formatCode>
                <c:ptCount val="2"/>
                <c:pt idx="0">
                  <c:v>1</c:v>
                </c:pt>
                <c:pt idx="1">
                  <c:v>0.3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D25D-4E1C-968A-A20418040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010959"/>
        <c:axId val="76009999"/>
      </c:scatterChart>
      <c:scatterChart>
        <c:scatterStyle val="smoothMarker"/>
        <c:varyColors val="0"/>
        <c:ser>
          <c:idx val="4"/>
          <c:order val="1"/>
          <c:tx>
            <c:strRef>
              <c:f>[חוברת1.xlsx]גיליון1!$H$9</c:f>
              <c:strCache>
                <c:ptCount val="1"/>
                <c:pt idx="0">
                  <c:v>חלופה ב׳ (WIX)</c:v>
                </c:pt>
              </c:strCache>
            </c:strRef>
          </c:tx>
          <c:spPr>
            <a:ln w="57150"/>
          </c:spPr>
          <c:marker>
            <c:spPr>
              <a:ln w="57150"/>
            </c:spPr>
          </c:marker>
          <c:xVal>
            <c:strRef>
              <c:f>[חוברת1.xlsx]גיליון1!$I$7:$J$7</c:f>
              <c:strCache>
                <c:ptCount val="2"/>
                <c:pt idx="0">
                  <c:v>עלות מנורמלת</c:v>
                </c:pt>
                <c:pt idx="1">
                  <c:v>תועלת</c:v>
                </c:pt>
              </c:strCache>
            </c:strRef>
          </c:xVal>
          <c:yVal>
            <c:numRef>
              <c:f>[חוברת1.xlsx]גיליון1!$I$9:$J$9</c:f>
              <c:numCache>
                <c:formatCode>General</c:formatCode>
                <c:ptCount val="2"/>
                <c:pt idx="0">
                  <c:v>1</c:v>
                </c:pt>
                <c:pt idx="1">
                  <c:v>0.3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25D-4E1C-968A-A20418040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5409247"/>
        <c:axId val="705410687"/>
      </c:scatterChart>
      <c:valAx>
        <c:axId val="76010959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he-IL"/>
                  <a:t>משקל של תועלות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60000"/>
          <a:lstStyle/>
          <a:p>
            <a:pPr>
              <a:defRPr/>
            </a:pPr>
            <a:endParaRPr lang="he-IL"/>
          </a:p>
        </c:txPr>
        <c:crossAx val="76009999"/>
        <c:crosses val="autoZero"/>
        <c:crossBetween val="midCat"/>
      </c:valAx>
      <c:valAx>
        <c:axId val="76009999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he-IL"/>
                  <a:t>תועלת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vert="horz"/>
          <a:lstStyle/>
          <a:p>
            <a:pPr>
              <a:defRPr sz="1800"/>
            </a:pPr>
            <a:endParaRPr lang="he-IL"/>
          </a:p>
        </c:txPr>
        <c:crossAx val="76010959"/>
        <c:crosses val="autoZero"/>
        <c:crossBetween val="midCat"/>
      </c:valAx>
      <c:valAx>
        <c:axId val="705410687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he-IL"/>
                  <a:t>עלות מנורמלת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pPr>
            <a:endParaRPr lang="he-IL"/>
          </a:p>
        </c:txPr>
        <c:crossAx val="705409247"/>
        <c:crosses val="autoZero"/>
        <c:crossBetween val="midCat"/>
      </c:valAx>
      <c:valAx>
        <c:axId val="705409247"/>
        <c:scaling>
          <c:orientation val="minMax"/>
        </c:scaling>
        <c:delete val="1"/>
        <c:axPos val="b"/>
        <c:majorTickMark val="out"/>
        <c:minorTickMark val="none"/>
        <c:tickLblPos val="nextTo"/>
        <c:crossAx val="7054106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txPr>
    <a:bodyPr/>
    <a:lstStyle/>
    <a:p>
      <a:pPr>
        <a:defRPr sz="1600" b="1"/>
      </a:pPr>
      <a:endParaRPr lang="he-IL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DA6DBF6-6AEF-4C94-B79B-CF8746B7BEFD}" type="datetimeFigureOut">
              <a:rPr lang="he-IL" smtClean="0"/>
              <a:t>ב'.אייר.תשפ"ד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9F3F316-D071-47E7-9055-3E1EE9D3B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53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6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25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61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27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65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9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01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23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9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C75E-7934-4551-9929-EE535370C9E1}" type="datetime8">
              <a:rPr lang="he-IL" smtClean="0"/>
              <a:t>10 במאי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224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AC27-A34C-4FDF-871F-6C294FA01191}" type="datetime8">
              <a:rPr lang="he-IL" smtClean="0"/>
              <a:t>10 במאי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431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41EE-1AE9-4D3E-A777-D1AE094AEF40}" type="datetime8">
              <a:rPr lang="he-IL" smtClean="0"/>
              <a:t>10 במאי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602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25CC-79BD-4F95-B947-4A40AADE8AA6}" type="datetime8">
              <a:rPr lang="he-IL" smtClean="0"/>
              <a:t>10 במאי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93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9EA-97B0-4F00-834D-8C2842400A77}" type="datetime8">
              <a:rPr lang="he-IL" smtClean="0"/>
              <a:t>10 במאי 24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26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8273-1AAD-4611-91DF-03A00146180D}" type="datetime8">
              <a:rPr lang="he-IL" smtClean="0"/>
              <a:t>10 במאי 24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307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7296E-5F19-4413-A471-8C8F68F1BF37}" type="datetime8">
              <a:rPr lang="he-IL" smtClean="0"/>
              <a:t>10 במאי 24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029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1B81-F39D-46E3-AF18-471E11A5317D}" type="datetime8">
              <a:rPr lang="he-IL" smtClean="0"/>
              <a:t>10 במאי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96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0DC3-0175-46E8-92D1-70970A1BE46B}" type="datetime8">
              <a:rPr lang="he-IL" smtClean="0"/>
              <a:t>10 במאי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454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D778-CD01-402C-8499-0CC7C1C9CCEB}" type="datetime8">
              <a:rPr lang="he-IL" smtClean="0"/>
              <a:t>10 במאי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789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D135-D5CE-447E-9E19-E004ECE40641}" type="datetime8">
              <a:rPr lang="he-IL" smtClean="0"/>
              <a:t>10 במאי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163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2FEE2-A8FE-4658-A028-C009452A619A}" type="datetime8">
              <a:rPr lang="he-IL" smtClean="0"/>
              <a:t>10 במאי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225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tmp"/><Relationship Id="rId5" Type="http://schemas.openxmlformats.org/officeDocument/2006/relationships/image" Target="../media/image1.png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tmp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:%20https:/www.sikkuy-aufoq.org.il/%D7%9B%D7%9C-%D7%94%D7%90%D7%9E%D7%AA-%D7%A2%D7%9C-%D7%94%D7%9B%D7%A4%D7%A8%D7%99%D7%9D-%D7%94%D7%9C%D7%90-%D7%9E%D7%95%D7%9B%D7%A8%D7%99%D7%9D-%D7%91%D7%A0%D7%92%D7%91-%D7%95%D7%9E%D7%90%D7%91/%20-" TargetMode="External"/><Relationship Id="rId3" Type="http://schemas.openxmlformats.org/officeDocument/2006/relationships/image" Target="../media/image2.tmp"/><Relationship Id="rId7" Type="http://schemas.openxmlformats.org/officeDocument/2006/relationships/hyperlink" Target="https://www.health.gov.il/PublicationsFiles/ICDC_314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s.knesset.gov.il/globaldocs/MMM/9b1d9ce1-26c5-ec11-814c-005056aa4246/2_9b1d9ce1-26c5-ec11-814c-005056aa4246_11_19884.pdf" TargetMode="External"/><Relationship Id="rId5" Type="http://schemas.openxmlformats.org/officeDocument/2006/relationships/hyperlink" Target="https://abrahaminitiatives.org.il/2011/06/20/%D7%94%D7%97%D7%91%D7%A8%D7%94-%D7%94%D7%91%D7%93%D7%95%D7%90%D7%99%D7%AA-%D7%91%D7%A0%D7%92%D7%91/" TargetMode="External"/><Relationship Id="rId4" Type="http://schemas.openxmlformats.org/officeDocument/2006/relationships/hyperlink" Target="https://fs.knesset.gov.il/globaldocs/MMM/5bbeceb1-2e1f-ee11-8159-005056aac6c3/2_5bbeceb1-2e1f-ee11-8159-005056aac6c3_11_20201.pdf" TargetMode="External"/><Relationship Id="rId9" Type="http://schemas.openxmlformats.org/officeDocument/2006/relationships/hyperlink" Target="https://www.health.gov.il/Subjects/pregnancy/Childbirth/birthday/Pages/postnatal_depressions.aspx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site123.com/manager/affiliate/abLandingOutsource.php?subject=&amp;a=1&amp;c_h=%D7%91%D7%A0%D7%94+%D7%90%D7%AA%D7%A8+%D7%90%D7%99%D7%A0%D7%98%D7%A8%D7%A0%D7%98+%D7%91%D7%97%D7%99%D7%A0%D7%9D&amp;utm_source=google&amp;utm_medium=cpc&amp;utm_campaign=11810985533&amp;utm_adgroupID=115705759158&amp;gad_source=1&amp;gclid=Cj0KCQiAz8GuBhCxARIsAOpzk8wz3V_wsEiJdRYvenE0Y0h14K3zYwn3feg3pqHkdX72pmcvCI5Z4bQaAky-EALw_wcB&amp;l=he&amp;landingSystem=1" TargetMode="External"/><Relationship Id="rId3" Type="http://schemas.openxmlformats.org/officeDocument/2006/relationships/image" Target="../media/image2.tmp"/><Relationship Id="rId7" Type="http://schemas.openxmlformats.org/officeDocument/2006/relationships/hyperlink" Target="https://www.wix.com/hebrewhtml/hiker-he?utm_source=google&amp;utm_medium=cpc&amp;utm_campaign=20380950437%5e152265241620%5esearch%20-%20lang&amp;experiment_id=%D7%91%D7%A0%D7%99%D7%99%D7%AA%20%D7%90%D7%AA%D7%A8%20%D7%91%D7%97%D7%99%D7%A0%D7%9D%20%D7%91%D7%A2%D7%91%D7%A8%D7%99%D7%AA%5ee%5e666192343377%5e&amp;gad_source=1&amp;gclid=Cj0KCQiAz8GuBhCxARIsAOpzk8wvNHFWBrsYllrxhbSIvJnxmFq3H8OM9Pc_yXOH_95rBQVykhod0yMaAplMEALw_wc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dwives.org.il/" TargetMode="External"/><Relationship Id="rId5" Type="http://schemas.openxmlformats.org/officeDocument/2006/relationships/hyperlink" Target="https://powerbirth.co.il/" TargetMode="External"/><Relationship Id="rId10" Type="http://schemas.openxmlformats.org/officeDocument/2006/relationships/hyperlink" Target="https://onlinelibrary.wiley.com/authored-by/Drentea/Patricia" TargetMode="External"/><Relationship Id="rId4" Type="http://schemas.openxmlformats.org/officeDocument/2006/relationships/hyperlink" Target="https://www.mamanatural.com/" TargetMode="External"/><Relationship Id="rId9" Type="http://schemas.openxmlformats.org/officeDocument/2006/relationships/hyperlink" Target="https://workspace.google.com/intl/iw/products/sites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idwives.org.il/" TargetMode="External"/><Relationship Id="rId2" Type="http://schemas.openxmlformats.org/officeDocument/2006/relationships/hyperlink" Target="https://powerbirth.co.il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tmp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orkspace.google.com/intl/iw/products/sites/" TargetMode="External"/><Relationship Id="rId5" Type="http://schemas.openxmlformats.org/officeDocument/2006/relationships/hyperlink" Target="https://app.site123.com/manager/affiliate/abLandingOutsource.php?subject=&amp;a=1&amp;c_h=%D7%91%D7%A0%D7%94+%D7%90%D7%AA%D7%A8+%D7%90%D7%99%D7%A0%D7%98%D7%A8%D7%A0%D7%98+%D7%91%D7%97%D7%99%D7%A0%D7%9D&amp;utm_source=google&amp;utm_medium=cpc&amp;utm_campaign=11810985533&amp;utm_adgroupID=115705759158&amp;gad_source=1&amp;gclid=Cj0KCQiAz8GuBhCxARIsAOpzk8wz3V_wsEiJdRYvenE0Y0h14K3zYwn3feg3pqHkdX72pmcvCI5Z4bQaAky-EALw_wcB&amp;l=he&amp;landingSystem=1" TargetMode="External"/><Relationship Id="rId4" Type="http://schemas.openxmlformats.org/officeDocument/2006/relationships/hyperlink" Target="https://www.wix.com/hebrewhtml/hiker-he?utm_source=google&amp;utm_medium=cpc&amp;utm_campaign=20380950437%5e152265241620%5esearch%20-%20lang&amp;experiment_id=%D7%91%D7%A0%D7%99%D7%99%D7%AA%20%D7%90%D7%AA%D7%A8%20%D7%91%D7%97%D7%99%D7%A0%D7%9D%20%D7%91%D7%A2%D7%91%D7%A8%D7%99%D7%AA%5ee%5e666192343377%5e&amp;gad_source=1&amp;gclid=Cj0KCQiAz8GuBhCxARIsAOpzk8wvNHFWBrsYllrxhbSIvJnxmFq3H8OM9Pc_yXOH_95rBQVykhod0yMaAplMEALw_wc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39368" y="6431921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15" name="מלבן 3">
            <a:extLst>
              <a:ext uri="{FF2B5EF4-FFF2-40B4-BE49-F238E27FC236}">
                <a16:creationId xmlns:a16="http://schemas.microsoft.com/office/drawing/2014/main" id="{9F41EEEF-F732-4E48-BAD8-9239F1B1C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38" y="5163199"/>
            <a:ext cx="8417851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 rtl="1">
              <a:spcBef>
                <a:spcPct val="50000"/>
              </a:spcBef>
              <a:defRPr/>
            </a:pPr>
            <a:r>
              <a:rPr lang="he-IL" b="1" u="sng" kern="0" dirty="0">
                <a:solidFill>
                  <a:prstClr val="black"/>
                </a:solidFill>
              </a:rPr>
              <a:t>תחום מקצועי:</a:t>
            </a:r>
            <a:r>
              <a:rPr lang="he-IL" kern="0" dirty="0">
                <a:solidFill>
                  <a:prstClr val="black"/>
                </a:solidFill>
              </a:rPr>
              <a:t> מערכות מידע                     </a:t>
            </a:r>
            <a:r>
              <a:rPr lang="he-IL" b="1" kern="0" dirty="0">
                <a:solidFill>
                  <a:prstClr val="black"/>
                </a:solidFill>
              </a:rPr>
              <a:t>ענף: </a:t>
            </a:r>
            <a:r>
              <a:rPr lang="he-IL" kern="0" dirty="0">
                <a:solidFill>
                  <a:prstClr val="black"/>
                </a:solidFill>
              </a:rPr>
              <a:t>חינוך/גידול ילדים</a:t>
            </a:r>
          </a:p>
          <a:p>
            <a:pPr algn="r" rtl="1">
              <a:spcBef>
                <a:spcPct val="50000"/>
              </a:spcBef>
              <a:defRPr/>
            </a:pPr>
            <a:r>
              <a:rPr lang="he-IL" b="1" u="sng" kern="0" dirty="0">
                <a:solidFill>
                  <a:prstClr val="black"/>
                </a:solidFill>
              </a:rPr>
              <a:t>מילות מפתח:</a:t>
            </a:r>
            <a:r>
              <a:rPr lang="he-IL" kern="0" dirty="0">
                <a:solidFill>
                  <a:prstClr val="black"/>
                </a:solidFill>
              </a:rPr>
              <a:t> תרשים תהליך, תרשים </a:t>
            </a:r>
            <a:r>
              <a:rPr lang="en-US" kern="0" dirty="0">
                <a:solidFill>
                  <a:prstClr val="black"/>
                </a:solidFill>
              </a:rPr>
              <a:t>DFD</a:t>
            </a:r>
            <a:r>
              <a:rPr lang="he-IL" kern="0" dirty="0">
                <a:solidFill>
                  <a:prstClr val="black"/>
                </a:solidFill>
              </a:rPr>
              <a:t>, </a:t>
            </a:r>
            <a:r>
              <a:rPr lang="en-US" kern="0" dirty="0">
                <a:solidFill>
                  <a:prstClr val="black"/>
                </a:solidFill>
              </a:rPr>
              <a:t>VTOC</a:t>
            </a:r>
            <a:r>
              <a:rPr lang="he-IL" kern="0" dirty="0">
                <a:solidFill>
                  <a:prstClr val="black"/>
                </a:solidFill>
              </a:rPr>
              <a:t>, </a:t>
            </a:r>
            <a:r>
              <a:rPr lang="en-US" kern="0" dirty="0">
                <a:solidFill>
                  <a:prstClr val="black"/>
                </a:solidFill>
              </a:rPr>
              <a:t>USE CASE</a:t>
            </a:r>
            <a:r>
              <a:rPr lang="he-IL" kern="0" dirty="0">
                <a:solidFill>
                  <a:prstClr val="black"/>
                </a:solidFill>
              </a:rPr>
              <a:t>, חקר ישימות, אב טיפוס.</a:t>
            </a:r>
          </a:p>
        </p:txBody>
      </p:sp>
      <p:sp>
        <p:nvSpPr>
          <p:cNvPr id="2" name="מלבן 3">
            <a:extLst>
              <a:ext uri="{FF2B5EF4-FFF2-40B4-BE49-F238E27FC236}">
                <a16:creationId xmlns:a16="http://schemas.microsoft.com/office/drawing/2014/main" id="{DACB60C8-419F-F9CB-344F-30E86FD75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85" y="3092852"/>
            <a:ext cx="396025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אקדמי</a:t>
            </a:r>
            <a:r>
              <a:rPr lang="he-IL" b="1" dirty="0"/>
              <a:t>: </a:t>
            </a:r>
            <a:r>
              <a:rPr lang="he-IL" dirty="0"/>
              <a:t>תמר נבון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מקצועי</a:t>
            </a:r>
            <a:r>
              <a:rPr lang="he-IL" dirty="0"/>
              <a:t>: תמר נבון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סמינר</a:t>
            </a:r>
            <a:r>
              <a:rPr lang="he-IL" b="1" dirty="0"/>
              <a:t>: </a:t>
            </a:r>
            <a:r>
              <a:rPr lang="he-IL" dirty="0"/>
              <a:t>דוד שושנה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7D0199DA-4906-44E9-911C-60238883A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23E51BB5-3C9C-44E6-B1EB-E56A708D5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3297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dirty="0">
                <a:latin typeface="Times New Roman" pitchFamily="18" charset="0"/>
              </a:rPr>
              <a:t>פרויקט גמר – תשפ"ד</a:t>
            </a:r>
            <a:br>
              <a:rPr lang="he-IL" sz="2400" b="1" dirty="0">
                <a:latin typeface="Times New Roman" pitchFamily="18" charset="0"/>
              </a:rPr>
            </a:br>
            <a:r>
              <a:rPr lang="he-IL" sz="2400" b="1" dirty="0">
                <a:latin typeface="Times New Roman" pitchFamily="18" charset="0"/>
              </a:rPr>
              <a:t>סמינר </a:t>
            </a:r>
            <a:r>
              <a:rPr lang="he-IL" sz="2000" b="1" dirty="0">
                <a:latin typeface="Times New Roman" pitchFamily="18" charset="0"/>
              </a:rPr>
              <a:t>3</a:t>
            </a:r>
            <a:r>
              <a:rPr lang="he-IL" sz="2400" b="1" dirty="0">
                <a:latin typeface="Times New Roman" pitchFamily="18" charset="0"/>
              </a:rPr>
              <a:t> – </a:t>
            </a:r>
            <a:r>
              <a:rPr lang="en-US" sz="2400" b="1" dirty="0">
                <a:latin typeface="Times New Roman" pitchFamily="18" charset="0"/>
              </a:rPr>
              <a:t>16/05/24</a:t>
            </a:r>
            <a:endParaRPr lang="he-IL" sz="2400" b="1" dirty="0">
              <a:latin typeface="Times New Roman" pitchFamily="18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7AE97C7-02FC-4517-8172-35A44879D997}"/>
              </a:ext>
            </a:extLst>
          </p:cNvPr>
          <p:cNvSpPr/>
          <p:nvPr/>
        </p:nvSpPr>
        <p:spPr>
          <a:xfrm>
            <a:off x="3347103" y="1677529"/>
            <a:ext cx="2829621" cy="4739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7175" indent="-257175" algn="r" rtl="1">
              <a:lnSpc>
                <a:spcPct val="140000"/>
              </a:lnSpc>
              <a:spcBef>
                <a:spcPct val="50000"/>
              </a:spcBef>
              <a:tabLst>
                <a:tab pos="2019300" algn="r"/>
              </a:tabLst>
            </a:pPr>
            <a:r>
              <a:rPr lang="he-IL" sz="2000" b="1" dirty="0">
                <a:latin typeface="David" panose="020E0502060401010101" pitchFamily="34" charset="-79"/>
              </a:rPr>
              <a:t>מספר הפרויקט</a:t>
            </a:r>
            <a:r>
              <a:rPr lang="he-IL" sz="2000" dirty="0">
                <a:latin typeface="David" panose="020E0502060401010101" pitchFamily="34" charset="-79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13-2024</a:t>
            </a:r>
            <a:endParaRPr lang="he-I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4" name="מלבן 3"/>
          <p:cNvSpPr>
            <a:spLocks noChangeArrowheads="1"/>
          </p:cNvSpPr>
          <p:nvPr/>
        </p:nvSpPr>
        <p:spPr bwMode="auto">
          <a:xfrm>
            <a:off x="4164037" y="2717814"/>
            <a:ext cx="4691453" cy="194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מגישים</a:t>
            </a:r>
            <a:r>
              <a:rPr lang="he-IL" b="1" dirty="0"/>
              <a:t>: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dirty="0"/>
              <a:t>סוהילה מסעודיין- </a:t>
            </a:r>
            <a:r>
              <a:rPr lang="he-IL" dirty="0"/>
              <a:t>ניהול תעשייתי/מע' מידע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dirty="0"/>
              <a:t>מרים אבו כף- </a:t>
            </a:r>
            <a:r>
              <a:rPr lang="he-IL" dirty="0"/>
              <a:t>ניהול תעשייתי/מע' מידע</a:t>
            </a:r>
          </a:p>
          <a:p>
            <a:pPr algn="r" rtl="1">
              <a:spcBef>
                <a:spcPct val="50000"/>
              </a:spcBef>
            </a:pPr>
            <a:r>
              <a:rPr lang="he-IL" b="1" dirty="0"/>
              <a:t>אסיא אלסייד- </a:t>
            </a:r>
            <a:r>
              <a:rPr lang="he-IL" dirty="0"/>
              <a:t>ניהול תעשייתי/מע' מידע</a:t>
            </a:r>
          </a:p>
          <a:p>
            <a:pPr algn="r" rtl="1" eaLnBrk="1" hangingPunct="1">
              <a:spcBef>
                <a:spcPct val="20000"/>
              </a:spcBef>
            </a:pPr>
            <a:r>
              <a:rPr lang="he-IL" b="1" u="sng" dirty="0"/>
              <a:t>מקור הפרויקט</a:t>
            </a:r>
            <a:r>
              <a:rPr lang="he-IL" b="1" dirty="0"/>
              <a:t>: </a:t>
            </a:r>
            <a:r>
              <a:rPr lang="he-IL" dirty="0"/>
              <a:t>סטודנטים</a:t>
            </a:r>
          </a:p>
        </p:txBody>
      </p:sp>
      <p:sp>
        <p:nvSpPr>
          <p:cNvPr id="2053" name="מלבן 3"/>
          <p:cNvSpPr>
            <a:spLocks noChangeArrowheads="1"/>
          </p:cNvSpPr>
          <p:nvPr/>
        </p:nvSpPr>
        <p:spPr bwMode="auto">
          <a:xfrm>
            <a:off x="1319647" y="1119129"/>
            <a:ext cx="6504707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he-IL" sz="2800" dirty="0"/>
              <a:t>אתר אינטרנט לאימהות חדשות במגזר הבדואי</a:t>
            </a:r>
          </a:p>
          <a:p>
            <a:pPr algn="ctr">
              <a:spcBef>
                <a:spcPct val="20000"/>
              </a:spcBef>
            </a:pPr>
            <a:endParaRPr lang="he-IL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010846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הארגון- רקע כללי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23332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11267331-BF0D-6D56-F93A-BCA2360E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</a:t>
            </a:fld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D21FE-445F-4572-B9E4-FA58E71ECAF6}"/>
              </a:ext>
            </a:extLst>
          </p:cNvPr>
          <p:cNvSpPr txBox="1"/>
          <p:nvPr/>
        </p:nvSpPr>
        <p:spPr>
          <a:xfrm>
            <a:off x="288510" y="876849"/>
            <a:ext cx="8777616" cy="36995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1600" dirty="0"/>
              <a:t>66</a:t>
            </a:r>
            <a:r>
              <a:rPr lang="he-IL" dirty="0"/>
              <a:t>% מהאוכלוסייה מהמגזר הבדואי הינם בקבוצת גיל 0-19</a:t>
            </a:r>
            <a:r>
              <a:rPr lang="en-US" sz="1600" dirty="0"/>
              <a:t>.</a:t>
            </a:r>
            <a:endParaRPr lang="he-IL" sz="1400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dirty="0"/>
              <a:t>חלק גדול מהאימהות החדשות במגזר הבדואי הן קטינות</a:t>
            </a:r>
            <a:r>
              <a:rPr lang="en-US" dirty="0"/>
              <a:t>.</a:t>
            </a:r>
            <a:endParaRPr lang="he-IL" sz="1400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dirty="0"/>
              <a:t>בדרך כלל ההריון הראשון מגיע בשנתיים הראשונות לנישואין ובגיל צעיר במיוחד. </a:t>
            </a:r>
            <a:endParaRPr lang="he-IL" sz="1400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dirty="0"/>
              <a:t>בכפרים הלא מוכרים, אין כמעט מבני ציבור כמו מרפאות, וזה משפיע על קבלת מידע רפואי לאימהות במיוחד אימהות צעירות</a:t>
            </a:r>
            <a:r>
              <a:rPr lang="he-IL" sz="1400" dirty="0"/>
              <a:t>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dirty="0"/>
              <a:t>ברוב היישובים קיימת נגישות לאינטרנט ורשתות סלולר.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1400" dirty="0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2321B528-DA0C-F04E-4EDE-859B158CB38F}"/>
              </a:ext>
            </a:extLst>
          </p:cNvPr>
          <p:cNvSpPr txBox="1"/>
          <p:nvPr/>
        </p:nvSpPr>
        <p:spPr>
          <a:xfrm>
            <a:off x="496111" y="4570832"/>
            <a:ext cx="8151778" cy="83099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בשיח האימהות החדשות במגזר הבדואי,</a:t>
            </a:r>
          </a:p>
          <a:p>
            <a:pPr algn="ctr" rtl="1"/>
            <a:r>
              <a:rPr lang="he-IL" sz="2400" b="1" dirty="0"/>
              <a:t> יש תלונות על חוסר במידע על גידול ילדים.</a:t>
            </a:r>
          </a:p>
        </p:txBody>
      </p:sp>
      <p:sp>
        <p:nvSpPr>
          <p:cNvPr id="5" name="מציין מיקום של כותרת תחתונה 3">
            <a:extLst>
              <a:ext uri="{FF2B5EF4-FFF2-40B4-BE49-F238E27FC236}">
                <a16:creationId xmlns:a16="http://schemas.microsoft.com/office/drawing/2014/main" id="{8FB7E9C8-A883-8747-2D71-3E67C39C34A5}"/>
              </a:ext>
            </a:extLst>
          </p:cNvPr>
          <p:cNvSpPr txBox="1">
            <a:spLocks/>
          </p:cNvSpPr>
          <p:nvPr/>
        </p:nvSpPr>
        <p:spPr>
          <a:xfrm>
            <a:off x="5139974" y="5736771"/>
            <a:ext cx="4004026" cy="1388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.איריק ,ר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, ד"ר 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תאבת,א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(2011)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2.רוני ה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,(2022)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3.סיכוי-אופוק לשוויון ושותפות(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</a:rPr>
              <a:t>ע"ר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(2020)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4.ראיון עם אם צעירה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5.ראיון אם ותיקה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6. סקר אימהות חדשות,2024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2D8F463F-A078-6331-2A8E-16F964B8D327}"/>
              </a:ext>
            </a:extLst>
          </p:cNvPr>
          <p:cNvSpPr txBox="1"/>
          <p:nvPr/>
        </p:nvSpPr>
        <p:spPr>
          <a:xfrm>
            <a:off x="687053" y="2749666"/>
            <a:ext cx="36325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3</a:t>
            </a:r>
            <a:endParaRPr lang="he-IL" sz="105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BC9329E0-20F2-99D8-9ED4-113A7BC5D7E0}"/>
              </a:ext>
            </a:extLst>
          </p:cNvPr>
          <p:cNvSpPr txBox="1"/>
          <p:nvPr/>
        </p:nvSpPr>
        <p:spPr>
          <a:xfrm>
            <a:off x="5933630" y="1558210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2</a:t>
            </a:r>
            <a:endParaRPr lang="he-IL" sz="1050" dirty="0"/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698CAE49-8263-4BEA-859F-EE75AE828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BBA213D2-D33A-4E3B-ACE9-32FD28A56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AEB6367-32D7-A1C8-FF7C-941E089B5324}"/>
              </a:ext>
            </a:extLst>
          </p:cNvPr>
          <p:cNvSpPr txBox="1"/>
          <p:nvPr/>
        </p:nvSpPr>
        <p:spPr>
          <a:xfrm>
            <a:off x="1402081" y="2160210"/>
            <a:ext cx="76728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4,5,6</a:t>
            </a:r>
            <a:endParaRPr lang="he-IL" sz="105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E05A46A-D52B-27C1-1986-495C9120A31E}"/>
              </a:ext>
            </a:extLst>
          </p:cNvPr>
          <p:cNvSpPr txBox="1"/>
          <p:nvPr/>
        </p:nvSpPr>
        <p:spPr>
          <a:xfrm>
            <a:off x="3658853" y="3777238"/>
            <a:ext cx="36325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050" dirty="0"/>
              <a:t>6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B0EA380C-31A8-A48B-C3C3-B7E454485E8B}"/>
              </a:ext>
            </a:extLst>
          </p:cNvPr>
          <p:cNvSpPr txBox="1"/>
          <p:nvPr/>
        </p:nvSpPr>
        <p:spPr>
          <a:xfrm>
            <a:off x="5498201" y="1030875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1</a:t>
            </a:r>
            <a:endParaRPr lang="he-IL" sz="1050" dirty="0"/>
          </a:p>
        </p:txBody>
      </p:sp>
    </p:spTree>
    <p:extLst>
      <p:ext uri="{BB962C8B-B14F-4D97-AF65-F5344CB8AC3E}">
        <p14:creationId xmlns:p14="http://schemas.microsoft.com/office/powerpoint/2010/main" val="28663669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6594" y="185509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תיאור מצב קיים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21642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7435F99-FF78-2E65-A2DD-B0C2B1D5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24843"/>
            <a:ext cx="2057400" cy="365125"/>
          </a:xfrm>
        </p:spPr>
        <p:txBody>
          <a:bodyPr vert="horz" lIns="91440" tIns="45720" rIns="91440" bIns="45720" rtlCol="0" anchor="ctr"/>
          <a:lstStyle/>
          <a:p>
            <a:pPr algn="l"/>
            <a:fld id="{F406CD6C-EFBE-497B-B02F-71827CD8C8E4}" type="slidenum">
              <a:rPr lang="he-IL"/>
              <a:pPr algn="l"/>
              <a:t>3</a:t>
            </a:fld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43D05-AAF0-43D2-8223-5D66E324B43E}"/>
              </a:ext>
            </a:extLst>
          </p:cNvPr>
          <p:cNvSpPr txBox="1"/>
          <p:nvPr/>
        </p:nvSpPr>
        <p:spPr>
          <a:xfrm>
            <a:off x="6594" y="1039751"/>
            <a:ext cx="9033598" cy="252376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אוכלוסיית הנשואים במגזר הבדואי כוללת 300 אלף איש ואישה, מהם כ-20% בנות בגיל 18- 25.</a:t>
            </a: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בשנים האחרונות יש ירידה במספר הקטינות שיולדות, ומדווחות על כך לביטוח לאומי.</a:t>
            </a: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5% מקרב הילודים הבדואים במחוז הדרום נולדו לאימהות מתחת לגיל 20.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חלק גדול מהאימהות חדשות הן בעלות השכלה חטיבת ביניים ותיכון.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לפעמים נשים בהריון ולאחר לידה חוות עצב ,פחד ,כעס או תסכול.</a:t>
            </a:r>
            <a:endParaRPr lang="he-IL" b="1" dirty="0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6B1D7C80-8BE3-6F24-842E-1CAA1841D937}"/>
              </a:ext>
            </a:extLst>
          </p:cNvPr>
          <p:cNvSpPr txBox="1"/>
          <p:nvPr/>
        </p:nvSpPr>
        <p:spPr>
          <a:xfrm>
            <a:off x="496111" y="4979972"/>
            <a:ext cx="8151778" cy="4616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הפרויקט יתמקד בבניית אתר למידע לאימהות חדשות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144876E4-2F31-23EC-7718-C2AE88A6DC25}"/>
              </a:ext>
            </a:extLst>
          </p:cNvPr>
          <p:cNvSpPr txBox="1"/>
          <p:nvPr/>
        </p:nvSpPr>
        <p:spPr>
          <a:xfrm>
            <a:off x="6803946" y="1000517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7</a:t>
            </a:r>
            <a:endParaRPr lang="he-IL" sz="1050" b="1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6368F864-CC7C-873F-8084-48040FC4B53C}"/>
              </a:ext>
            </a:extLst>
          </p:cNvPr>
          <p:cNvSpPr txBox="1"/>
          <p:nvPr/>
        </p:nvSpPr>
        <p:spPr>
          <a:xfrm>
            <a:off x="4679298" y="1533856"/>
            <a:ext cx="177573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2</a:t>
            </a:r>
            <a:endParaRPr lang="he-IL" sz="1050" b="1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A6C1E922-DC96-78AD-F2C0-A319961012F5}"/>
              </a:ext>
            </a:extLst>
          </p:cNvPr>
          <p:cNvSpPr txBox="1"/>
          <p:nvPr/>
        </p:nvSpPr>
        <p:spPr>
          <a:xfrm>
            <a:off x="5638736" y="3175084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9</a:t>
            </a:r>
            <a:endParaRPr lang="he-IL" sz="1050" b="1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9BA70B22-1DCE-06FD-83BD-61B34948A9CF}"/>
              </a:ext>
            </a:extLst>
          </p:cNvPr>
          <p:cNvSpPr txBox="1"/>
          <p:nvPr/>
        </p:nvSpPr>
        <p:spPr>
          <a:xfrm>
            <a:off x="6803945" y="2131174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8</a:t>
            </a:r>
            <a:endParaRPr lang="he-IL" sz="1050" b="1" dirty="0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F6AF7508-A6E7-C817-3159-F8BD86C4B37E}"/>
              </a:ext>
            </a:extLst>
          </p:cNvPr>
          <p:cNvSpPr txBox="1"/>
          <p:nvPr/>
        </p:nvSpPr>
        <p:spPr>
          <a:xfrm>
            <a:off x="6005977" y="2634776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8</a:t>
            </a:r>
            <a:endParaRPr lang="he-IL" sz="1050" b="1" dirty="0"/>
          </a:p>
        </p:txBody>
      </p:sp>
      <p:sp>
        <p:nvSpPr>
          <p:cNvPr id="18" name="מציין מיקום של כותרת תחתונה 3">
            <a:extLst>
              <a:ext uri="{FF2B5EF4-FFF2-40B4-BE49-F238E27FC236}">
                <a16:creationId xmlns:a16="http://schemas.microsoft.com/office/drawing/2014/main" id="{CD27C043-6BE8-B393-9E97-7014D2FC10B2}"/>
              </a:ext>
            </a:extLst>
          </p:cNvPr>
          <p:cNvSpPr txBox="1">
            <a:spLocks/>
          </p:cNvSpPr>
          <p:nvPr/>
        </p:nvSpPr>
        <p:spPr>
          <a:xfrm>
            <a:off x="6656862" y="4722312"/>
            <a:ext cx="2409264" cy="1107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 rtl="1">
              <a:buFont typeface="+mj-lt"/>
              <a:buAutoNum type="arabicPeriod"/>
            </a:pP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9" name="מציין מיקום של כותרת תחתונה 3">
            <a:extLst>
              <a:ext uri="{FF2B5EF4-FFF2-40B4-BE49-F238E27FC236}">
                <a16:creationId xmlns:a16="http://schemas.microsoft.com/office/drawing/2014/main" id="{0453B6AB-D5C6-DDD4-3861-E80CA907C985}"/>
              </a:ext>
            </a:extLst>
          </p:cNvPr>
          <p:cNvSpPr txBox="1">
            <a:spLocks/>
          </p:cNvSpPr>
          <p:nvPr/>
        </p:nvSpPr>
        <p:spPr>
          <a:xfrm>
            <a:off x="6656862" y="4897677"/>
            <a:ext cx="2409264" cy="20334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1"/>
            <a:endParaRPr lang="he-IL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מציין מיקום של כותרת תחתונה 3">
            <a:extLst>
              <a:ext uri="{FF2B5EF4-FFF2-40B4-BE49-F238E27FC236}">
                <a16:creationId xmlns:a16="http://schemas.microsoft.com/office/drawing/2014/main" id="{B6B3E086-0B05-240E-E1C3-47E0C6F35AF5}"/>
              </a:ext>
            </a:extLst>
          </p:cNvPr>
          <p:cNvSpPr txBox="1">
            <a:spLocks/>
          </p:cNvSpPr>
          <p:nvPr/>
        </p:nvSpPr>
        <p:spPr>
          <a:xfrm>
            <a:off x="2668674" y="6144033"/>
            <a:ext cx="6475326" cy="7267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2.רוני ה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,(2022)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7.אוריאנה א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' 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, (2023)</a:t>
            </a:r>
          </a:p>
          <a:p>
            <a:pPr algn="r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8.רשימת מחברים , (2008)</a:t>
            </a:r>
            <a:endParaRPr lang="he-IL" sz="1050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9."דיכאון אחרי לידה ובמהלך ההיריון-מידע לאישה ההרה, ליולדות ולבני משפחתה" , משרד הבריאות.</a:t>
            </a:r>
          </a:p>
          <a:p>
            <a:pPr algn="r" rtl="1"/>
            <a:endParaRPr lang="he-IL" b="1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b="1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b="1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0" indent="-228600" algn="r" rtl="1">
              <a:buFont typeface="+mj-lt"/>
              <a:buAutoNum type="arabicPeriod"/>
            </a:pPr>
            <a:endParaRPr lang="he-IL" b="1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2231E926-FC65-4EEB-9658-473FDA105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424F1F9E-17FC-4F47-916E-5017A277A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469183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1541419" y="171689"/>
            <a:ext cx="6440987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תיאור הצורך באתר אינטרנט-סקר אימהות חדשות </a:t>
            </a: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שאלות 3,8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402B074-3020-FC99-48E9-19C2F50C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4</a:t>
            </a:fld>
            <a:endParaRPr lang="he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CBFB8F4-0FF9-2EE7-C450-D13A1CD77F29}"/>
              </a:ext>
            </a:extLst>
          </p:cNvPr>
          <p:cNvSpPr txBox="1"/>
          <p:nvPr/>
        </p:nvSpPr>
        <p:spPr>
          <a:xfrm>
            <a:off x="4912440" y="5400324"/>
            <a:ext cx="4075718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rtl="1"/>
            <a:r>
              <a:rPr lang="he-IL" sz="1800" b="1" dirty="0"/>
              <a:t>32% מהאימהות בקבוצת גיל 18-25 נשואות 0-1 שנה, </a:t>
            </a:r>
          </a:p>
          <a:p>
            <a:pPr algn="ctr" rtl="1"/>
            <a:r>
              <a:rPr lang="he-IL" sz="1800" b="1" dirty="0"/>
              <a:t>52% בקבוצת גיל 18-25 נשואות 2+ שנים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3AED9BB-3562-81B0-6FFA-22217AC6128D}"/>
              </a:ext>
            </a:extLst>
          </p:cNvPr>
          <p:cNvSpPr txBox="1"/>
          <p:nvPr/>
        </p:nvSpPr>
        <p:spPr>
          <a:xfrm>
            <a:off x="262514" y="5401703"/>
            <a:ext cx="4243294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dirty="0"/>
              <a:t>26% מתביישות או חוששות לשאול</a:t>
            </a:r>
          </a:p>
          <a:p>
            <a:r>
              <a:rPr lang="he-IL" dirty="0"/>
              <a:t> </a:t>
            </a:r>
          </a:p>
          <a:p>
            <a:r>
              <a:rPr lang="he-IL" dirty="0"/>
              <a:t> 74% לא מתביישות לשאול שאלות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03D8330C-AE7A-7DAA-5957-48243FEC50EA}"/>
              </a:ext>
            </a:extLst>
          </p:cNvPr>
          <p:cNvSpPr txBox="1"/>
          <p:nvPr/>
        </p:nvSpPr>
        <p:spPr>
          <a:xfrm>
            <a:off x="236520" y="822231"/>
            <a:ext cx="4295282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b="1" dirty="0"/>
              <a:t>שאלה 8:</a:t>
            </a:r>
          </a:p>
          <a:p>
            <a:pPr algn="ctr" rtl="1"/>
            <a:r>
              <a:rPr lang="he-IL" b="1" dirty="0"/>
              <a:t>האם מתביישת או חוששת לשאול שאלות?</a:t>
            </a:r>
          </a:p>
          <a:p>
            <a:pPr algn="ctr" rtl="1"/>
            <a:endParaRPr lang="he-IL" b="1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4FA5FE7-1B23-4853-FF96-9148625A506D}"/>
              </a:ext>
            </a:extLst>
          </p:cNvPr>
          <p:cNvSpPr/>
          <p:nvPr/>
        </p:nvSpPr>
        <p:spPr>
          <a:xfrm>
            <a:off x="4912440" y="836816"/>
            <a:ext cx="4075719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1800" b="1" u="none" strike="noStrike" dirty="0">
                <a:effectLst/>
              </a:rPr>
              <a:t>שאלה 3:</a:t>
            </a:r>
          </a:p>
          <a:p>
            <a:pPr algn="ctr" rtl="1"/>
            <a:r>
              <a:rPr lang="he-IL" sz="1800" b="1" u="none" strike="noStrike" dirty="0">
                <a:effectLst/>
              </a:rPr>
              <a:t> כמה זמן נשואה </a:t>
            </a:r>
          </a:p>
          <a:p>
            <a:pPr algn="ctr" rtl="1"/>
            <a:r>
              <a:rPr lang="he-IL" sz="1800" b="1" u="none" strike="noStrike" dirty="0">
                <a:effectLst/>
              </a:rPr>
              <a:t>בחתך קבוצת גיל </a:t>
            </a:r>
            <a:r>
              <a:rPr lang="he-IL" sz="1800" b="1" i="0" dirty="0">
                <a:solidFill>
                  <a:srgbClr val="000000"/>
                </a:solidFill>
                <a:latin typeface="Arial" panose="020B0604020202020204" pitchFamily="34" charset="0"/>
              </a:rPr>
              <a:t>אימהות לילד ראשון?</a:t>
            </a:r>
            <a:endParaRPr lang="he-IL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B4D24531-692C-C651-15C0-2B0F88551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42681"/>
              </p:ext>
            </p:extLst>
          </p:nvPr>
        </p:nvGraphicFramePr>
        <p:xfrm>
          <a:off x="4641442" y="1815557"/>
          <a:ext cx="4099612" cy="374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תרשים 12">
            <a:extLst>
              <a:ext uri="{FF2B5EF4-FFF2-40B4-BE49-F238E27FC236}">
                <a16:creationId xmlns:a16="http://schemas.microsoft.com/office/drawing/2014/main" id="{0F3EA8E4-C8BF-453A-BF46-CE83F609A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8735342"/>
              </p:ext>
            </p:extLst>
          </p:nvPr>
        </p:nvGraphicFramePr>
        <p:xfrm>
          <a:off x="4584653" y="1849821"/>
          <a:ext cx="4403505" cy="374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תרשים 7">
            <a:extLst>
              <a:ext uri="{FF2B5EF4-FFF2-40B4-BE49-F238E27FC236}">
                <a16:creationId xmlns:a16="http://schemas.microsoft.com/office/drawing/2014/main" id="{666DF055-83DA-B7B2-C39F-347370D16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52564"/>
              </p:ext>
            </p:extLst>
          </p:nvPr>
        </p:nvGraphicFramePr>
        <p:xfrm>
          <a:off x="155842" y="1734275"/>
          <a:ext cx="4295282" cy="36909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תמונה 14">
            <a:extLst>
              <a:ext uri="{FF2B5EF4-FFF2-40B4-BE49-F238E27FC236}">
                <a16:creationId xmlns:a16="http://schemas.microsoft.com/office/drawing/2014/main" id="{0D99B245-3BDE-49AA-A0C2-1E2331E10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420D3BB7-45DC-4D92-9C36-6FAF41053E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2D46A45-A014-B994-8B08-DBF03E7ABA6A}"/>
              </a:ext>
            </a:extLst>
          </p:cNvPr>
          <p:cNvSpPr txBox="1"/>
          <p:nvPr/>
        </p:nvSpPr>
        <p:spPr>
          <a:xfrm>
            <a:off x="3543403" y="-29995"/>
            <a:ext cx="560511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6</a:t>
            </a:r>
            <a:endParaRPr lang="he-IL" sz="1050" b="1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DA17832-CF7E-91D2-1BD0-1412C3F24811}"/>
              </a:ext>
            </a:extLst>
          </p:cNvPr>
          <p:cNvSpPr txBox="1"/>
          <p:nvPr/>
        </p:nvSpPr>
        <p:spPr>
          <a:xfrm>
            <a:off x="7430006" y="6408467"/>
            <a:ext cx="1713994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6.סקר אימהות ציעורת ,2024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7328994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1307940F-0E3B-08D0-0911-72EC034C9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875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FD818957-6CE8-E4F6-602E-45E70367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5</a:t>
            </a:fld>
            <a:endParaRPr lang="he-IL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1FF915-6B4B-DA93-2FEE-B6AA23DD7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578" y="136524"/>
            <a:ext cx="6229602" cy="959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תיאור הצורך באתר אינטרנט- סקר אימהות חדשות</a:t>
            </a: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none" strike="noStrike" dirty="0">
                <a:effectLst/>
              </a:rPr>
              <a:t>(שאל</a:t>
            </a:r>
            <a:r>
              <a:rPr lang="he-IL" sz="2400" b="1" dirty="0"/>
              <a:t>ות 7-4 ו-9)</a:t>
            </a:r>
            <a:endParaRPr lang="he-IL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endParaRPr lang="he-IL" sz="2400" b="1" u="sng" dirty="0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C4EC2285-092B-DB5B-1EA8-64BA2AE24FDC}"/>
              </a:ext>
            </a:extLst>
          </p:cNvPr>
          <p:cNvSpPr txBox="1"/>
          <p:nvPr/>
        </p:nvSpPr>
        <p:spPr>
          <a:xfrm>
            <a:off x="218927" y="4842770"/>
            <a:ext cx="5071403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u="sng" dirty="0"/>
              <a:t>שאלה 4:</a:t>
            </a:r>
            <a:r>
              <a:rPr lang="he-IL" b="1" dirty="0"/>
              <a:t> ניסיון בגידול תינוק 61% יש ו-39% אין</a:t>
            </a:r>
          </a:p>
          <a:p>
            <a:pPr algn="r" rtl="1"/>
            <a:r>
              <a:rPr lang="he-IL" b="1" u="sng" dirty="0"/>
              <a:t>שאלה 5: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קבלת הדרכה כלשהי לטיפול בתינוק:</a:t>
            </a:r>
          </a:p>
          <a:p>
            <a:pPr algn="r" rtl="1"/>
            <a:r>
              <a:rPr lang="he-IL" b="1" dirty="0"/>
              <a:t> 79% כן, 21% לא </a:t>
            </a:r>
          </a:p>
          <a:p>
            <a:pPr algn="r" rtl="1"/>
            <a:r>
              <a:rPr lang="he-IL" b="1" u="sng" dirty="0"/>
              <a:t>שאלה 6: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האם ההדרכה הייתה מקרובי משפחה? </a:t>
            </a:r>
            <a:endParaRPr lang="he-IL" sz="1800" b="1" i="0" u="none" strike="noStrike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r" rtl="1"/>
            <a:r>
              <a:rPr lang="he-IL" b="1" dirty="0"/>
              <a:t>78%  כן, 22% לא</a:t>
            </a:r>
          </a:p>
        </p:txBody>
      </p:sp>
      <p:graphicFrame>
        <p:nvGraphicFramePr>
          <p:cNvPr id="10" name="תרשים 9">
            <a:extLst>
              <a:ext uri="{FF2B5EF4-FFF2-40B4-BE49-F238E27FC236}">
                <a16:creationId xmlns:a16="http://schemas.microsoft.com/office/drawing/2014/main" id="{BC50E3C9-398E-44D6-B90A-C354B1C5A8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3333554"/>
              </p:ext>
            </p:extLst>
          </p:nvPr>
        </p:nvGraphicFramePr>
        <p:xfrm>
          <a:off x="397597" y="972737"/>
          <a:ext cx="8348806" cy="4028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15">
            <a:extLst>
              <a:ext uri="{FF2B5EF4-FFF2-40B4-BE49-F238E27FC236}">
                <a16:creationId xmlns:a16="http://schemas.microsoft.com/office/drawing/2014/main" id="{884C742B-6DD1-3A53-7F67-0C695D064BFE}"/>
              </a:ext>
            </a:extLst>
          </p:cNvPr>
          <p:cNvSpPr txBox="1"/>
          <p:nvPr/>
        </p:nvSpPr>
        <p:spPr>
          <a:xfrm>
            <a:off x="5360670" y="4842770"/>
            <a:ext cx="3706836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u="sng" dirty="0"/>
              <a:t>שאלה 7: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קושי להתמודד עם התינוק בלי עזרה: 89%</a:t>
            </a:r>
            <a:r>
              <a:rPr lang="he-IL" b="1" dirty="0"/>
              <a:t>  כן ,11% לא</a:t>
            </a:r>
          </a:p>
          <a:p>
            <a:pPr algn="r" rtl="1"/>
            <a:endParaRPr lang="he-IL" b="1" dirty="0"/>
          </a:p>
          <a:p>
            <a:pPr algn="r" rtl="1"/>
            <a:r>
              <a:rPr lang="he-IL" b="1" u="sng" dirty="0"/>
              <a:t>שאלה 9: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חסר לך מידע לטיפול בתינוק/ת?:</a:t>
            </a:r>
            <a:r>
              <a:rPr lang="he-IL" b="1" dirty="0"/>
              <a:t> 70% כן, 30%לא .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5801848D-7F51-49E4-90D3-93743768B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A71055F0-2929-4B40-BC8C-37B3227B0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E4E4E94-B082-4F0F-715E-149979580545}"/>
              </a:ext>
            </a:extLst>
          </p:cNvPr>
          <p:cNvSpPr txBox="1"/>
          <p:nvPr/>
        </p:nvSpPr>
        <p:spPr>
          <a:xfrm>
            <a:off x="3178170" y="-89592"/>
            <a:ext cx="533859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6</a:t>
            </a:r>
            <a:endParaRPr lang="he-IL" sz="1050" b="1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C91CFC7-4C77-81AF-6742-DAB6AD5D2F09}"/>
              </a:ext>
            </a:extLst>
          </p:cNvPr>
          <p:cNvSpPr txBox="1"/>
          <p:nvPr/>
        </p:nvSpPr>
        <p:spPr>
          <a:xfrm>
            <a:off x="7430006" y="6468227"/>
            <a:ext cx="1713994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6.סקר אימהות ציעורת ,2024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20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0ABD4892-B720-B921-375E-8684C4760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083" y="-54984"/>
            <a:ext cx="7157834" cy="907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>
            <a:defPPr>
              <a:defRPr lang="en-US"/>
            </a:defPPr>
            <a:lvl1pPr algn="ctr" rtl="1">
              <a:lnSpc>
                <a:spcPts val="1400"/>
              </a:lnSpc>
              <a:spcBef>
                <a:spcPct val="50000"/>
              </a:spcBef>
              <a:defRPr sz="2400" b="1" u="sng"/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he-IL" dirty="0"/>
              <a:t>תיאור הצורך </a:t>
            </a:r>
            <a:r>
              <a:rPr lang="he-IL" sz="2400" b="1" u="sng" dirty="0">
                <a:latin typeface="Times New Roman" pitchFamily="18" charset="0"/>
              </a:rPr>
              <a:t>באתר אינטרנט-סקר אימהות חדשות</a:t>
            </a:r>
            <a:endParaRPr lang="he-IL" sz="20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D910093-5DBC-3502-47E8-81DFF9F7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09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6</a:t>
            </a:fld>
            <a:endParaRPr lang="he-IL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386145A-7937-C381-74C0-36FC489FCA57}"/>
              </a:ext>
            </a:extLst>
          </p:cNvPr>
          <p:cNvSpPr txBox="1"/>
          <p:nvPr/>
        </p:nvSpPr>
        <p:spPr>
          <a:xfrm>
            <a:off x="868681" y="5271985"/>
            <a:ext cx="3493592" cy="95410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sz="1800" b="1" dirty="0"/>
              <a:t>94% השיבו כן-</a:t>
            </a:r>
          </a:p>
          <a:p>
            <a:endParaRPr lang="he-IL" sz="1800" b="1" dirty="0"/>
          </a:p>
          <a:p>
            <a:r>
              <a:rPr lang="he-IL" sz="2000" b="1" dirty="0"/>
              <a:t>אתר ייעודי יכול לסייע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A125EED1-4842-3C57-EB51-0929242E7DCA}"/>
              </a:ext>
            </a:extLst>
          </p:cNvPr>
          <p:cNvSpPr txBox="1"/>
          <p:nvPr/>
        </p:nvSpPr>
        <p:spPr>
          <a:xfrm>
            <a:off x="842448" y="727012"/>
            <a:ext cx="3493592" cy="101566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sz="2000" b="1" dirty="0"/>
              <a:t>שאלה 11:</a:t>
            </a:r>
          </a:p>
          <a:p>
            <a:r>
              <a:rPr lang="he-IL" sz="2000" b="1" dirty="0"/>
              <a:t>האם אתר אינטרנט ייעודי יכול לסייע לאימהות חדשות? 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7F522016-92AE-988F-9301-26F3640705D5}"/>
              </a:ext>
            </a:extLst>
          </p:cNvPr>
          <p:cNvSpPr txBox="1"/>
          <p:nvPr/>
        </p:nvSpPr>
        <p:spPr>
          <a:xfrm>
            <a:off x="4761913" y="747479"/>
            <a:ext cx="3609703" cy="101566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rtl="1"/>
            <a:r>
              <a:rPr lang="he-IL" sz="2000" b="1" dirty="0">
                <a:solidFill>
                  <a:schemeClr val="dk1"/>
                </a:solidFill>
              </a:rPr>
              <a:t>שאלה 10: </a:t>
            </a:r>
          </a:p>
          <a:p>
            <a:pPr algn="ctr" rtl="1"/>
            <a:r>
              <a:rPr lang="he-IL" sz="2000" b="1" dirty="0">
                <a:solidFill>
                  <a:schemeClr val="dk1"/>
                </a:solidFill>
              </a:rPr>
              <a:t>היכן מחפשת מידע על טיפול בתינוק/ת?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E903C04-4E44-8645-CA4C-CD62FF1C3E10}"/>
              </a:ext>
            </a:extLst>
          </p:cNvPr>
          <p:cNvSpPr txBox="1"/>
          <p:nvPr/>
        </p:nvSpPr>
        <p:spPr>
          <a:xfrm>
            <a:off x="4954673" y="5271985"/>
            <a:ext cx="3609703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r"/>
            <a:r>
              <a:rPr lang="he-IL" sz="1800" b="1" dirty="0"/>
              <a:t>84% נעזרות בקרובי משפחה </a:t>
            </a:r>
          </a:p>
          <a:p>
            <a:pPr algn="r"/>
            <a:r>
              <a:rPr lang="he-IL" sz="1800" b="1" dirty="0"/>
              <a:t>7% בחברים ו-9% באחר</a:t>
            </a:r>
          </a:p>
          <a:p>
            <a:pPr algn="r"/>
            <a:r>
              <a:rPr lang="he-IL" sz="1800" b="1" dirty="0"/>
              <a:t>(מרפאה, אינטרנט, טיפת חלב, רופא)</a:t>
            </a:r>
          </a:p>
        </p:txBody>
      </p:sp>
      <p:graphicFrame>
        <p:nvGraphicFramePr>
          <p:cNvPr id="14" name="תרשים 13">
            <a:extLst>
              <a:ext uri="{FF2B5EF4-FFF2-40B4-BE49-F238E27FC236}">
                <a16:creationId xmlns:a16="http://schemas.microsoft.com/office/drawing/2014/main" id="{BEEAA195-1928-4E2F-9D34-555DE78F46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3736259"/>
              </p:ext>
            </p:extLst>
          </p:nvPr>
        </p:nvGraphicFramePr>
        <p:xfrm>
          <a:off x="4569151" y="1810867"/>
          <a:ext cx="3995225" cy="3817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תרשים 16">
            <a:extLst>
              <a:ext uri="{FF2B5EF4-FFF2-40B4-BE49-F238E27FC236}">
                <a16:creationId xmlns:a16="http://schemas.microsoft.com/office/drawing/2014/main" id="{6E114E8A-BAD1-4623-AC87-545A2B6EE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557887"/>
              </p:ext>
            </p:extLst>
          </p:nvPr>
        </p:nvGraphicFramePr>
        <p:xfrm>
          <a:off x="847966" y="1733010"/>
          <a:ext cx="3493592" cy="3778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תמונה 14">
            <a:extLst>
              <a:ext uri="{FF2B5EF4-FFF2-40B4-BE49-F238E27FC236}">
                <a16:creationId xmlns:a16="http://schemas.microsoft.com/office/drawing/2014/main" id="{3009EC7E-3E87-4610-81C5-C0BDEF39D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F3C336FB-1D7E-4736-922D-EFF9D2093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861A1F6-4631-FD49-4288-3FC2E9E17DFC}"/>
              </a:ext>
            </a:extLst>
          </p:cNvPr>
          <p:cNvSpPr txBox="1"/>
          <p:nvPr/>
        </p:nvSpPr>
        <p:spPr>
          <a:xfrm>
            <a:off x="3426944" y="20441"/>
            <a:ext cx="44837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6</a:t>
            </a:r>
            <a:endParaRPr lang="he-IL" sz="1050" b="1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E1028C6-2C55-84E7-38DA-471E0A08B239}"/>
              </a:ext>
            </a:extLst>
          </p:cNvPr>
          <p:cNvSpPr txBox="1"/>
          <p:nvPr/>
        </p:nvSpPr>
        <p:spPr>
          <a:xfrm>
            <a:off x="7430006" y="6402225"/>
            <a:ext cx="1713994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6.סקר אימהות ציעורת ,2024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27646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F945C521-9F72-7C61-D706-C915BFBAF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382253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הפרויקט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80905EFE-8F68-83E6-424D-61600C74B35C}"/>
              </a:ext>
            </a:extLst>
          </p:cNvPr>
          <p:cNvSpPr txBox="1"/>
          <p:nvPr/>
        </p:nvSpPr>
        <p:spPr>
          <a:xfrm>
            <a:off x="384542" y="1005510"/>
            <a:ext cx="8470948" cy="14276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he-IL" sz="2000" b="1" u="sng" dirty="0"/>
              <a:t>מטרה עיקרית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הקמת אתר אינטרנט לאימהות חדשות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בנית אב טיפוס – אתר אינטרנט ב </a:t>
            </a:r>
            <a:r>
              <a:rPr lang="en-US" sz="2000" dirty="0"/>
              <a:t>WIX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F6B6853D-A2B4-EF73-61DA-5FC3294BBE2D}"/>
              </a:ext>
            </a:extLst>
          </p:cNvPr>
          <p:cNvSpPr txBox="1"/>
          <p:nvPr/>
        </p:nvSpPr>
        <p:spPr>
          <a:xfrm>
            <a:off x="1246803" y="2756817"/>
            <a:ext cx="7561770" cy="2805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000" b="1" u="sng" dirty="0"/>
              <a:t>תהליכי עבודה-תיחום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חיפוש מידע בקטגוריה ספציפית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ניהול קשר עם אימהות אחרות- עתידי</a:t>
            </a:r>
          </a:p>
          <a:p>
            <a:pPr algn="r" rtl="1">
              <a:lnSpc>
                <a:spcPct val="150000"/>
              </a:lnSpc>
            </a:pPr>
            <a:r>
              <a:rPr lang="he-IL" sz="2000" b="1" u="sng" dirty="0"/>
              <a:t>מדדי הצלחה ארגוניים או עסקיים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תוך חצי שנה כניסה של  מעל 1000 איש לאתר.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איתור משקיע להקמת האתר לאחר פיילוט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6DF479B-089B-AEB3-AFF0-685A75B7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4622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7</a:t>
            </a:fld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1FB2374C-91D7-4F76-B3AF-B2771A0CA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C4CDA07E-3005-4C01-A7DB-2C75F3261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626787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92240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46FC529-1679-22B8-1A62-16D557943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16851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 תהליך עבודה ושיטות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0DC1740-847F-2970-25D0-3ABC1495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8</a:t>
            </a:fld>
            <a:endParaRPr lang="he-IL" dirty="0"/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E36B9912-2E19-48D4-8D18-C29EA9A2C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621103"/>
              </p:ext>
            </p:extLst>
          </p:nvPr>
        </p:nvGraphicFramePr>
        <p:xfrm>
          <a:off x="235695" y="795802"/>
          <a:ext cx="8672610" cy="53430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2682">
                  <a:extLst>
                    <a:ext uri="{9D8B030D-6E8A-4147-A177-3AD203B41FA5}">
                      <a16:colId xmlns:a16="http://schemas.microsoft.com/office/drawing/2014/main" val="1833756598"/>
                    </a:ext>
                  </a:extLst>
                </a:gridCol>
                <a:gridCol w="3823739">
                  <a:extLst>
                    <a:ext uri="{9D8B030D-6E8A-4147-A177-3AD203B41FA5}">
                      <a16:colId xmlns:a16="http://schemas.microsoft.com/office/drawing/2014/main" val="3856817206"/>
                    </a:ext>
                  </a:extLst>
                </a:gridCol>
                <a:gridCol w="1476189">
                  <a:extLst>
                    <a:ext uri="{9D8B030D-6E8A-4147-A177-3AD203B41FA5}">
                      <a16:colId xmlns:a16="http://schemas.microsoft.com/office/drawing/2014/main" val="1541279435"/>
                    </a:ext>
                  </a:extLst>
                </a:gridCol>
              </a:tblGrid>
              <a:tr h="799094"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כלים ושיטות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baseline="0" dirty="0">
                          <a:solidFill>
                            <a:schemeClr val="tx1"/>
                          </a:solidFill>
                        </a:rPr>
                        <a:t>שלב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תהליך</a:t>
                      </a:r>
                    </a:p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העבודה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442351"/>
                  </a:ext>
                </a:extLst>
              </a:tr>
              <a:tr h="259462">
                <a:tc rowSpan="2">
                  <a:txBody>
                    <a:bodyPr/>
                    <a:lstStyle/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he-IL" sz="1600" dirty="0">
                          <a:solidFill>
                            <a:schemeClr val="tx1"/>
                          </a:solidFill>
                        </a:rPr>
                        <a:t>סקר אימהות חדשות</a:t>
                      </a:r>
                      <a:endParaRPr lang="he-IL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6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איסוף נתונים כמותיים</a:t>
                      </a: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6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ניתוח תוצאות סקר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חקר מצב קיים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rtl="1"/>
                      <a:r>
                        <a:rPr lang="he-IL" sz="1800" b="1" dirty="0">
                          <a:solidFill>
                            <a:schemeClr val="tx1"/>
                          </a:solidFill>
                        </a:rPr>
                        <a:t>תכנון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201986"/>
                  </a:ext>
                </a:extLst>
              </a:tr>
              <a:tr h="6531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הגדרת הצורך בפרויקט ומטרותיו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678435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תרשים תהליך (תרשים חיפוש מידע)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baseline="0" dirty="0">
                          <a:solidFill>
                            <a:schemeClr val="tx1"/>
                          </a:solidFill>
                        </a:rPr>
                        <a:t>מיפוי תהליך חיפוש ומייצאת מידע</a:t>
                      </a:r>
                      <a:r>
                        <a:rPr lang="he-IL" sz="1400" dirty="0">
                          <a:solidFill>
                            <a:schemeClr val="tx1"/>
                          </a:solidFill>
                        </a:rPr>
                        <a:t>-מצב קיים</a:t>
                      </a:r>
                    </a:p>
                    <a:p>
                      <a:pPr algn="r" rtl="1"/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898073"/>
                  </a:ext>
                </a:extLst>
              </a:tr>
              <a:tr h="630122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FR</a:t>
                      </a: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NFR</a:t>
                      </a:r>
                    </a:p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עץ תהליכים מוצע</a:t>
                      </a: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הגדרת דרישות פונקציונליות/ לא פונקציונליות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>
                          <a:effectLst/>
                        </a:rPr>
                        <a:t>מיפוי תהליכים מצב מוצע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35081"/>
                  </a:ext>
                </a:extLst>
              </a:tr>
              <a:tr h="59063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ע"י  מודל קבלת החלטות – בחירה ב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WIX</a:t>
                      </a: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he-IL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חקר ישימות- בחינת חלופות לפתרון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655770"/>
                  </a:ext>
                </a:extLst>
              </a:tr>
              <a:tr h="490180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תרשים על 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Use Case</a:t>
                      </a: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אפיון אירועים וישויות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dirty="0">
                          <a:solidFill>
                            <a:schemeClr val="tx1"/>
                          </a:solidFill>
                        </a:rPr>
                        <a:t>ניתוח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688119"/>
                  </a:ext>
                </a:extLst>
              </a:tr>
              <a:tr h="444791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כלי עיצוב- אתר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WIX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עיצוב מסכים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800" b="1" kern="1200" dirty="0">
                          <a:solidFill>
                            <a:schemeClr val="tx1"/>
                          </a:solidFill>
                        </a:rPr>
                        <a:t>עיצוב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777390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בנית אב טיפוס אתר אינטרנט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אב טיפוס</a:t>
                      </a:r>
                    </a:p>
                    <a:p>
                      <a:pPr algn="r" rtl="1"/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1800" b="1" kern="1200" dirty="0">
                          <a:solidFill>
                            <a:schemeClr val="tx1"/>
                          </a:solidFill>
                        </a:rPr>
                        <a:t>יישום</a:t>
                      </a:r>
                    </a:p>
                    <a:p>
                      <a:pPr marL="0" algn="ctr" defTabSz="457200" rtl="1" eaLnBrk="1" latinLnBrk="0" hangingPunct="1"/>
                      <a:endParaRPr lang="he-IL" sz="1800" b="1" kern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288460"/>
                  </a:ext>
                </a:extLst>
              </a:tr>
              <a:tr h="50281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מצגת אב טיפוס      </a:t>
                      </a: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kern="1200" dirty="0">
                          <a:solidFill>
                            <a:schemeClr val="tx1"/>
                          </a:solidFill>
                          <a:effectLst/>
                        </a:rPr>
                        <a:t>הצגת ממצאים והמלצות</a:t>
                      </a:r>
                      <a:endParaRPr lang="he-IL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092139"/>
                  </a:ext>
                </a:extLst>
              </a:tr>
            </a:tbl>
          </a:graphicData>
        </a:graphic>
      </p:graphicFrame>
      <p:sp>
        <p:nvSpPr>
          <p:cNvPr id="6" name="חץ: שמאלה 5">
            <a:extLst>
              <a:ext uri="{FF2B5EF4-FFF2-40B4-BE49-F238E27FC236}">
                <a16:creationId xmlns:a16="http://schemas.microsoft.com/office/drawing/2014/main" id="{69217CB6-9402-4CDD-8E3C-F4571951A1DF}"/>
              </a:ext>
            </a:extLst>
          </p:cNvPr>
          <p:cNvSpPr/>
          <p:nvPr/>
        </p:nvSpPr>
        <p:spPr>
          <a:xfrm>
            <a:off x="8654897" y="5094379"/>
            <a:ext cx="388190" cy="46166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CB066F53-9435-4379-AA8A-ACEF834A5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F8AB4B3A-A86E-41BA-B1F8-7223DEA3A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37D55E0-9CE6-4D55-BDFA-E093AD92E259}"/>
              </a:ext>
            </a:extLst>
          </p:cNvPr>
          <p:cNvSpPr txBox="1"/>
          <p:nvPr/>
        </p:nvSpPr>
        <p:spPr>
          <a:xfrm>
            <a:off x="2832578" y="1741711"/>
            <a:ext cx="677437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6</a:t>
            </a:r>
            <a:endParaRPr lang="he-IL" sz="1050" b="1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4FE5AFF-355A-13C7-945F-8365B0F605A8}"/>
              </a:ext>
            </a:extLst>
          </p:cNvPr>
          <p:cNvSpPr txBox="1"/>
          <p:nvPr/>
        </p:nvSpPr>
        <p:spPr>
          <a:xfrm>
            <a:off x="1343447" y="2114757"/>
            <a:ext cx="7421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4,5,6</a:t>
            </a:r>
            <a:endParaRPr lang="he-IL" sz="1050" b="1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61DB7A7A-F991-AE26-CA95-BEFA96F9F2DF}"/>
              </a:ext>
            </a:extLst>
          </p:cNvPr>
          <p:cNvSpPr txBox="1"/>
          <p:nvPr/>
        </p:nvSpPr>
        <p:spPr>
          <a:xfrm>
            <a:off x="2275465" y="2941536"/>
            <a:ext cx="57146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10,11</a:t>
            </a:r>
            <a:endParaRPr lang="he-IL" sz="1050" b="1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1A9B4EAA-A5E1-28DC-6A6D-5DB835938C9F}"/>
              </a:ext>
            </a:extLst>
          </p:cNvPr>
          <p:cNvSpPr txBox="1"/>
          <p:nvPr/>
        </p:nvSpPr>
        <p:spPr>
          <a:xfrm>
            <a:off x="3041470" y="5553796"/>
            <a:ext cx="6102530" cy="13042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4.ראיון עם אם צעירה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5.ראיון אם ותיקה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6. סרק אימהות חדשות,2024</a:t>
            </a: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9. Stories into UML Use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CaseDiagrams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using NLP Techniques. Procedia Computer Science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11.שרגא, ש. , 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רובינוביץ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, י. (2012)</a:t>
            </a:r>
            <a:r>
              <a:rPr lang="he-IL" sz="1050" b="1" u="sng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12.Martin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Sarnovsky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, Peter Bednar and Miroslav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Smatana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. Big Data Processing and Analytics</a:t>
            </a:r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D15DAE0F-4382-96EE-521F-60BE054D4121}"/>
              </a:ext>
            </a:extLst>
          </p:cNvPr>
          <p:cNvSpPr txBox="1"/>
          <p:nvPr/>
        </p:nvSpPr>
        <p:spPr>
          <a:xfrm>
            <a:off x="6265286" y="3647754"/>
            <a:ext cx="860288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4,5,10</a:t>
            </a:r>
            <a:endParaRPr lang="he-IL" sz="1050" b="1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FADC5961-440A-1C80-4038-6EF31E1EFC6F}"/>
              </a:ext>
            </a:extLst>
          </p:cNvPr>
          <p:cNvSpPr txBox="1"/>
          <p:nvPr/>
        </p:nvSpPr>
        <p:spPr>
          <a:xfrm>
            <a:off x="1315296" y="4195459"/>
            <a:ext cx="742104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9,10,11</a:t>
            </a:r>
            <a:endParaRPr lang="he-IL" sz="1050" b="1" dirty="0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99600731-451F-7B42-A998-A9D0681A73B7}"/>
              </a:ext>
            </a:extLst>
          </p:cNvPr>
          <p:cNvSpPr txBox="1"/>
          <p:nvPr/>
        </p:nvSpPr>
        <p:spPr>
          <a:xfrm>
            <a:off x="6501335" y="5123200"/>
            <a:ext cx="38819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</a:t>
            </a:r>
            <a:endParaRPr lang="he-IL" sz="1050" b="1" dirty="0"/>
          </a:p>
        </p:txBody>
      </p:sp>
    </p:spTree>
    <p:extLst>
      <p:ext uri="{BB962C8B-B14F-4D97-AF65-F5344CB8AC3E}">
        <p14:creationId xmlns:p14="http://schemas.microsoft.com/office/powerpoint/2010/main" val="309552820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C91C0F94-3A92-45FE-B925-30D375A8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71845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F424C887-D7FF-40EA-9746-FF00EE28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9</a:t>
            </a:fld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138F42F-34D0-4F59-83BC-8C7621271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-15497"/>
            <a:ext cx="978206" cy="782664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2BCB7082-C834-4B51-983C-5AF16B9E9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AC956-9703-4A33-B11F-E96A2F708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36524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תרשים על </a:t>
            </a:r>
            <a:r>
              <a:rPr lang="en-US" sz="2400" b="1" u="sng" dirty="0">
                <a:latin typeface="Calibri" pitchFamily="34" charset="0"/>
              </a:rPr>
              <a:t>USE CASE</a:t>
            </a:r>
            <a:r>
              <a:rPr lang="he-IL" sz="2400" b="1" u="sng" dirty="0">
                <a:latin typeface="Calibri" pitchFamily="34" charset="0"/>
              </a:rPr>
              <a:t>- מצב מוצע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C79E2B94-30AF-6768-1050-89F1805CDBAC}"/>
              </a:ext>
            </a:extLst>
          </p:cNvPr>
          <p:cNvSpPr txBox="1"/>
          <p:nvPr/>
        </p:nvSpPr>
        <p:spPr>
          <a:xfrm>
            <a:off x="5000683" y="45178"/>
            <a:ext cx="711344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9,10,11</a:t>
            </a:r>
            <a:endParaRPr lang="he-IL" sz="1050" b="1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4ADCF92-9DF7-FDA4-87D8-550336B0BC1D}"/>
              </a:ext>
            </a:extLst>
          </p:cNvPr>
          <p:cNvSpPr txBox="1"/>
          <p:nvPr/>
        </p:nvSpPr>
        <p:spPr>
          <a:xfrm>
            <a:off x="3302273" y="6119336"/>
            <a:ext cx="5841727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Stories into UML Use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CaseDiagrams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NLP Techniques. Procedia Computer Science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10.שובל, פ. (2017) 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11.שרגא, ש. , 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רובינוביץ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י. (2012)</a:t>
            </a: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D5853FD1-A11F-4138-8FAA-DA6C3405C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95" y="598189"/>
            <a:ext cx="8642018" cy="5521147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E8931D60-01DC-DCD8-1CEB-63EAB7786FCF}"/>
              </a:ext>
            </a:extLst>
          </p:cNvPr>
          <p:cNvSpPr txBox="1"/>
          <p:nvPr/>
        </p:nvSpPr>
        <p:spPr>
          <a:xfrm>
            <a:off x="8384774" y="4572000"/>
            <a:ext cx="65113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1">
            <a:spAutoFit/>
          </a:bodyPr>
          <a:lstStyle/>
          <a:p>
            <a:pPr algn="ctr" rtl="1"/>
            <a:r>
              <a:rPr lang="he-IL" sz="1200" b="1" dirty="0"/>
              <a:t>מומחה </a:t>
            </a:r>
          </a:p>
          <a:p>
            <a:pPr algn="ctr" rtl="1"/>
            <a:r>
              <a:rPr lang="he-IL" sz="1200" b="1" dirty="0"/>
              <a:t>תוכן</a:t>
            </a:r>
          </a:p>
        </p:txBody>
      </p:sp>
    </p:spTree>
    <p:extLst>
      <p:ext uri="{BB962C8B-B14F-4D97-AF65-F5344CB8AC3E}">
        <p14:creationId xmlns:p14="http://schemas.microsoft.com/office/powerpoint/2010/main" val="144225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C6DFC86-5342-23FD-A64D-355BCD153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10</a:t>
            </a:fld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BD4AE603-1B04-F165-47C0-750915E3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181D8CF-2E24-EDA8-6289-F45C223D4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מציין מיקום של כותרת תחתונה 1">
            <a:extLst>
              <a:ext uri="{FF2B5EF4-FFF2-40B4-BE49-F238E27FC236}">
                <a16:creationId xmlns:a16="http://schemas.microsoft.com/office/drawing/2014/main" id="{0A4510B1-90C9-7D3F-3721-A81328238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45494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FF1C7E25-F4F8-4BE1-9AC1-2CE757F70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315" y="126070"/>
            <a:ext cx="491929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he-IL" altLang="he-IL" sz="2400" b="1" u="sng" dirty="0"/>
              <a:t>חקר ישימות - תרשים חלופות</a:t>
            </a:r>
            <a:endParaRPr lang="en-US" altLang="he-IL" sz="1100" b="1" u="sng" dirty="0">
              <a:highlight>
                <a:srgbClr val="FFFF00"/>
              </a:highlight>
            </a:endParaRPr>
          </a:p>
        </p:txBody>
      </p:sp>
      <p:graphicFrame>
        <p:nvGraphicFramePr>
          <p:cNvPr id="3" name="תרשים 2">
            <a:extLst>
              <a:ext uri="{FF2B5EF4-FFF2-40B4-BE49-F238E27FC236}">
                <a16:creationId xmlns:a16="http://schemas.microsoft.com/office/drawing/2014/main" id="{A6E5261C-6D24-4028-99D0-DB91D1999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626349"/>
              </p:ext>
            </p:extLst>
          </p:nvPr>
        </p:nvGraphicFramePr>
        <p:xfrm>
          <a:off x="783771" y="828757"/>
          <a:ext cx="7620000" cy="4669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0075C66-0A87-FB2A-E2CA-903AB97880C3}"/>
              </a:ext>
            </a:extLst>
          </p:cNvPr>
          <p:cNvSpPr txBox="1"/>
          <p:nvPr/>
        </p:nvSpPr>
        <p:spPr>
          <a:xfrm>
            <a:off x="2926081" y="6189266"/>
            <a:ext cx="610253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4.ראיון עם אם צעירה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5.ראיון אם ותיקה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86E2BCF-AD7E-34DB-D170-82BC4CB4A535}"/>
              </a:ext>
            </a:extLst>
          </p:cNvPr>
          <p:cNvSpPr txBox="1"/>
          <p:nvPr/>
        </p:nvSpPr>
        <p:spPr>
          <a:xfrm>
            <a:off x="4896963" y="79975"/>
            <a:ext cx="860288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4,5,10</a:t>
            </a:r>
            <a:endParaRPr lang="he-IL" sz="1050" b="1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CBD0BA1-422F-6320-5666-35840B934059}"/>
              </a:ext>
            </a:extLst>
          </p:cNvPr>
          <p:cNvSpPr/>
          <p:nvPr/>
        </p:nvSpPr>
        <p:spPr>
          <a:xfrm>
            <a:off x="2057400" y="1971487"/>
            <a:ext cx="1716258" cy="633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חלופה ב’-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WIX</a:t>
            </a:r>
            <a:endParaRPr lang="he-IL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2B629C8-3B08-D437-B41C-017D8E06926B}"/>
              </a:ext>
            </a:extLst>
          </p:cNvPr>
          <p:cNvSpPr/>
          <p:nvPr/>
        </p:nvSpPr>
        <p:spPr>
          <a:xfrm>
            <a:off x="1716259" y="2893282"/>
            <a:ext cx="2187525" cy="633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solidFill>
                  <a:schemeClr val="accent6">
                    <a:lumMod val="75000"/>
                  </a:schemeClr>
                </a:solidFill>
              </a:rPr>
              <a:t>חלופה ג’-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Google</a:t>
            </a:r>
            <a:endParaRPr lang="he-IL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220E02AD-B3D1-2BAA-0435-A3C853859C52}"/>
              </a:ext>
            </a:extLst>
          </p:cNvPr>
          <p:cNvSpPr/>
          <p:nvPr/>
        </p:nvSpPr>
        <p:spPr>
          <a:xfrm>
            <a:off x="1821767" y="4031730"/>
            <a:ext cx="2208627" cy="633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solidFill>
                  <a:srgbClr val="FFC000"/>
                </a:solidFill>
              </a:rPr>
              <a:t>חלופה א’- </a:t>
            </a:r>
            <a:r>
              <a:rPr lang="en-US" b="1" dirty="0">
                <a:solidFill>
                  <a:srgbClr val="FFC000"/>
                </a:solidFill>
              </a:rPr>
              <a:t>SITE123</a:t>
            </a:r>
            <a:endParaRPr lang="he-IL" b="1" dirty="0">
              <a:solidFill>
                <a:srgbClr val="FFC000"/>
              </a:solidFill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044A558D-F14D-9568-B1A8-86F562D5ABA2}"/>
              </a:ext>
            </a:extLst>
          </p:cNvPr>
          <p:cNvSpPr/>
          <p:nvPr/>
        </p:nvSpPr>
        <p:spPr>
          <a:xfrm>
            <a:off x="868681" y="5620915"/>
            <a:ext cx="7631222" cy="418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/>
              <a:t>חלופה ב'- </a:t>
            </a:r>
            <a:r>
              <a:rPr lang="en-US" b="1" dirty="0"/>
              <a:t>WIX</a:t>
            </a:r>
            <a:r>
              <a:rPr lang="he-IL" b="1" dirty="0"/>
              <a:t> </a:t>
            </a:r>
            <a:r>
              <a:rPr lang="en-US" b="1" dirty="0"/>
              <a:t> </a:t>
            </a:r>
            <a:r>
              <a:rPr lang="he-IL" b="1" dirty="0"/>
              <a:t>קבלה הציון הגבוה ביותר ולכן בחרנו בה</a:t>
            </a:r>
          </a:p>
        </p:txBody>
      </p:sp>
    </p:spTree>
    <p:extLst>
      <p:ext uri="{BB962C8B-B14F-4D97-AF65-F5344CB8AC3E}">
        <p14:creationId xmlns:p14="http://schemas.microsoft.com/office/powerpoint/2010/main" val="85902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11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282169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2834878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3600" b="1" u="sng" dirty="0">
                <a:latin typeface="Arial" panose="020B0604020202020204" pitchFamily="34" charset="0"/>
              </a:rPr>
              <a:t>מסכי אב טיפוס</a:t>
            </a:r>
            <a:endParaRPr lang="en-US" altLang="he-IL" sz="32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ACD89DB-C216-4F01-5AF4-62C74277C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FF638C8-ECC1-8173-D068-2B9AD237C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29734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12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כניסה להרשמה, דרישה 1.1 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ACD89DB-C216-4F01-5AF4-62C74277C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FF638C8-ECC1-8173-D068-2B9AD237C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 descr="תמונה שמכילה טקסט, פני אדם, צילום מסך, אתר">
            <a:extLst>
              <a:ext uri="{FF2B5EF4-FFF2-40B4-BE49-F238E27FC236}">
                <a16:creationId xmlns:a16="http://schemas.microsoft.com/office/drawing/2014/main" id="{571B6491-F571-3522-4CAB-3AF13A8B3E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/>
          <a:stretch/>
        </p:blipFill>
        <p:spPr>
          <a:xfrm>
            <a:off x="868680" y="1029334"/>
            <a:ext cx="7297113" cy="4929763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AEAE7384-421E-428B-9776-7C46F1297196}"/>
              </a:ext>
            </a:extLst>
          </p:cNvPr>
          <p:cNvSpPr/>
          <p:nvPr/>
        </p:nvSpPr>
        <p:spPr>
          <a:xfrm>
            <a:off x="6741763" y="2248875"/>
            <a:ext cx="449451" cy="35484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0E687189-5DD1-4BD9-979B-51BDB25F114D}"/>
              </a:ext>
            </a:extLst>
          </p:cNvPr>
          <p:cNvSpPr/>
          <p:nvPr/>
        </p:nvSpPr>
        <p:spPr>
          <a:xfrm>
            <a:off x="3797084" y="4455763"/>
            <a:ext cx="1193369" cy="43395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030D434C-1250-4BF0-9096-68953EBCAD85}"/>
              </a:ext>
            </a:extLst>
          </p:cNvPr>
          <p:cNvCxnSpPr>
            <a:cxnSpLocks/>
            <a:stCxn id="11" idx="6"/>
            <a:endCxn id="13" idx="1"/>
          </p:cNvCxnSpPr>
          <p:nvPr/>
        </p:nvCxnSpPr>
        <p:spPr>
          <a:xfrm flipV="1">
            <a:off x="4990453" y="3329827"/>
            <a:ext cx="2200762" cy="1342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מלבן 12">
            <a:extLst>
              <a:ext uri="{FF2B5EF4-FFF2-40B4-BE49-F238E27FC236}">
                <a16:creationId xmlns:a16="http://schemas.microsoft.com/office/drawing/2014/main" id="{0C412F16-211A-4309-9A81-D5B84B568A8E}"/>
              </a:ext>
            </a:extLst>
          </p:cNvPr>
          <p:cNvSpPr/>
          <p:nvPr/>
        </p:nvSpPr>
        <p:spPr>
          <a:xfrm>
            <a:off x="7191215" y="2938495"/>
            <a:ext cx="1952786" cy="7826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לחצן כניסה לטופס רישום לאתר </a:t>
            </a:r>
          </a:p>
        </p:txBody>
      </p: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667E4325-AA67-4E5A-A9A1-E3E2D56C38ED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191214" y="2426295"/>
            <a:ext cx="976394" cy="512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אליפסה 3">
            <a:extLst>
              <a:ext uri="{FF2B5EF4-FFF2-40B4-BE49-F238E27FC236}">
                <a16:creationId xmlns:a16="http://schemas.microsoft.com/office/drawing/2014/main" id="{978188B5-332E-1924-1037-43F65B680958}"/>
              </a:ext>
            </a:extLst>
          </p:cNvPr>
          <p:cNvSpPr/>
          <p:nvPr/>
        </p:nvSpPr>
        <p:spPr>
          <a:xfrm>
            <a:off x="1463040" y="2129234"/>
            <a:ext cx="700371" cy="59412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b="1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EFA2A91-D685-AA0E-BCD0-14C3A281E4B4}"/>
              </a:ext>
            </a:extLst>
          </p:cNvPr>
          <p:cNvSpPr/>
          <p:nvPr/>
        </p:nvSpPr>
        <p:spPr>
          <a:xfrm>
            <a:off x="190108" y="2937856"/>
            <a:ext cx="1572568" cy="45931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b="1" dirty="0"/>
          </a:p>
          <a:p>
            <a:pPr algn="ctr"/>
            <a:r>
              <a:rPr lang="he-IL" b="1" dirty="0"/>
              <a:t>בחירת שפה</a:t>
            </a:r>
          </a:p>
          <a:p>
            <a:pPr algn="ctr"/>
            <a:endParaRPr lang="he-IL" b="1" dirty="0">
              <a:solidFill>
                <a:schemeClr val="dk1"/>
              </a:solidFill>
            </a:endParaRPr>
          </a:p>
        </p:txBody>
      </p: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B22A4A17-2154-D25D-8087-4FEAB561516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976392" y="2388576"/>
            <a:ext cx="382898" cy="5492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086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13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מילוי טופס רישום, דרישה 1.2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55528B2D-5265-9EAE-58DA-613901BEA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14C86DEF-538B-031F-665F-473E89CD9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1866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 descr="תמונה שמכילה טקסט, צילום מסך, אתר, דף אינטרנט&#10;&#10;התיאור נוצר באופן אוטומטי">
            <a:extLst>
              <a:ext uri="{FF2B5EF4-FFF2-40B4-BE49-F238E27FC236}">
                <a16:creationId xmlns:a16="http://schemas.microsoft.com/office/drawing/2014/main" id="{9D35EF8F-74F9-8A0F-542A-2055806D79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1"/>
          <a:stretch/>
        </p:blipFill>
        <p:spPr>
          <a:xfrm>
            <a:off x="868680" y="1133475"/>
            <a:ext cx="7297113" cy="4872118"/>
          </a:xfrm>
          <a:prstGeom prst="rect">
            <a:avLst/>
          </a:prstGeom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41252E19-E5C7-4879-8979-A8520A51A6F6}"/>
              </a:ext>
            </a:extLst>
          </p:cNvPr>
          <p:cNvSpPr/>
          <p:nvPr/>
        </p:nvSpPr>
        <p:spPr>
          <a:xfrm>
            <a:off x="6028841" y="2812944"/>
            <a:ext cx="3115159" cy="11391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טופס רישום למשתמש חדש (שם פרטי, שם משפחה, דוא"ל, כוד אימות לדוא"ל, סיסמה, אזור)</a:t>
            </a:r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52F925F7-71D4-450A-AE59-C0E740E6C32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571641" y="3382506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647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14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אימות דוא"ל, דרישה 1.3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8D0DD1E-CF40-AD8F-9EF6-98149BE9C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62C8F854-B410-D0AC-2380-DCF00F9A8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 descr="תמונה שמכילה טקסט, צילום מסך, אתר, דף אינטרנט&#10;&#10;התיאור נוצר באופן אוטומטי">
            <a:extLst>
              <a:ext uri="{FF2B5EF4-FFF2-40B4-BE49-F238E27FC236}">
                <a16:creationId xmlns:a16="http://schemas.microsoft.com/office/drawing/2014/main" id="{31A06538-4A68-C275-C997-FBABE79B76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1" t="31186" r="24082" b="9407"/>
          <a:stretch/>
        </p:blipFill>
        <p:spPr>
          <a:xfrm>
            <a:off x="868681" y="1386839"/>
            <a:ext cx="7297113" cy="4277792"/>
          </a:xfrm>
          <a:prstGeom prst="rect">
            <a:avLst/>
          </a:prstGeom>
        </p:spPr>
      </p:pic>
      <p:sp>
        <p:nvSpPr>
          <p:cNvPr id="4" name="אליפסה 3">
            <a:extLst>
              <a:ext uri="{FF2B5EF4-FFF2-40B4-BE49-F238E27FC236}">
                <a16:creationId xmlns:a16="http://schemas.microsoft.com/office/drawing/2014/main" id="{4EBCA2CB-8993-4796-A805-1FAC93124956}"/>
              </a:ext>
            </a:extLst>
          </p:cNvPr>
          <p:cNvSpPr/>
          <p:nvPr/>
        </p:nvSpPr>
        <p:spPr>
          <a:xfrm>
            <a:off x="2882685" y="3248515"/>
            <a:ext cx="3657600" cy="60443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0824489B-1CFD-4B93-8EFC-F01E38AFF865}"/>
              </a:ext>
            </a:extLst>
          </p:cNvPr>
          <p:cNvSpPr/>
          <p:nvPr/>
        </p:nvSpPr>
        <p:spPr>
          <a:xfrm>
            <a:off x="7392693" y="3163144"/>
            <a:ext cx="1751308" cy="7826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תיבה להקלדת קוד אימות דוא"ל</a:t>
            </a:r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28333FD7-FB7A-471F-8D9F-D8E2FDDFE8D1}"/>
              </a:ext>
            </a:extLst>
          </p:cNvPr>
          <p:cNvCxnSpPr>
            <a:cxnSpLocks/>
            <a:stCxn id="4" idx="6"/>
            <a:endCxn id="9" idx="1"/>
          </p:cNvCxnSpPr>
          <p:nvPr/>
        </p:nvCxnSpPr>
        <p:spPr>
          <a:xfrm>
            <a:off x="6540285" y="3550732"/>
            <a:ext cx="852408" cy="37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3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15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" y="150991"/>
            <a:ext cx="7297113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כניסה לחשבון אישי, דרישה 1.4 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ACD89DB-C216-4F01-5AF4-62C74277C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FF638C8-ECC1-8173-D068-2B9AD237C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 descr="תמונה שמכילה טקסט, פני אדם, צילום מסך, אתר">
            <a:extLst>
              <a:ext uri="{FF2B5EF4-FFF2-40B4-BE49-F238E27FC236}">
                <a16:creationId xmlns:a16="http://schemas.microsoft.com/office/drawing/2014/main" id="{571B6491-F571-3522-4CAB-3AF13A8B3E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/>
          <a:stretch/>
        </p:blipFill>
        <p:spPr>
          <a:xfrm>
            <a:off x="868680" y="1044833"/>
            <a:ext cx="7297113" cy="4929763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4309C859-3DFC-4372-AE02-55FCAEB74145}"/>
              </a:ext>
            </a:extLst>
          </p:cNvPr>
          <p:cNvSpPr/>
          <p:nvPr/>
        </p:nvSpPr>
        <p:spPr>
          <a:xfrm>
            <a:off x="6741763" y="2248875"/>
            <a:ext cx="449451" cy="35484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78ACA2C2-1E42-4AA7-93BD-B8909CB7D624}"/>
              </a:ext>
            </a:extLst>
          </p:cNvPr>
          <p:cNvSpPr/>
          <p:nvPr/>
        </p:nvSpPr>
        <p:spPr>
          <a:xfrm>
            <a:off x="3525864" y="4029561"/>
            <a:ext cx="1805553" cy="35646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5F941829-90D5-4A9F-9704-8CB9EB96F94F}"/>
              </a:ext>
            </a:extLst>
          </p:cNvPr>
          <p:cNvCxnSpPr>
            <a:cxnSpLocks/>
            <a:stCxn id="11" idx="2"/>
            <a:endCxn id="13" idx="3"/>
          </p:cNvCxnSpPr>
          <p:nvPr/>
        </p:nvCxnSpPr>
        <p:spPr>
          <a:xfrm flipH="1">
            <a:off x="2479729" y="4207791"/>
            <a:ext cx="104613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מלבן 12">
            <a:extLst>
              <a:ext uri="{FF2B5EF4-FFF2-40B4-BE49-F238E27FC236}">
                <a16:creationId xmlns:a16="http://schemas.microsoft.com/office/drawing/2014/main" id="{FD66ADA6-3669-427A-89AF-3242C813CC5D}"/>
              </a:ext>
            </a:extLst>
          </p:cNvPr>
          <p:cNvSpPr/>
          <p:nvPr/>
        </p:nvSpPr>
        <p:spPr>
          <a:xfrm>
            <a:off x="0" y="3752529"/>
            <a:ext cx="2479729" cy="9105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כניסה לחשבון האישי באתר (דוא"ל, סיסמה, שכחת סיסמה?)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54696189-EBF1-482F-8252-C8E14185E03D}"/>
              </a:ext>
            </a:extLst>
          </p:cNvPr>
          <p:cNvSpPr/>
          <p:nvPr/>
        </p:nvSpPr>
        <p:spPr>
          <a:xfrm>
            <a:off x="7353947" y="2034963"/>
            <a:ext cx="1781530" cy="7826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סימן שמוביל לדף כניסה לחשבון באתר</a:t>
            </a:r>
          </a:p>
        </p:txBody>
      </p: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FDC7CAE7-14AC-4FD9-A0BC-BE80495556E5}"/>
              </a:ext>
            </a:extLst>
          </p:cNvPr>
          <p:cNvCxnSpPr>
            <a:cxnSpLocks/>
            <a:stCxn id="9" idx="6"/>
            <a:endCxn id="15" idx="1"/>
          </p:cNvCxnSpPr>
          <p:nvPr/>
        </p:nvCxnSpPr>
        <p:spPr>
          <a:xfrm>
            <a:off x="7191214" y="2426295"/>
            <a:ext cx="1627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28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16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כניסה לאתר, דרישה2.1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5FB33E5F-3B99-C161-2AE7-EEFA26D1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CC60F49-50DE-A324-E99E-C4AF113B2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 descr="תמונה שמכילה טקסט, צילום מסך, פני אדם, אשה">
            <a:extLst>
              <a:ext uri="{FF2B5EF4-FFF2-40B4-BE49-F238E27FC236}">
                <a16:creationId xmlns:a16="http://schemas.microsoft.com/office/drawing/2014/main" id="{15396F0C-246C-2940-C291-33618D6412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" t="10296" b="1"/>
          <a:stretch/>
        </p:blipFill>
        <p:spPr>
          <a:xfrm>
            <a:off x="868680" y="1043940"/>
            <a:ext cx="7297113" cy="4884162"/>
          </a:xfrm>
          <a:prstGeom prst="rect">
            <a:avLst/>
          </a:prstGeom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E5B66A51-DC27-4FC0-96A3-1B19C8E559F8}"/>
              </a:ext>
            </a:extLst>
          </p:cNvPr>
          <p:cNvSpPr/>
          <p:nvPr/>
        </p:nvSpPr>
        <p:spPr>
          <a:xfrm>
            <a:off x="6641024" y="2626667"/>
            <a:ext cx="2459256" cy="7826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דף הראשי לאתר ששם שלו "שלום </a:t>
            </a:r>
            <a:r>
              <a:rPr lang="he-IL" b="1" dirty="0" err="1">
                <a:solidFill>
                  <a:schemeClr val="tx1"/>
                </a:solidFill>
              </a:rPr>
              <a:t>מאמא</a:t>
            </a:r>
            <a:r>
              <a:rPr lang="he-IL" b="1" dirty="0">
                <a:solidFill>
                  <a:schemeClr val="tx1"/>
                </a:solidFill>
              </a:rPr>
              <a:t>"</a:t>
            </a:r>
            <a:endParaRPr lang="en-US" b="1" dirty="0">
              <a:solidFill>
                <a:schemeClr val="tx1"/>
              </a:solidFill>
            </a:endParaRPr>
          </a:p>
          <a:p>
            <a:pPr algn="r"/>
            <a:r>
              <a:rPr lang="he-IL" b="1" dirty="0">
                <a:solidFill>
                  <a:schemeClr val="tx1"/>
                </a:solidFill>
              </a:rPr>
              <a:t>(מי אנחנו, התחבר אלינו)</a:t>
            </a:r>
          </a:p>
        </p:txBody>
      </p:sp>
    </p:spTree>
    <p:extLst>
      <p:ext uri="{BB962C8B-B14F-4D97-AF65-F5344CB8AC3E}">
        <p14:creationId xmlns:p14="http://schemas.microsoft.com/office/powerpoint/2010/main" val="2592167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17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" y="150991"/>
            <a:ext cx="7297113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–בחירת שפה(עברית\ערבית), דרישה 2.3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 descr="תמונה שמכילה טקסט, צילום מסך, פני אדם, אשה">
            <a:extLst>
              <a:ext uri="{FF2B5EF4-FFF2-40B4-BE49-F238E27FC236}">
                <a16:creationId xmlns:a16="http://schemas.microsoft.com/office/drawing/2014/main" id="{C83D5873-FF95-97D1-E333-BB0983BC19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8" r="51531" b="51723"/>
          <a:stretch/>
        </p:blipFill>
        <p:spPr>
          <a:xfrm>
            <a:off x="868680" y="1735493"/>
            <a:ext cx="7297113" cy="4122865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F2AC9581-C71D-4E1C-A526-1D0DB5B58BD4}"/>
              </a:ext>
            </a:extLst>
          </p:cNvPr>
          <p:cNvSpPr/>
          <p:nvPr/>
        </p:nvSpPr>
        <p:spPr>
          <a:xfrm>
            <a:off x="2292781" y="3719435"/>
            <a:ext cx="736170" cy="60443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6BFD237D-1768-4CD0-85FD-4AA20E826D20}"/>
              </a:ext>
            </a:extLst>
          </p:cNvPr>
          <p:cNvCxnSpPr>
            <a:cxnSpLocks/>
            <a:stCxn id="9" idx="2"/>
            <a:endCxn id="12" idx="3"/>
          </p:cNvCxnSpPr>
          <p:nvPr/>
        </p:nvCxnSpPr>
        <p:spPr>
          <a:xfrm flipH="1">
            <a:off x="2177511" y="4021652"/>
            <a:ext cx="11527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A71743C9-9BA3-4CA8-9C6C-D25B1EC76524}"/>
              </a:ext>
            </a:extLst>
          </p:cNvPr>
          <p:cNvSpPr/>
          <p:nvPr/>
        </p:nvSpPr>
        <p:spPr>
          <a:xfrm>
            <a:off x="6594" y="3630320"/>
            <a:ext cx="2170917" cy="7826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בחירת שפה (עברית | ערבית)</a:t>
            </a:r>
          </a:p>
        </p:txBody>
      </p:sp>
    </p:spTree>
    <p:extLst>
      <p:ext uri="{BB962C8B-B14F-4D97-AF65-F5344CB8AC3E}">
        <p14:creationId xmlns:p14="http://schemas.microsoft.com/office/powerpoint/2010/main" val="4292178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18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נושא ראשי, דרישה2.4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5FB33E5F-3B99-C161-2AE7-EEFA26D1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CC60F49-50DE-A324-E99E-C4AF113B2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 descr="תמונה שמכילה טקסט, צילום מסך, פני אדם, אשה">
            <a:extLst>
              <a:ext uri="{FF2B5EF4-FFF2-40B4-BE49-F238E27FC236}">
                <a16:creationId xmlns:a16="http://schemas.microsoft.com/office/drawing/2014/main" id="{15396F0C-246C-2940-C291-33618D6412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" t="10296" b="1"/>
          <a:stretch/>
        </p:blipFill>
        <p:spPr>
          <a:xfrm>
            <a:off x="868680" y="1043940"/>
            <a:ext cx="7297114" cy="4884162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8607376A-E238-428A-BB22-AB8F428434D9}"/>
              </a:ext>
            </a:extLst>
          </p:cNvPr>
          <p:cNvSpPr/>
          <p:nvPr/>
        </p:nvSpPr>
        <p:spPr>
          <a:xfrm>
            <a:off x="4974956" y="2014779"/>
            <a:ext cx="1735810" cy="37195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75797CC5-1095-4DD3-B19F-CCBB39A7D9D1}"/>
              </a:ext>
            </a:extLst>
          </p:cNvPr>
          <p:cNvCxnSpPr>
            <a:cxnSpLocks/>
            <a:stCxn id="9" idx="6"/>
            <a:endCxn id="12" idx="1"/>
          </p:cNvCxnSpPr>
          <p:nvPr/>
        </p:nvCxnSpPr>
        <p:spPr>
          <a:xfrm flipV="1">
            <a:off x="6710766" y="2200758"/>
            <a:ext cx="611409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8E04B6F9-927E-43A9-9A35-2F1253DF72B0}"/>
              </a:ext>
            </a:extLst>
          </p:cNvPr>
          <p:cNvSpPr/>
          <p:nvPr/>
        </p:nvSpPr>
        <p:spPr>
          <a:xfrm>
            <a:off x="7322175" y="1809426"/>
            <a:ext cx="1821825" cy="7826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בחירת נושא ראשי (הריון, לידה, אחרי לידה)</a:t>
            </a:r>
          </a:p>
        </p:txBody>
      </p:sp>
    </p:spTree>
    <p:extLst>
      <p:ext uri="{BB962C8B-B14F-4D97-AF65-F5344CB8AC3E}">
        <p14:creationId xmlns:p14="http://schemas.microsoft.com/office/powerpoint/2010/main" val="2999280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19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נושא משני, דרישה2.5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0748117F-D5FF-473B-A2B3-8BB00F4F11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102050"/>
            <a:ext cx="7297113" cy="4647822"/>
          </a:xfrm>
          <a:prstGeom prst="rect">
            <a:avLst/>
          </a:prstGeom>
        </p:spPr>
      </p:pic>
      <p:sp>
        <p:nvSpPr>
          <p:cNvPr id="11" name="אליפסה 10">
            <a:extLst>
              <a:ext uri="{FF2B5EF4-FFF2-40B4-BE49-F238E27FC236}">
                <a16:creationId xmlns:a16="http://schemas.microsoft.com/office/drawing/2014/main" id="{950A8970-FEE2-4116-86C9-934979CD8124}"/>
              </a:ext>
            </a:extLst>
          </p:cNvPr>
          <p:cNvSpPr/>
          <p:nvPr/>
        </p:nvSpPr>
        <p:spPr>
          <a:xfrm>
            <a:off x="5881122" y="2496899"/>
            <a:ext cx="467855" cy="719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BA1E6EF6-3B54-478F-9D08-BCEB232AC777}"/>
              </a:ext>
            </a:extLst>
          </p:cNvPr>
          <p:cNvCxnSpPr>
            <a:cxnSpLocks/>
            <a:stCxn id="11" idx="6"/>
            <a:endCxn id="12" idx="1"/>
          </p:cNvCxnSpPr>
          <p:nvPr/>
        </p:nvCxnSpPr>
        <p:spPr>
          <a:xfrm>
            <a:off x="6348977" y="2856399"/>
            <a:ext cx="104705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BFF6EA78-B968-43EF-B908-A92DB37612D0}"/>
              </a:ext>
            </a:extLst>
          </p:cNvPr>
          <p:cNvSpPr/>
          <p:nvPr/>
        </p:nvSpPr>
        <p:spPr>
          <a:xfrm>
            <a:off x="7396036" y="2554182"/>
            <a:ext cx="1732465" cy="604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בחירת חודש ההיריון</a:t>
            </a:r>
          </a:p>
        </p:txBody>
      </p:sp>
    </p:spTree>
    <p:extLst>
      <p:ext uri="{BB962C8B-B14F-4D97-AF65-F5344CB8AC3E}">
        <p14:creationId xmlns:p14="http://schemas.microsoft.com/office/powerpoint/2010/main" val="1841326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20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נושא משני, דרישה2.5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882F5505-86B9-40E5-88B7-9D8AA4705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104336"/>
            <a:ext cx="7297113" cy="4649328"/>
          </a:xfrm>
          <a:prstGeom prst="rect">
            <a:avLst/>
          </a:prstGeom>
        </p:spPr>
      </p:pic>
      <p:sp>
        <p:nvSpPr>
          <p:cNvPr id="11" name="אליפסה 10">
            <a:extLst>
              <a:ext uri="{FF2B5EF4-FFF2-40B4-BE49-F238E27FC236}">
                <a16:creationId xmlns:a16="http://schemas.microsoft.com/office/drawing/2014/main" id="{CA5CB834-EE3F-4BA3-9CBB-AC1566BC5A8B}"/>
              </a:ext>
            </a:extLst>
          </p:cNvPr>
          <p:cNvSpPr/>
          <p:nvPr/>
        </p:nvSpPr>
        <p:spPr>
          <a:xfrm>
            <a:off x="5408908" y="2564969"/>
            <a:ext cx="706142" cy="22472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A5C84B4B-3237-42E7-9E8F-9911CAC0DFA1}"/>
              </a:ext>
            </a:extLst>
          </p:cNvPr>
          <p:cNvCxnSpPr>
            <a:cxnSpLocks/>
            <a:stCxn id="11" idx="6"/>
            <a:endCxn id="12" idx="1"/>
          </p:cNvCxnSpPr>
          <p:nvPr/>
        </p:nvCxnSpPr>
        <p:spPr>
          <a:xfrm>
            <a:off x="6115050" y="2677332"/>
            <a:ext cx="1294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3AC2BE7A-ED2B-457D-93B4-7250B28A3A9F}"/>
              </a:ext>
            </a:extLst>
          </p:cNvPr>
          <p:cNvSpPr/>
          <p:nvPr/>
        </p:nvSpPr>
        <p:spPr>
          <a:xfrm>
            <a:off x="7409087" y="2375115"/>
            <a:ext cx="1732465" cy="604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בחירת מידע ללידה</a:t>
            </a:r>
          </a:p>
        </p:txBody>
      </p:sp>
    </p:spTree>
    <p:extLst>
      <p:ext uri="{BB962C8B-B14F-4D97-AF65-F5344CB8AC3E}">
        <p14:creationId xmlns:p14="http://schemas.microsoft.com/office/powerpoint/2010/main" val="1975481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21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נושא משני, דרישה2.5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640F2D5-1878-4763-9E89-A4F60F23A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103191"/>
            <a:ext cx="7297113" cy="4651618"/>
          </a:xfrm>
          <a:prstGeom prst="rect">
            <a:avLst/>
          </a:prstGeom>
        </p:spPr>
      </p:pic>
      <p:sp>
        <p:nvSpPr>
          <p:cNvPr id="11" name="אליפסה 10">
            <a:extLst>
              <a:ext uri="{FF2B5EF4-FFF2-40B4-BE49-F238E27FC236}">
                <a16:creationId xmlns:a16="http://schemas.microsoft.com/office/drawing/2014/main" id="{7EDF005D-AFF0-428F-A9A5-45CF27393A11}"/>
              </a:ext>
            </a:extLst>
          </p:cNvPr>
          <p:cNvSpPr/>
          <p:nvPr/>
        </p:nvSpPr>
        <p:spPr>
          <a:xfrm>
            <a:off x="5184183" y="2541722"/>
            <a:ext cx="705173" cy="61218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F8A6DA0-F710-4860-A0B8-7BEB6EBCCE78}"/>
              </a:ext>
            </a:extLst>
          </p:cNvPr>
          <p:cNvSpPr/>
          <p:nvPr/>
        </p:nvSpPr>
        <p:spPr>
          <a:xfrm>
            <a:off x="7361695" y="2541722"/>
            <a:ext cx="1779857" cy="604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לבחירת גיל הילד </a:t>
            </a:r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71DF7871-6569-4188-8187-4ED375BCFC17}"/>
              </a:ext>
            </a:extLst>
          </p:cNvPr>
          <p:cNvCxnSpPr>
            <a:cxnSpLocks/>
            <a:stCxn id="11" idx="6"/>
            <a:endCxn id="9" idx="1"/>
          </p:cNvCxnSpPr>
          <p:nvPr/>
        </p:nvCxnSpPr>
        <p:spPr>
          <a:xfrm flipV="1">
            <a:off x="5889356" y="2843939"/>
            <a:ext cx="1472339" cy="3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604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22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תחום ענין, דרישה2.6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FAB8ACC3-D7BC-48BB-AF5C-052E8CD58E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669611"/>
            <a:ext cx="7297113" cy="4351481"/>
          </a:xfrm>
          <a:prstGeom prst="rect">
            <a:avLst/>
          </a:prstGeom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F004AC0C-E4A9-4CBF-82C9-FACCE7C8F2E5}"/>
              </a:ext>
            </a:extLst>
          </p:cNvPr>
          <p:cNvSpPr/>
          <p:nvPr/>
        </p:nvSpPr>
        <p:spPr>
          <a:xfrm>
            <a:off x="7113723" y="3665348"/>
            <a:ext cx="2048672" cy="165831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אפשריות לבחירת תחום ענין בהריון (התפתחויות בהריון, המלצות, </a:t>
            </a:r>
            <a:r>
              <a:rPr lang="he-IL" b="1" dirty="0" err="1">
                <a:solidFill>
                  <a:schemeClr val="tx1"/>
                </a:solidFill>
              </a:rPr>
              <a:t>פודקאסט</a:t>
            </a:r>
            <a:r>
              <a:rPr lang="he-IL" b="1" dirty="0">
                <a:solidFill>
                  <a:schemeClr val="tx1"/>
                </a:solidFill>
              </a:rPr>
              <a:t> ווידאו, שתף </a:t>
            </a:r>
            <a:r>
              <a:rPr lang="he-IL" b="1" dirty="0" err="1">
                <a:solidFill>
                  <a:schemeClr val="tx1"/>
                </a:solidFill>
              </a:rPr>
              <a:t>חוויתך</a:t>
            </a:r>
            <a:r>
              <a:rPr lang="he-IL" b="1" dirty="0">
                <a:solidFill>
                  <a:schemeClr val="tx1"/>
                </a:solidFill>
              </a:rPr>
              <a:t>, תזונה)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endParaRPr lang="he-IL" b="1" dirty="0">
              <a:solidFill>
                <a:schemeClr val="tx1"/>
              </a:solidFill>
            </a:endParaRPr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97F1A33E-43E6-42B4-809E-2BF2F86E4EBC}"/>
              </a:ext>
            </a:extLst>
          </p:cNvPr>
          <p:cNvCxnSpPr>
            <a:cxnSpLocks/>
            <a:stCxn id="13" idx="6"/>
            <a:endCxn id="9" idx="1"/>
          </p:cNvCxnSpPr>
          <p:nvPr/>
        </p:nvCxnSpPr>
        <p:spPr>
          <a:xfrm flipV="1">
            <a:off x="6961223" y="4494507"/>
            <a:ext cx="15250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אליפסה 12">
            <a:extLst>
              <a:ext uri="{FF2B5EF4-FFF2-40B4-BE49-F238E27FC236}">
                <a16:creationId xmlns:a16="http://schemas.microsoft.com/office/drawing/2014/main" id="{68331803-7C0E-4918-8B6E-45CE23398D9F}"/>
              </a:ext>
            </a:extLst>
          </p:cNvPr>
          <p:cNvSpPr/>
          <p:nvPr/>
        </p:nvSpPr>
        <p:spPr>
          <a:xfrm>
            <a:off x="1941163" y="4130298"/>
            <a:ext cx="5020060" cy="72841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8566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23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>
              <a:spcBef>
                <a:spcPct val="50000"/>
              </a:spcBef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תחום ענין, דרישה2.6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AE2B0DCF-D577-4D39-A9F3-07D9DC94B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748754"/>
            <a:ext cx="7297113" cy="4008866"/>
          </a:xfrm>
          <a:prstGeom prst="rect">
            <a:avLst/>
          </a:prstGeom>
        </p:spPr>
      </p:pic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25441099-9F73-4546-9E2C-744CAF8FE975}"/>
              </a:ext>
            </a:extLst>
          </p:cNvPr>
          <p:cNvCxnSpPr>
            <a:cxnSpLocks/>
            <a:stCxn id="13" idx="6"/>
            <a:endCxn id="11" idx="1"/>
          </p:cNvCxnSpPr>
          <p:nvPr/>
        </p:nvCxnSpPr>
        <p:spPr>
          <a:xfrm flipV="1">
            <a:off x="6961223" y="4448012"/>
            <a:ext cx="241615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מלבן 10">
            <a:extLst>
              <a:ext uri="{FF2B5EF4-FFF2-40B4-BE49-F238E27FC236}">
                <a16:creationId xmlns:a16="http://schemas.microsoft.com/office/drawing/2014/main" id="{2CDA245A-17BF-4103-9020-8E1743A63942}"/>
              </a:ext>
            </a:extLst>
          </p:cNvPr>
          <p:cNvSpPr/>
          <p:nvPr/>
        </p:nvSpPr>
        <p:spPr>
          <a:xfrm>
            <a:off x="7202838" y="3692469"/>
            <a:ext cx="2042870" cy="15110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אפשריות לבחירת תחום ענין ללידה</a:t>
            </a:r>
          </a:p>
          <a:p>
            <a:pPr algn="r"/>
            <a:r>
              <a:rPr lang="he-IL" b="1" dirty="0">
                <a:solidFill>
                  <a:schemeClr val="tx1"/>
                </a:solidFill>
              </a:rPr>
              <a:t>(סימנים ללידה, המלצות, </a:t>
            </a:r>
            <a:r>
              <a:rPr lang="he-IL" b="1" dirty="0" err="1">
                <a:solidFill>
                  <a:schemeClr val="tx1"/>
                </a:solidFill>
              </a:rPr>
              <a:t>פודקאסט</a:t>
            </a:r>
            <a:r>
              <a:rPr lang="he-IL" b="1" dirty="0">
                <a:solidFill>
                  <a:schemeClr val="tx1"/>
                </a:solidFill>
              </a:rPr>
              <a:t> ווידאו, שתף </a:t>
            </a:r>
            <a:r>
              <a:rPr lang="he-IL" b="1" dirty="0" err="1">
                <a:solidFill>
                  <a:schemeClr val="tx1"/>
                </a:solidFill>
              </a:rPr>
              <a:t>חוויתך</a:t>
            </a:r>
            <a:r>
              <a:rPr lang="he-IL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3" name="אליפסה 12">
            <a:extLst>
              <a:ext uri="{FF2B5EF4-FFF2-40B4-BE49-F238E27FC236}">
                <a16:creationId xmlns:a16="http://schemas.microsoft.com/office/drawing/2014/main" id="{4B0BF65E-BA75-43D9-B58C-870BB921558E}"/>
              </a:ext>
            </a:extLst>
          </p:cNvPr>
          <p:cNvSpPr/>
          <p:nvPr/>
        </p:nvSpPr>
        <p:spPr>
          <a:xfrm>
            <a:off x="1941163" y="4083803"/>
            <a:ext cx="5020060" cy="72841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9658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24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>
              <a:spcBef>
                <a:spcPct val="50000"/>
              </a:spcBef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תחום ענין, דרישה 2.6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456F9C60-78BB-4742-B845-2E1B3AA75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680174"/>
            <a:ext cx="7297113" cy="3914714"/>
          </a:xfrm>
          <a:prstGeom prst="rect">
            <a:avLst/>
          </a:prstGeom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F15CFD7B-3352-4197-9DB4-EB02C2C4EF39}"/>
              </a:ext>
            </a:extLst>
          </p:cNvPr>
          <p:cNvSpPr/>
          <p:nvPr/>
        </p:nvSpPr>
        <p:spPr>
          <a:xfrm>
            <a:off x="7098224" y="3243019"/>
            <a:ext cx="2045776" cy="20535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אפשריות לבחירת תחום ענין לפי גיל הילד (התפתחויות הילד, המלצות, </a:t>
            </a:r>
            <a:r>
              <a:rPr lang="he-IL" b="1" dirty="0" err="1">
                <a:solidFill>
                  <a:schemeClr val="tx1"/>
                </a:solidFill>
              </a:rPr>
              <a:t>פודקאסט</a:t>
            </a:r>
            <a:r>
              <a:rPr lang="he-IL" b="1" dirty="0">
                <a:solidFill>
                  <a:schemeClr val="tx1"/>
                </a:solidFill>
              </a:rPr>
              <a:t> ווידאו, שתף </a:t>
            </a:r>
            <a:r>
              <a:rPr lang="he-IL" b="1" dirty="0" err="1">
                <a:solidFill>
                  <a:schemeClr val="tx1"/>
                </a:solidFill>
              </a:rPr>
              <a:t>חוויתך</a:t>
            </a:r>
            <a:r>
              <a:rPr lang="he-IL" b="1" dirty="0">
                <a:solidFill>
                  <a:schemeClr val="tx1"/>
                </a:solidFill>
              </a:rPr>
              <a:t>, תזונה הילד, קורסי הכשרה)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endParaRPr lang="he-IL" b="1" dirty="0">
              <a:solidFill>
                <a:schemeClr val="tx1"/>
              </a:solidFill>
            </a:endParaRPr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300ACBC8-3562-48A6-9E77-131E6A6543BC}"/>
              </a:ext>
            </a:extLst>
          </p:cNvPr>
          <p:cNvCxnSpPr>
            <a:cxnSpLocks/>
            <a:stCxn id="12" idx="6"/>
            <a:endCxn id="9" idx="1"/>
          </p:cNvCxnSpPr>
          <p:nvPr/>
        </p:nvCxnSpPr>
        <p:spPr>
          <a:xfrm flipV="1">
            <a:off x="6961223" y="4269782"/>
            <a:ext cx="137001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37471DF1-12A9-45AD-9DAE-8CCD70BA1A80}"/>
              </a:ext>
            </a:extLst>
          </p:cNvPr>
          <p:cNvSpPr/>
          <p:nvPr/>
        </p:nvSpPr>
        <p:spPr>
          <a:xfrm>
            <a:off x="1941163" y="3905573"/>
            <a:ext cx="5020060" cy="72841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1411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25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–תיבת חיפוש, דרישה 2.7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 descr="תמונה שמכילה טקסט, צילום מסך, פני אדם, אשה">
            <a:extLst>
              <a:ext uri="{FF2B5EF4-FFF2-40B4-BE49-F238E27FC236}">
                <a16:creationId xmlns:a16="http://schemas.microsoft.com/office/drawing/2014/main" id="{C83D5873-FF95-97D1-E333-BB0983BC19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8" r="51531" b="51723"/>
          <a:stretch/>
        </p:blipFill>
        <p:spPr>
          <a:xfrm>
            <a:off x="868680" y="1735493"/>
            <a:ext cx="7297113" cy="4122865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F2AC9581-C71D-4E1C-A526-1D0DB5B58BD4}"/>
              </a:ext>
            </a:extLst>
          </p:cNvPr>
          <p:cNvSpPr/>
          <p:nvPr/>
        </p:nvSpPr>
        <p:spPr>
          <a:xfrm>
            <a:off x="3292421" y="3734933"/>
            <a:ext cx="3069633" cy="60443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A8EFA97F-1102-4D0F-9271-F50BAFDAFCEC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6362054" y="4037150"/>
            <a:ext cx="12535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מלבן 10">
            <a:extLst>
              <a:ext uri="{FF2B5EF4-FFF2-40B4-BE49-F238E27FC236}">
                <a16:creationId xmlns:a16="http://schemas.microsoft.com/office/drawing/2014/main" id="{60EC798E-90D5-442F-9298-0B773B70AF49}"/>
              </a:ext>
            </a:extLst>
          </p:cNvPr>
          <p:cNvSpPr/>
          <p:nvPr/>
        </p:nvSpPr>
        <p:spPr>
          <a:xfrm>
            <a:off x="7615602" y="3734933"/>
            <a:ext cx="1528398" cy="604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תיבה לחיפוש בתוך האתר</a:t>
            </a:r>
          </a:p>
        </p:txBody>
      </p:sp>
    </p:spTree>
    <p:extLst>
      <p:ext uri="{BB962C8B-B14F-4D97-AF65-F5344CB8AC3E}">
        <p14:creationId xmlns:p14="http://schemas.microsoft.com/office/powerpoint/2010/main" val="1913589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2440745" y="90968"/>
            <a:ext cx="4262511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לוח זמנים- ביצוע מול תכנון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34059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A18BB344-154C-548F-6C80-E0046AE1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09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26</a:t>
            </a:fld>
            <a:endParaRPr lang="he-IL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5A654CA8-B542-4D96-B8D1-1FAA22B72DC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53" y="1046285"/>
            <a:ext cx="8623495" cy="5005803"/>
          </a:xfrm>
          <a:prstGeom prst="rect">
            <a:avLst/>
          </a:prstGeom>
        </p:spPr>
      </p:pic>
      <p:sp>
        <p:nvSpPr>
          <p:cNvPr id="4" name="חץ: שמאלה 3">
            <a:extLst>
              <a:ext uri="{FF2B5EF4-FFF2-40B4-BE49-F238E27FC236}">
                <a16:creationId xmlns:a16="http://schemas.microsoft.com/office/drawing/2014/main" id="{BBE8B65E-0340-4488-5581-AAD078DF5808}"/>
              </a:ext>
            </a:extLst>
          </p:cNvPr>
          <p:cNvSpPr/>
          <p:nvPr/>
        </p:nvSpPr>
        <p:spPr>
          <a:xfrm>
            <a:off x="8574257" y="4406043"/>
            <a:ext cx="618979" cy="386158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B58F72B5-8DE0-49EB-9AAB-9E2F56D9C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50495DE-B28D-4790-882F-FB8176295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1485513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49E3E42-3F9B-FD1D-9632-F052F860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9559C016-DFCB-43C1-ACB9-099EDBE62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EFAB98B5-1249-42BC-AE8C-BC13C9562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D2AC5ACF-D65D-74B1-DF3F-A4BFDDD14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0745" y="94269"/>
            <a:ext cx="4262511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ביבליוגרפיה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D7FA7111-A9E6-8A2D-AD99-5A012BD2EB90}"/>
              </a:ext>
            </a:extLst>
          </p:cNvPr>
          <p:cNvSpPr txBox="1"/>
          <p:nvPr/>
        </p:nvSpPr>
        <p:spPr>
          <a:xfrm>
            <a:off x="179512" y="703889"/>
            <a:ext cx="8784976" cy="58790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מקורות בעברית:</a:t>
            </a:r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מציין מיקום תוכן 2">
            <a:extLst>
              <a:ext uri="{FF2B5EF4-FFF2-40B4-BE49-F238E27FC236}">
                <a16:creationId xmlns:a16="http://schemas.microsoft.com/office/drawing/2014/main" id="{EA247243-3223-5D84-8ABC-BD2303EA28FA}"/>
              </a:ext>
            </a:extLst>
          </p:cNvPr>
          <p:cNvSpPr txBox="1">
            <a:spLocks/>
          </p:cNvSpPr>
          <p:nvPr/>
        </p:nvSpPr>
        <p:spPr>
          <a:xfrm>
            <a:off x="291721" y="1157002"/>
            <a:ext cx="8560558" cy="4997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he-IL" sz="1400" dirty="0" err="1"/>
              <a:t>אוריאנה</a:t>
            </a:r>
            <a:r>
              <a:rPr lang="he-IL" sz="1400" dirty="0"/>
              <a:t> א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</a:rPr>
              <a:t> '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 , (2023) "</a:t>
            </a:r>
            <a:r>
              <a:rPr lang="he-IL" sz="1400" dirty="0"/>
              <a:t>נתונים על אוכלוסיית הבדואים בנגב " מרכז המחקר והמדעי, נדלה בתאריך(06.02.2024). נדלה מתוך :</a:t>
            </a:r>
            <a:r>
              <a:rPr lang="he-IL" sz="1400" dirty="0">
                <a:hlinkClick r:id="rId4"/>
              </a:rPr>
              <a:t> קישור למאמר</a:t>
            </a:r>
            <a:endParaRPr lang="he-IL" sz="1400" dirty="0"/>
          </a:p>
          <a:p>
            <a:pPr marL="0" indent="0">
              <a:lnSpc>
                <a:spcPct val="100000"/>
              </a:lnSpc>
              <a:buNone/>
            </a:pPr>
            <a:r>
              <a:rPr lang="he-IL" sz="1400" dirty="0" err="1">
                <a:latin typeface="Calibri" panose="020F0502020204030204" pitchFamily="34" charset="0"/>
                <a:ea typeface="Calibri" panose="020F0502020204030204" pitchFamily="34" charset="0"/>
              </a:rPr>
              <a:t>איריק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 ,ר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 , ד"ר </a:t>
            </a:r>
            <a:r>
              <a:rPr lang="he-IL" sz="1400" dirty="0" err="1">
                <a:latin typeface="Calibri" panose="020F0502020204030204" pitchFamily="34" charset="0"/>
                <a:ea typeface="Calibri" panose="020F0502020204030204" pitchFamily="34" charset="0"/>
              </a:rPr>
              <a:t>תאבת,א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 (2011) </a:t>
            </a:r>
            <a:r>
              <a:rPr lang="he-IL" sz="1400" dirty="0"/>
              <a:t>"החברה הבדואית בנגב" ,יוזמות אברהם ,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 . נדלה בתאריך (06.02.2024)</a:t>
            </a:r>
            <a:r>
              <a:rPr lang="he-IL" sz="1400" dirty="0"/>
              <a:t> נדלה מתוך :</a:t>
            </a:r>
            <a:r>
              <a:rPr lang="he-IL" sz="1400" dirty="0">
                <a:hlinkClick r:id="rId5"/>
              </a:rPr>
              <a:t>קישור למאמר</a:t>
            </a:r>
            <a:endParaRPr lang="he-IL" sz="1400" dirty="0"/>
          </a:p>
          <a:p>
            <a:pPr marL="0" indent="0">
              <a:lnSpc>
                <a:spcPct val="100000"/>
              </a:lnSpc>
              <a:buNone/>
            </a:pPr>
            <a:r>
              <a:rPr lang="he-IL" sz="1400" dirty="0"/>
              <a:t>רוני ה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</a:rPr>
              <a:t> '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 ,(2022) "נישואי קטינות : ריכוז נתונים "</a:t>
            </a:r>
            <a:r>
              <a:rPr lang="he-IL" sz="1400" dirty="0"/>
              <a:t>,מרכז המחקר והמידע של הכנסת,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נדלה בתאריך (06.02.2024)</a:t>
            </a:r>
            <a:r>
              <a:rPr lang="he-IL" sz="1400" dirty="0"/>
              <a:t> נדלה מתוך :</a:t>
            </a:r>
            <a:r>
              <a:rPr lang="he-IL" sz="1400" dirty="0">
                <a:hlinkClick r:id="rId6"/>
              </a:rPr>
              <a:t> קישור למאמר</a:t>
            </a:r>
            <a:endParaRPr lang="he-IL" sz="1400" dirty="0"/>
          </a:p>
          <a:p>
            <a:pPr marL="0" indent="0">
              <a:lnSpc>
                <a:spcPct val="100000"/>
              </a:lnSpc>
              <a:buNone/>
            </a:pPr>
            <a:r>
              <a:rPr lang="he-IL" sz="1400" dirty="0"/>
              <a:t>רשימת מחברים , (2008) , "מצב הבריאות של תינוקות וילדים בדואים עד גיל 6 שנים ביישובי קבע ובכפרים הבלתי מוכרים בנגב", המרכז הלאומי לבקרת מחלות, נדלה בתאריך :(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06.02.2024</a:t>
            </a:r>
            <a:r>
              <a:rPr lang="he-IL" sz="1400" dirty="0"/>
              <a:t>). נדלה מתוך:-</a:t>
            </a:r>
            <a:r>
              <a:rPr lang="he-IL" sz="1400" dirty="0">
                <a:hlinkClick r:id="rId7"/>
              </a:rPr>
              <a:t>קישור למאמר</a:t>
            </a:r>
            <a:endParaRPr lang="he-IL" sz="1400" dirty="0"/>
          </a:p>
          <a:p>
            <a:pPr marL="0" indent="0">
              <a:lnSpc>
                <a:spcPct val="100000"/>
              </a:lnSpc>
              <a:buNone/>
            </a:pPr>
            <a:r>
              <a:rPr lang="he-IL" sz="1400" dirty="0"/>
              <a:t>(2020) , "כל האמת על הכפרים הלא מוכרים בנגב- ומאבקם לשוויון", סיכוי-</a:t>
            </a:r>
            <a:r>
              <a:rPr lang="he-IL" sz="1400" dirty="0" err="1"/>
              <a:t>אופוק</a:t>
            </a:r>
            <a:r>
              <a:rPr lang="he-IL" sz="1400" dirty="0"/>
              <a:t> לשוויון ושותפות(</a:t>
            </a:r>
            <a:r>
              <a:rPr lang="he-IL" sz="1400" dirty="0" err="1"/>
              <a:t>ע"ר</a:t>
            </a:r>
            <a:r>
              <a:rPr lang="he-IL" sz="1400" dirty="0"/>
              <a:t>) ,נדלה בתאריך (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06.02.2024</a:t>
            </a:r>
            <a:r>
              <a:rPr lang="he-IL" sz="1400" dirty="0"/>
              <a:t>) נדלה מתוך </a:t>
            </a:r>
            <a:r>
              <a:rPr lang="he-IL" sz="1400" dirty="0">
                <a:hlinkClick r:id="rId8"/>
              </a:rPr>
              <a:t>קישור למאמר</a:t>
            </a:r>
            <a:endParaRPr lang="he-IL" sz="1400" dirty="0"/>
          </a:p>
          <a:p>
            <a:pPr marL="0" indent="0">
              <a:buNone/>
            </a:pPr>
            <a:r>
              <a:rPr lang="he-IL" sz="1400" dirty="0"/>
              <a:t>"דיכאון אחרי לידה ובמהלך ההיריון-מידע לאישה ההרה, ליולדות ולבני משפחתה" , משרד הבריאות.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</a:rPr>
              <a:t>נדלה בתאריך (06.02.2024)</a:t>
            </a:r>
            <a:r>
              <a:rPr lang="he-IL" sz="1400" dirty="0"/>
              <a:t>  נדלה מתוך :-</a:t>
            </a:r>
            <a:r>
              <a:rPr lang="he-IL" sz="1400" dirty="0">
                <a:hlinkClick r:id="rId9"/>
              </a:rPr>
              <a:t> קישור למאמר</a:t>
            </a:r>
            <a:endParaRPr lang="he-IL" sz="1400" dirty="0"/>
          </a:p>
          <a:p>
            <a:pPr marL="0" indent="0" algn="r" rtl="1"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שובל, פ. (2017) תכנון, ניתוח ועיצוב מערכות מידע. האוניברסיטה הפתוחה.</a:t>
            </a:r>
          </a:p>
          <a:p>
            <a:pPr marL="0" indent="0" algn="r" rtl="1"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שרגא, ש. , </a:t>
            </a:r>
            <a:r>
              <a:rPr lang="he-IL" sz="1400" dirty="0" err="1">
                <a:latin typeface="Arial" panose="020B0604020202020204" pitchFamily="34" charset="0"/>
                <a:cs typeface="Arial" panose="020B0604020202020204" pitchFamily="34" charset="0"/>
              </a:rPr>
              <a:t>רובינוביץ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, י. (2012) מערכות ייצור משולבות מחשב. האוניברסיטה הפתוחה.</a:t>
            </a:r>
            <a:endParaRPr lang="he-IL" sz="1050" dirty="0"/>
          </a:p>
        </p:txBody>
      </p:sp>
    </p:spTree>
    <p:extLst>
      <p:ext uri="{BB962C8B-B14F-4D97-AF65-F5344CB8AC3E}">
        <p14:creationId xmlns:p14="http://schemas.microsoft.com/office/powerpoint/2010/main" val="2352146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A592DEC-65B0-07BE-DF1A-60DA12DD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401F707D-0A12-9FE9-E474-23DA9D9BD7D0}"/>
              </a:ext>
            </a:extLst>
          </p:cNvPr>
          <p:cNvSpPr txBox="1"/>
          <p:nvPr/>
        </p:nvSpPr>
        <p:spPr>
          <a:xfrm>
            <a:off x="2229274" y="4915190"/>
            <a:ext cx="6580256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 u="sng" dirty="0">
                <a:latin typeface="Arial" panose="020B0604020202020204" pitchFamily="34" charset="0"/>
                <a:cs typeface="Arial" panose="020B0604020202020204" pitchFamily="34" charset="0"/>
              </a:rPr>
              <a:t>מקורות פנים ארגוניים</a:t>
            </a: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ראיון עם אם צעירה</a:t>
            </a: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ראיון אם ותיקה</a:t>
            </a: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סקר אימהות ציעורת ,2024</a:t>
            </a: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6498D5D-2D19-487C-B053-E0370CFD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CB31B3CE-71A5-42A5-8319-1C256FB7E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C13725CE-4929-D3CA-7B64-F0C2DE4E6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0745" y="90968"/>
            <a:ext cx="4262511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ביבליוגרפיה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C11ED97F-72D0-D76B-E4CF-0B6746C71A3B}"/>
              </a:ext>
            </a:extLst>
          </p:cNvPr>
          <p:cNvSpPr txBox="1"/>
          <p:nvPr/>
        </p:nvSpPr>
        <p:spPr>
          <a:xfrm>
            <a:off x="24554" y="2883865"/>
            <a:ext cx="8784976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 u="sng" dirty="0">
                <a:latin typeface="Arial" panose="020B0604020202020204" pitchFamily="34" charset="0"/>
                <a:cs typeface="Arial" panose="020B0604020202020204" pitchFamily="34" charset="0"/>
              </a:rPr>
              <a:t>אתרי אינטרנט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https://www.mamanatural.com/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נדלה בתאריך(17.2.2024)</a:t>
            </a:r>
          </a:p>
          <a:p>
            <a:pPr algn="r" rtl="1"/>
            <a:r>
              <a:rPr lang="he-IL" dirty="0">
                <a:hlinkClick r:id="rId5"/>
              </a:rPr>
              <a:t>לידה זה </a:t>
            </a:r>
            <a:r>
              <a:rPr lang="he-IL" dirty="0" err="1">
                <a:hlinkClick r:id="rId5"/>
              </a:rPr>
              <a:t>כח</a:t>
            </a:r>
            <a:r>
              <a:rPr lang="he-IL" dirty="0">
                <a:hlinkClick r:id="rId5"/>
              </a:rPr>
              <a:t> | מידע להריוניות ויולדות (</a:t>
            </a:r>
            <a:r>
              <a:rPr lang="en-US" dirty="0">
                <a:hlinkClick r:id="rId5"/>
              </a:rPr>
              <a:t>powerbirth.co.il)</a:t>
            </a:r>
            <a:r>
              <a:rPr lang="he-IL" dirty="0"/>
              <a:t>נדלה בתאריך(17.2.2024)</a:t>
            </a:r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hlinkClick r:id="rId6"/>
              </a:rPr>
              <a:t>עמוד הבית - ארגון המיילדות בישראל (</a:t>
            </a:r>
            <a:r>
              <a:rPr lang="en-US" dirty="0">
                <a:hlinkClick r:id="rId6"/>
              </a:rPr>
              <a:t>midwives.org.il)</a:t>
            </a:r>
            <a:r>
              <a:rPr lang="he-IL" dirty="0"/>
              <a:t>נדלה בתאריך(17.2.2024)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 WIX LINK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נדלה בתאריך(18.2.2024)</a:t>
            </a:r>
            <a:endParaRPr lang="he-IL" dirty="0">
              <a:latin typeface="Arial" panose="020B0604020202020204" pitchFamily="34" charset="0"/>
            </a:endParaRPr>
          </a:p>
          <a:p>
            <a:pPr algn="r" rt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SITE123 LINK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נדלה בתאריך(18.2.2024)</a:t>
            </a:r>
          </a:p>
          <a:p>
            <a:pPr algn="r" rt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WorkSpaceGoogleLINK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נדלה בתאריך(18.2.2024)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4FCD5A0-2963-87A2-988F-EE9CCD45DDBE}"/>
              </a:ext>
            </a:extLst>
          </p:cNvPr>
          <p:cNvSpPr/>
          <p:nvPr/>
        </p:nvSpPr>
        <p:spPr>
          <a:xfrm>
            <a:off x="523240" y="1033077"/>
            <a:ext cx="8097520" cy="2395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0">
              <a:lnSpc>
                <a:spcPct val="150000"/>
              </a:lnSpc>
            </a:pPr>
            <a:r>
              <a:rPr lang="he-IL" b="1" u="sng" dirty="0">
                <a:latin typeface="Arial" panose="020B0604020202020204" pitchFamily="34" charset="0"/>
                <a:cs typeface="Arial" panose="020B0604020202020204" pitchFamily="34" charset="0"/>
              </a:rPr>
              <a:t>מקורות באנגלית</a:t>
            </a:r>
            <a:endParaRPr lang="he-IL" sz="1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Stories into UML Use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CaseDiagrams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using NLP Techniques. Procedia Computer Science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.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Martin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Sarnovsky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Peter Bednar and Miroslav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Smatana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Big Data Processing and Analytics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Open Sans" panose="020F0502020204030204" pitchFamily="34" charset="0"/>
                <a:hlinkClick r:id="rId10"/>
              </a:rPr>
              <a:t> </a:t>
            </a:r>
            <a:r>
              <a:rPr lang="en-US" sz="1400" b="1" i="0" u="none" strike="noStrike" baseline="0" dirty="0">
                <a:latin typeface="Times New Roman" panose="02020603050405020304" pitchFamily="18" charset="0"/>
              </a:rPr>
              <a:t>Syifa Syarifah Alamiyah </a:t>
            </a:r>
            <a:r>
              <a:rPr lang="en-US" sz="1400" dirty="0">
                <a:solidFill>
                  <a:srgbClr val="000000"/>
                </a:solidFill>
                <a:latin typeface="Open Sans" panose="020F0502020204030204" pitchFamily="34" charset="0"/>
              </a:rPr>
              <a:t>(2019)</a:t>
            </a:r>
            <a:r>
              <a:rPr lang="en-US" sz="1400" b="1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b="1" i="0" u="none" strike="noStrike" baseline="0" dirty="0">
                <a:latin typeface="Times New Roman,Bold"/>
              </a:rPr>
              <a:t>I Become More Confident’: Mother Use of Online </a:t>
            </a:r>
            <a:r>
              <a:rPr lang="en-US" b="1" dirty="0">
                <a:latin typeface="Times New Roman" panose="02020603050405020304" pitchFamily="18" charset="0"/>
              </a:rPr>
              <a:t>Platform for Parenting Information</a:t>
            </a:r>
            <a:endParaRPr lang="en-US" sz="1400" b="1" i="0" dirty="0">
              <a:solidFill>
                <a:srgbClr val="1C1D1E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0">
              <a:lnSpc>
                <a:spcPct val="150000"/>
              </a:lnSpc>
            </a:pPr>
            <a:endParaRPr lang="de-DE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7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1" y="-109248"/>
            <a:ext cx="9143999" cy="101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תיאור מצב קיים</a:t>
            </a:r>
          </a:p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סקר אימהות חדשות-שאלון איתור נגישות למידע ייעודי 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376801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Navon-13-2024-sem3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B2DBE05-DC6F-363D-4E15-40DB1A84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2096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29</a:t>
            </a:fld>
            <a:endParaRPr lang="he-IL" dirty="0"/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FE209D8C-823A-47B7-E716-FECD6CB982F9}"/>
              </a:ext>
            </a:extLst>
          </p:cNvPr>
          <p:cNvGraphicFramePr>
            <a:graphicFrameLocks noGrp="1"/>
          </p:cNvGraphicFramePr>
          <p:nvPr/>
        </p:nvGraphicFramePr>
        <p:xfrm>
          <a:off x="535318" y="1379771"/>
          <a:ext cx="8073363" cy="4184457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46321">
                  <a:extLst>
                    <a:ext uri="{9D8B030D-6E8A-4147-A177-3AD203B41FA5}">
                      <a16:colId xmlns:a16="http://schemas.microsoft.com/office/drawing/2014/main" val="1252776336"/>
                    </a:ext>
                  </a:extLst>
                </a:gridCol>
                <a:gridCol w="4811247">
                  <a:extLst>
                    <a:ext uri="{9D8B030D-6E8A-4147-A177-3AD203B41FA5}">
                      <a16:colId xmlns:a16="http://schemas.microsoft.com/office/drawing/2014/main" val="3152787148"/>
                    </a:ext>
                  </a:extLst>
                </a:gridCol>
                <a:gridCol w="1206536">
                  <a:extLst>
                    <a:ext uri="{9D8B030D-6E8A-4147-A177-3AD203B41FA5}">
                      <a16:colId xmlns:a16="http://schemas.microsoft.com/office/drawing/2014/main" val="4069057726"/>
                    </a:ext>
                  </a:extLst>
                </a:gridCol>
                <a:gridCol w="904902">
                  <a:extLst>
                    <a:ext uri="{9D8B030D-6E8A-4147-A177-3AD203B41FA5}">
                      <a16:colId xmlns:a16="http://schemas.microsoft.com/office/drawing/2014/main" val="2977084996"/>
                    </a:ext>
                  </a:extLst>
                </a:gridCol>
                <a:gridCol w="804357">
                  <a:extLst>
                    <a:ext uri="{9D8B030D-6E8A-4147-A177-3AD203B41FA5}">
                      <a16:colId xmlns:a16="http://schemas.microsoft.com/office/drawing/2014/main" val="1457533964"/>
                    </a:ext>
                  </a:extLst>
                </a:gridCol>
              </a:tblGrid>
              <a:tr h="385461">
                <a:tc gridSpan="5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סקר אימהות  חדשות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349287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#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שאלה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u="none" strike="noStrike" dirty="0">
                          <a:effectLst/>
                        </a:rPr>
                        <a:t> 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27223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זה ילד ראשון?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לא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268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2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גיל האם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18-25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26+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98923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3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כמה זמן נשואה?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0-1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2 +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460738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4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יש ניסיון קודם בטיפול בתינוק?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692942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5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קבלת הדרכה כלשהי לטיפול בתינוק?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656239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6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ההדרכה הייתה מקרובי משפחה? 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35093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7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היה לך קושי להתמודד עם התינוק בלי עזרה?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261090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8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מתביישת או חוששת לשאול שאלות?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370426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9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חסר לך מידע לטיפול בתינוק/ת?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כן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913368"/>
                  </a:ext>
                </a:extLst>
              </a:tr>
              <a:tr h="426398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10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היכן מחפשת מידע על טיפול בתינוק/ת?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קרובי משפחה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חברים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אחר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171917"/>
                  </a:ext>
                </a:extLst>
              </a:tr>
              <a:tr h="426398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11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אתר אינטרנט ייעודי יכול לסייע לאימהות חדשות? 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999299"/>
                  </a:ext>
                </a:extLst>
              </a:tr>
            </a:tbl>
          </a:graphicData>
        </a:graphic>
      </p:graphicFrame>
      <p:sp>
        <p:nvSpPr>
          <p:cNvPr id="6" name="TextBox 15">
            <a:extLst>
              <a:ext uri="{FF2B5EF4-FFF2-40B4-BE49-F238E27FC236}">
                <a16:creationId xmlns:a16="http://schemas.microsoft.com/office/drawing/2014/main" id="{4A1319FC-BF43-A389-0246-BC975F35DC41}"/>
              </a:ext>
            </a:extLst>
          </p:cNvPr>
          <p:cNvSpPr txBox="1"/>
          <p:nvPr/>
        </p:nvSpPr>
        <p:spPr>
          <a:xfrm>
            <a:off x="496111" y="5798611"/>
            <a:ext cx="8151778" cy="4616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הסקר הועבר לכ-100 אימהות חדשות 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194FB98-56F0-DF38-0736-B52D8FFDB6FF}"/>
              </a:ext>
            </a:extLst>
          </p:cNvPr>
          <p:cNvSpPr/>
          <p:nvPr/>
        </p:nvSpPr>
        <p:spPr>
          <a:xfrm>
            <a:off x="521757" y="883409"/>
            <a:ext cx="8100487" cy="3601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בנינו סקר על סמך מידע שאספנו ושיחות עם נשים במגזר הבדואי בדרום: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AB987739-06E8-4E70-8B89-D2FF7D4A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2BF87A41-BFD3-4DDC-AB6A-AF6B85ADB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F1A23F7-B6C2-7E1A-24D1-7454DA7556C6}"/>
              </a:ext>
            </a:extLst>
          </p:cNvPr>
          <p:cNvSpPr txBox="1"/>
          <p:nvPr/>
        </p:nvSpPr>
        <p:spPr>
          <a:xfrm>
            <a:off x="7177916" y="283029"/>
            <a:ext cx="862087" cy="2578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4,5,6</a:t>
            </a:r>
            <a:endParaRPr lang="he-IL" sz="1050" b="1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28EF4A3-731F-56E1-0630-B7EB05F66B1D}"/>
              </a:ext>
            </a:extLst>
          </p:cNvPr>
          <p:cNvSpPr txBox="1"/>
          <p:nvPr/>
        </p:nvSpPr>
        <p:spPr>
          <a:xfrm>
            <a:off x="7425261" y="6259146"/>
            <a:ext cx="1718739" cy="57708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4.ראיון עם אם צעירה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5.ראיון אם ותיקה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סקר אימהות חדשות,2024</a:t>
            </a:r>
          </a:p>
        </p:txBody>
      </p:sp>
    </p:spTree>
    <p:extLst>
      <p:ext uri="{BB962C8B-B14F-4D97-AF65-F5344CB8AC3E}">
        <p14:creationId xmlns:p14="http://schemas.microsoft.com/office/powerpoint/2010/main" val="125105307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0EC68977-67F0-43D4-AD79-934FC77B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91EF7365-F42F-417F-AB4A-7EF333DB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 rtl="1"/>
            <a:fld id="{F406CD6C-EFBE-497B-B02F-71827CD8C8E4}" type="slidenum">
              <a:rPr lang="he-IL" smtClean="0"/>
              <a:pPr algn="l" rtl="1"/>
              <a:t>30</a:t>
            </a:fld>
            <a:endParaRPr lang="he-IL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8B2A4B2-FCCA-4B03-8843-9CF5D2DC4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16851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דרישות פונקציונליות (</a:t>
            </a:r>
            <a:r>
              <a:rPr lang="en-US" sz="2400" b="1" u="sng" dirty="0">
                <a:latin typeface="Calibri" pitchFamily="34" charset="0"/>
              </a:rPr>
              <a:t>FR</a:t>
            </a:r>
            <a:r>
              <a:rPr lang="he-IL" sz="2400" b="1" u="sng" dirty="0">
                <a:latin typeface="Calibri" pitchFamily="34" charset="0"/>
              </a:rPr>
              <a:t>)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C6990E85-B239-4047-B1D0-3C7EFFA8C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2011CEC8-3F61-4822-8E17-02B751AFA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2858E88-B3AB-82DC-E4DA-F64BF053DCE9}"/>
              </a:ext>
            </a:extLst>
          </p:cNvPr>
          <p:cNvSpPr txBox="1"/>
          <p:nvPr/>
        </p:nvSpPr>
        <p:spPr>
          <a:xfrm>
            <a:off x="2628569" y="141934"/>
            <a:ext cx="51935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10,12</a:t>
            </a:r>
            <a:endParaRPr lang="he-IL" sz="1050" b="1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09B6CDEC-9EEE-3A96-9B1F-ED05DBE48C6C}"/>
              </a:ext>
            </a:extLst>
          </p:cNvPr>
          <p:cNvSpPr txBox="1"/>
          <p:nvPr/>
        </p:nvSpPr>
        <p:spPr>
          <a:xfrm>
            <a:off x="6057900" y="6008256"/>
            <a:ext cx="3086100" cy="1465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l" rtl="1"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12.Martin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Sarnovsky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Peter Bednar and Miroslav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Smatana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Big Data Processing and Analytics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0">
              <a:lnSpc>
                <a:spcPct val="150000"/>
              </a:lnSpc>
            </a:pP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11" name="טבלה 10">
            <a:extLst>
              <a:ext uri="{FF2B5EF4-FFF2-40B4-BE49-F238E27FC236}">
                <a16:creationId xmlns:a16="http://schemas.microsoft.com/office/drawing/2014/main" id="{0B9F6566-AC9E-709F-87F2-5C0C96C79CF3}"/>
              </a:ext>
            </a:extLst>
          </p:cNvPr>
          <p:cNvGraphicFramePr>
            <a:graphicFrameLocks noGrp="1"/>
          </p:cNvGraphicFramePr>
          <p:nvPr/>
        </p:nvGraphicFramePr>
        <p:xfrm>
          <a:off x="868679" y="665731"/>
          <a:ext cx="7336248" cy="538616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39897">
                  <a:extLst>
                    <a:ext uri="{9D8B030D-6E8A-4147-A177-3AD203B41FA5}">
                      <a16:colId xmlns:a16="http://schemas.microsoft.com/office/drawing/2014/main" val="2867188370"/>
                    </a:ext>
                  </a:extLst>
                </a:gridCol>
                <a:gridCol w="4011516">
                  <a:extLst>
                    <a:ext uri="{9D8B030D-6E8A-4147-A177-3AD203B41FA5}">
                      <a16:colId xmlns:a16="http://schemas.microsoft.com/office/drawing/2014/main" val="677371361"/>
                    </a:ext>
                  </a:extLst>
                </a:gridCol>
                <a:gridCol w="1484835">
                  <a:extLst>
                    <a:ext uri="{9D8B030D-6E8A-4147-A177-3AD203B41FA5}">
                      <a16:colId xmlns:a16="http://schemas.microsoft.com/office/drawing/2014/main" val="3202396566"/>
                    </a:ext>
                  </a:extLst>
                </a:gridCol>
              </a:tblGrid>
              <a:tr h="636281"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תהליך</a:t>
                      </a:r>
                      <a:endParaRPr lang="he-IL" sz="14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תיאור </a:t>
                      </a:r>
                      <a:r>
                        <a:rPr lang="en-US" sz="1400" dirty="0"/>
                        <a:t>FR</a:t>
                      </a:r>
                      <a:r>
                        <a:rPr lang="he-IL" sz="1400" dirty="0"/>
                        <a:t>- קריטיות </a:t>
                      </a:r>
                      <a:endParaRPr lang="he-IL" sz="1400" u="sng" dirty="0"/>
                    </a:p>
                    <a:p>
                      <a:pPr algn="ctr" rtl="1"/>
                      <a:r>
                        <a:rPr lang="he-IL" sz="1400" u="sng" dirty="0"/>
                        <a:t>המערכת תאפשר :</a:t>
                      </a:r>
                      <a:endParaRPr lang="he-IL" sz="1400" u="sng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יישום באב טיפוס</a:t>
                      </a:r>
                      <a:endParaRPr lang="he-IL" sz="14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455029"/>
                  </a:ext>
                </a:extLst>
              </a:tr>
              <a:tr h="368640">
                <a:tc rowSpan="4"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הרשמה</a:t>
                      </a:r>
                    </a:p>
                    <a:p>
                      <a:pPr algn="ctr" rtl="1"/>
                      <a:r>
                        <a:rPr lang="he-IL" sz="1400" dirty="0"/>
                        <a:t>לאתר</a:t>
                      </a:r>
                    </a:p>
                    <a:p>
                      <a:pPr algn="ctr" rtl="1"/>
                      <a:endParaRPr lang="he-IL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>
                        <a:buFont typeface="+mj-lt"/>
                        <a:buNone/>
                      </a:pPr>
                      <a:r>
                        <a:rPr lang="he-IL" sz="1400" dirty="0"/>
                        <a:t>1. כניסה להרשמה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845236"/>
                  </a:ext>
                </a:extLst>
              </a:tr>
              <a:tr h="3686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he-IL" sz="1400" dirty="0"/>
                        <a:t>2. מילוי טופס רישום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381748"/>
                  </a:ext>
                </a:extLst>
              </a:tr>
              <a:tr h="3686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he-IL" sz="1400" dirty="0"/>
                        <a:t>3. אימות דוא"ל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073745"/>
                  </a:ext>
                </a:extLst>
              </a:tr>
              <a:tr h="3686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4. כניסה לחשבון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49092"/>
                  </a:ext>
                </a:extLst>
              </a:tr>
              <a:tr h="368640">
                <a:tc rowSpan="7"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חיפוש מידע 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1. כניסה לאתר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49311"/>
                  </a:ext>
                </a:extLst>
              </a:tr>
              <a:tr h="381914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2. התחברות עם חשבון אישי או כאורח </a:t>
                      </a:r>
                      <a:endParaRPr lang="ar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694021"/>
                  </a:ext>
                </a:extLst>
              </a:tr>
              <a:tr h="3686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3. בחירת שפה: עברית /ערבית</a:t>
                      </a:r>
                      <a:endParaRPr lang="ar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986338"/>
                  </a:ext>
                </a:extLst>
              </a:tr>
              <a:tr h="603717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4.בחירת נושא ראשי: הריון, לידה, 12-24 חודש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072025"/>
                  </a:ext>
                </a:extLst>
              </a:tr>
              <a:tr h="603717"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5. 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בחירת נושא משני</a:t>
                      </a:r>
                      <a:endParaRPr lang="ar-AE" sz="1400" b="0" dirty="0">
                        <a:solidFill>
                          <a:schemeClr val="tx1"/>
                        </a:solidFill>
                      </a:endParaRPr>
                    </a:p>
                    <a:p>
                      <a:pPr rtl="1"/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</a:t>
                      </a:r>
                      <a:endParaRPr lang="he-IL" sz="1400" dirty="0"/>
                    </a:p>
                    <a:p>
                      <a:pPr algn="ctr" rtl="1"/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87356"/>
                  </a:ext>
                </a:extLst>
              </a:tr>
              <a:tr h="603717"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6. 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בחירת תחום </a:t>
                      </a:r>
                      <a:r>
                        <a:rPr lang="he-IL" sz="1400" b="0" dirty="0" err="1">
                          <a:solidFill>
                            <a:schemeClr val="tx1"/>
                          </a:solidFill>
                        </a:rPr>
                        <a:t>ענין:סרטון,פודקאסט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 ועוד....</a:t>
                      </a:r>
                      <a:endParaRPr lang="ar-AE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</a:t>
                      </a:r>
                      <a:endParaRPr lang="he-IL" sz="1400" dirty="0"/>
                    </a:p>
                    <a:p>
                      <a:pPr algn="ctr" rtl="1"/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567363"/>
                  </a:ext>
                </a:extLst>
              </a:tr>
              <a:tr h="344981"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7. 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צפייה בתוצאות חיפוש</a:t>
                      </a:r>
                      <a:endParaRPr lang="ar-AE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163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918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3AACEF19-5D48-41C8-B8FE-10FC1882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BAE2A430-2F5E-403D-B052-6CE32384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 rtl="1"/>
            <a:fld id="{F406CD6C-EFBE-497B-B02F-71827CD8C8E4}" type="slidenum">
              <a:rPr lang="he-IL" smtClean="0"/>
              <a:pPr algn="l" rtl="1"/>
              <a:t>31</a:t>
            </a:fld>
            <a:endParaRPr lang="he-IL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6B5DA6E-78D7-4BDC-BBA5-E6AB89CBC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499" y="177624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דרישות לא פונקציונליות (</a:t>
            </a:r>
            <a:r>
              <a:rPr lang="en-US" sz="2400" b="1" u="sng" dirty="0">
                <a:latin typeface="Calibri" pitchFamily="34" charset="0"/>
              </a:rPr>
              <a:t>NFR</a:t>
            </a:r>
            <a:r>
              <a:rPr lang="he-IL" sz="2400" b="1" u="sng" dirty="0">
                <a:latin typeface="Calibri" pitchFamily="34" charset="0"/>
              </a:rPr>
              <a:t>)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1C07609-7CC9-42F2-A209-65715AEB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4A73A054-96D8-42BB-A911-7E9E759BB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87428613-2D76-7B97-7D34-9C984AF3ADB5}"/>
              </a:ext>
            </a:extLst>
          </p:cNvPr>
          <p:cNvSpPr txBox="1"/>
          <p:nvPr/>
        </p:nvSpPr>
        <p:spPr>
          <a:xfrm>
            <a:off x="3412518" y="78471"/>
            <a:ext cx="59984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10,12</a:t>
            </a:r>
            <a:endParaRPr lang="he-IL" sz="1050" b="1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B7633F1E-51BF-8A30-95C2-4382771665A1}"/>
              </a:ext>
            </a:extLst>
          </p:cNvPr>
          <p:cNvSpPr txBox="1"/>
          <p:nvPr/>
        </p:nvSpPr>
        <p:spPr>
          <a:xfrm>
            <a:off x="1814878" y="5979805"/>
            <a:ext cx="7329122" cy="46634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l" rtl="1"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12.Martin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Sarnovsky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Peter Bednar and Miroslav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Smatana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Big Data Processing and Analytics</a:t>
            </a: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B1FADA3E-EA93-1A4E-F44A-8E294CB274B2}"/>
              </a:ext>
            </a:extLst>
          </p:cNvPr>
          <p:cNvGraphicFramePr>
            <a:graphicFrameLocks noGrp="1"/>
          </p:cNvGraphicFramePr>
          <p:nvPr/>
        </p:nvGraphicFramePr>
        <p:xfrm>
          <a:off x="552247" y="957580"/>
          <a:ext cx="8039505" cy="494849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75143">
                  <a:extLst>
                    <a:ext uri="{9D8B030D-6E8A-4147-A177-3AD203B41FA5}">
                      <a16:colId xmlns:a16="http://schemas.microsoft.com/office/drawing/2014/main" val="1993474452"/>
                    </a:ext>
                  </a:extLst>
                </a:gridCol>
                <a:gridCol w="5518997">
                  <a:extLst>
                    <a:ext uri="{9D8B030D-6E8A-4147-A177-3AD203B41FA5}">
                      <a16:colId xmlns:a16="http://schemas.microsoft.com/office/drawing/2014/main" val="2929796556"/>
                    </a:ext>
                  </a:extLst>
                </a:gridCol>
                <a:gridCol w="1445365">
                  <a:extLst>
                    <a:ext uri="{9D8B030D-6E8A-4147-A177-3AD203B41FA5}">
                      <a16:colId xmlns:a16="http://schemas.microsoft.com/office/drawing/2014/main" val="1091232215"/>
                    </a:ext>
                  </a:extLst>
                </a:gridCol>
              </a:tblGrid>
              <a:tr h="769766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נושא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תיאור </a:t>
                      </a:r>
                      <a:r>
                        <a:rPr lang="en-US" dirty="0"/>
                        <a:t>NFR</a:t>
                      </a:r>
                      <a:r>
                        <a:rPr lang="he-IL" dirty="0"/>
                        <a:t>- קריטיות </a:t>
                      </a:r>
                      <a:endParaRPr lang="he-IL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יישום באב טיפוס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970259"/>
                  </a:ext>
                </a:extLst>
              </a:tr>
              <a:tr h="769766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עיצוב נגיש</a:t>
                      </a:r>
                      <a:endParaRPr lang="he-IL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האתר עובד בצורה תקינה על גבי כל סוגי הדפדפנים ובכל מכשיר, וכן מציע חוויה משתמש מובנית ונעימה. </a:t>
                      </a:r>
                      <a:endParaRPr lang="he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e-IL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172717"/>
                  </a:ext>
                </a:extLst>
              </a:tr>
              <a:tr h="1099666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אבטחה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האתר מספק רמה גבוהה של אבטחה למידע האישי של המשתמשים, במיוחד כאשר מדובר בנתונים רגישים כמו פרטים רפואיים ומידע אישי.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93309"/>
                  </a:ext>
                </a:extLst>
              </a:tr>
              <a:tr h="769766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ביצועים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1"/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האתר עובד בצורה מהירה ויעילה כדי להבטיח חווית משתמש טובה ולמנוע עצירות או עיכובים בטעינה.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185184"/>
                  </a:ext>
                </a:extLst>
              </a:tr>
              <a:tr h="769766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ניהול תוכן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1"/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ממשק ניהול תוכן נוח וידידותי, שיאפשר למנהלי האתר לעדכן ולנהל את התוכן בצורה קלה ויעילה. 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071110"/>
                  </a:ext>
                </a:extLst>
              </a:tr>
              <a:tr h="769766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תמיכה ותחזוקה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כולל עדכונים תכנותיים רציפים, תמיכה טכנית וטיפול בתקלות.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627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789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6ADF6419-BAD2-452D-BC9F-AAB2C7AE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7935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4E681050-C5A4-48BC-85F5-2C5C0EAE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32</a:t>
            </a:fld>
            <a:endParaRPr lang="he-IL" dirty="0"/>
          </a:p>
        </p:txBody>
      </p:sp>
      <p:sp>
        <p:nvSpPr>
          <p:cNvPr id="4" name="תיבת טקסט 13">
            <a:extLst>
              <a:ext uri="{FF2B5EF4-FFF2-40B4-BE49-F238E27FC236}">
                <a16:creationId xmlns:a16="http://schemas.microsoft.com/office/drawing/2014/main" id="{456A04AA-C2C2-4A0E-944A-482239069E59}"/>
              </a:ext>
            </a:extLst>
          </p:cNvPr>
          <p:cNvSpPr txBox="1"/>
          <p:nvPr/>
        </p:nvSpPr>
        <p:spPr>
          <a:xfrm>
            <a:off x="5910833" y="5958441"/>
            <a:ext cx="3233167" cy="122341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ttps://www.mamanatural.com/.13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.14</a:t>
            </a:r>
            <a:r>
              <a:rPr lang="he-IL" sz="105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לידה זה </a:t>
            </a:r>
            <a:r>
              <a:rPr lang="he-IL" sz="105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כח</a:t>
            </a:r>
            <a:r>
              <a:rPr lang="he-IL" sz="105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מידע להריוניות ויולדות (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powerbirth.co.il)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.15</a:t>
            </a:r>
            <a:r>
              <a:rPr lang="he-IL" sz="105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עמוד הבית - ארגון המיילדות בישראל (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midwives.org.il)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C5963DB-46A9-4CDE-8715-909F13539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794" y="-15497"/>
            <a:ext cx="978206" cy="542439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80855F6C-E74D-417D-97B7-8EF44E9DF6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0"/>
            <a:ext cx="862087" cy="62768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3E30E752-F13E-46EA-894A-EE8BB7B10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777" y="88199"/>
            <a:ext cx="62584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b="1" u="sng" dirty="0">
                <a:latin typeface="Calibri" pitchFamily="34" charset="0"/>
              </a:rPr>
              <a:t>תרשים תהליך חיפוש מידע במהלך הריון ולאחריו - </a:t>
            </a:r>
            <a:r>
              <a:rPr lang="he-IL" sz="2400" b="1" u="sng" dirty="0">
                <a:latin typeface="Calibri" pitchFamily="34" charset="0"/>
              </a:rPr>
              <a:t>מצב מוצע</a:t>
            </a:r>
          </a:p>
        </p:txBody>
      </p:sp>
      <p:sp>
        <p:nvSpPr>
          <p:cNvPr id="8" name="תיבת טקסט 12">
            <a:extLst>
              <a:ext uri="{FF2B5EF4-FFF2-40B4-BE49-F238E27FC236}">
                <a16:creationId xmlns:a16="http://schemas.microsoft.com/office/drawing/2014/main" id="{DA89C167-3030-4EEE-B6FB-9FE2F42ABD30}"/>
              </a:ext>
            </a:extLst>
          </p:cNvPr>
          <p:cNvSpPr txBox="1"/>
          <p:nvPr/>
        </p:nvSpPr>
        <p:spPr>
          <a:xfrm>
            <a:off x="4417097" y="0"/>
            <a:ext cx="862087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10,13,14,15</a:t>
            </a:r>
            <a:endParaRPr lang="he-IL" sz="1050" b="1" dirty="0"/>
          </a:p>
        </p:txBody>
      </p:sp>
      <p:grpSp>
        <p:nvGrpSpPr>
          <p:cNvPr id="409" name="קבוצה 408">
            <a:extLst>
              <a:ext uri="{FF2B5EF4-FFF2-40B4-BE49-F238E27FC236}">
                <a16:creationId xmlns:a16="http://schemas.microsoft.com/office/drawing/2014/main" id="{D7332F9E-583E-4CE1-8EB8-017B66AF9A4A}"/>
              </a:ext>
            </a:extLst>
          </p:cNvPr>
          <p:cNvGrpSpPr/>
          <p:nvPr/>
        </p:nvGrpSpPr>
        <p:grpSpPr>
          <a:xfrm>
            <a:off x="234284" y="715717"/>
            <a:ext cx="8220241" cy="5060691"/>
            <a:chOff x="-1463160" y="447638"/>
            <a:chExt cx="10117127" cy="5060691"/>
          </a:xfrm>
        </p:grpSpPr>
        <p:sp>
          <p:nvSpPr>
            <p:cNvPr id="82" name="מלבן 81">
              <a:extLst>
                <a:ext uri="{FF2B5EF4-FFF2-40B4-BE49-F238E27FC236}">
                  <a16:creationId xmlns:a16="http://schemas.microsoft.com/office/drawing/2014/main" id="{39A641A6-722E-4B12-BB47-F484256204F8}"/>
                </a:ext>
              </a:extLst>
            </p:cNvPr>
            <p:cNvSpPr/>
            <p:nvPr/>
          </p:nvSpPr>
          <p:spPr>
            <a:xfrm>
              <a:off x="4285377" y="2582998"/>
              <a:ext cx="807979" cy="3202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לידה</a:t>
              </a:r>
            </a:p>
          </p:txBody>
        </p:sp>
        <p:sp>
          <p:nvSpPr>
            <p:cNvPr id="52" name="תרשים זרימה: קלט ידני 51">
              <a:extLst>
                <a:ext uri="{FF2B5EF4-FFF2-40B4-BE49-F238E27FC236}">
                  <a16:creationId xmlns:a16="http://schemas.microsoft.com/office/drawing/2014/main" id="{C367447A-5B33-4379-A05D-58D68928F423}"/>
                </a:ext>
              </a:extLst>
            </p:cNvPr>
            <p:cNvSpPr/>
            <p:nvPr/>
          </p:nvSpPr>
          <p:spPr>
            <a:xfrm>
              <a:off x="4999967" y="842659"/>
              <a:ext cx="1518834" cy="604434"/>
            </a:xfrm>
            <a:prstGeom prst="flowChartManualInp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התחברות משתמש חדש</a:t>
              </a:r>
            </a:p>
          </p:txBody>
        </p:sp>
        <p:cxnSp>
          <p:nvCxnSpPr>
            <p:cNvPr id="56" name="מחבר: מרפקי 55">
              <a:extLst>
                <a:ext uri="{FF2B5EF4-FFF2-40B4-BE49-F238E27FC236}">
                  <a16:creationId xmlns:a16="http://schemas.microsoft.com/office/drawing/2014/main" id="{44D964B6-8A4A-46B1-ADC8-AFB110A11702}"/>
                </a:ext>
              </a:extLst>
            </p:cNvPr>
            <p:cNvCxnSpPr>
              <a:cxnSpLocks/>
              <a:stCxn id="404" idx="6"/>
              <a:endCxn id="52" idx="0"/>
            </p:cNvCxnSpPr>
            <p:nvPr/>
          </p:nvCxnSpPr>
          <p:spPr>
            <a:xfrm>
              <a:off x="5360453" y="598968"/>
              <a:ext cx="398931" cy="30413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תרשים זרימה: קלט ידני 57">
              <a:extLst>
                <a:ext uri="{FF2B5EF4-FFF2-40B4-BE49-F238E27FC236}">
                  <a16:creationId xmlns:a16="http://schemas.microsoft.com/office/drawing/2014/main" id="{1B41C081-9BEE-447C-89AB-1752240D4AEE}"/>
                </a:ext>
              </a:extLst>
            </p:cNvPr>
            <p:cNvSpPr/>
            <p:nvPr/>
          </p:nvSpPr>
          <p:spPr>
            <a:xfrm>
              <a:off x="2913604" y="853507"/>
              <a:ext cx="1518834" cy="604434"/>
            </a:xfrm>
            <a:prstGeom prst="flowChartManualInp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התחברות משתמש קיים</a:t>
              </a:r>
            </a:p>
          </p:txBody>
        </p:sp>
        <p:cxnSp>
          <p:nvCxnSpPr>
            <p:cNvPr id="60" name="מחבר: מרפקי 59">
              <a:extLst>
                <a:ext uri="{FF2B5EF4-FFF2-40B4-BE49-F238E27FC236}">
                  <a16:creationId xmlns:a16="http://schemas.microsoft.com/office/drawing/2014/main" id="{597C0AE4-0DB5-4EA7-9830-19D503114B86}"/>
                </a:ext>
              </a:extLst>
            </p:cNvPr>
            <p:cNvCxnSpPr>
              <a:cxnSpLocks/>
              <a:stCxn id="404" idx="2"/>
              <a:endCxn id="58" idx="0"/>
            </p:cNvCxnSpPr>
            <p:nvPr/>
          </p:nvCxnSpPr>
          <p:spPr>
            <a:xfrm rot="10800000" flipV="1">
              <a:off x="3673021" y="598968"/>
              <a:ext cx="614174" cy="31498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מחבר ישר 64">
              <a:extLst>
                <a:ext uri="{FF2B5EF4-FFF2-40B4-BE49-F238E27FC236}">
                  <a16:creationId xmlns:a16="http://schemas.microsoft.com/office/drawing/2014/main" id="{3EF004FE-19D1-4061-A970-9ACF80AFC7F5}"/>
                </a:ext>
              </a:extLst>
            </p:cNvPr>
            <p:cNvCxnSpPr>
              <a:cxnSpLocks/>
              <a:stCxn id="52" idx="1"/>
              <a:endCxn id="58" idx="3"/>
            </p:cNvCxnSpPr>
            <p:nvPr/>
          </p:nvCxnSpPr>
          <p:spPr>
            <a:xfrm flipH="1">
              <a:off x="4432438" y="1144876"/>
              <a:ext cx="567529" cy="108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תרשים זרימה: פעולה ידנית 69">
              <a:extLst>
                <a:ext uri="{FF2B5EF4-FFF2-40B4-BE49-F238E27FC236}">
                  <a16:creationId xmlns:a16="http://schemas.microsoft.com/office/drawing/2014/main" id="{01FC7088-BD3B-461D-BD0D-91E2391F53D7}"/>
                </a:ext>
              </a:extLst>
            </p:cNvPr>
            <p:cNvSpPr/>
            <p:nvPr/>
          </p:nvSpPr>
          <p:spPr>
            <a:xfrm>
              <a:off x="3861099" y="1771311"/>
              <a:ext cx="1602865" cy="573884"/>
            </a:xfrm>
            <a:prstGeom prst="flowChartManualOperat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בחירת קטגוריה</a:t>
              </a:r>
            </a:p>
          </p:txBody>
        </p:sp>
        <p:cxnSp>
          <p:nvCxnSpPr>
            <p:cNvPr id="80" name="מחבר חץ ישר 79">
              <a:extLst>
                <a:ext uri="{FF2B5EF4-FFF2-40B4-BE49-F238E27FC236}">
                  <a16:creationId xmlns:a16="http://schemas.microsoft.com/office/drawing/2014/main" id="{9616134E-6BB7-429D-BD04-6F3C804F5E7A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 flipH="1">
              <a:off x="4662532" y="1144876"/>
              <a:ext cx="53671" cy="626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מלבן 80">
              <a:extLst>
                <a:ext uri="{FF2B5EF4-FFF2-40B4-BE49-F238E27FC236}">
                  <a16:creationId xmlns:a16="http://schemas.microsoft.com/office/drawing/2014/main" id="{788D59DA-66FE-4996-9408-ACFCC2680BD2}"/>
                </a:ext>
              </a:extLst>
            </p:cNvPr>
            <p:cNvSpPr/>
            <p:nvPr/>
          </p:nvSpPr>
          <p:spPr>
            <a:xfrm>
              <a:off x="5759384" y="1909070"/>
              <a:ext cx="1115878" cy="2983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אחרי לידה</a:t>
              </a:r>
            </a:p>
          </p:txBody>
        </p:sp>
        <p:sp>
          <p:nvSpPr>
            <p:cNvPr id="83" name="מלבן 82">
              <a:extLst>
                <a:ext uri="{FF2B5EF4-FFF2-40B4-BE49-F238E27FC236}">
                  <a16:creationId xmlns:a16="http://schemas.microsoft.com/office/drawing/2014/main" id="{3A066B05-BC37-4110-AA9E-CDEF50DFFFF8}"/>
                </a:ext>
              </a:extLst>
            </p:cNvPr>
            <p:cNvSpPr/>
            <p:nvPr/>
          </p:nvSpPr>
          <p:spPr>
            <a:xfrm>
              <a:off x="778656" y="1965504"/>
              <a:ext cx="628730" cy="2983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הריון</a:t>
              </a:r>
            </a:p>
          </p:txBody>
        </p:sp>
        <p:cxnSp>
          <p:nvCxnSpPr>
            <p:cNvPr id="85" name="מחבר חץ ישר 84">
              <a:extLst>
                <a:ext uri="{FF2B5EF4-FFF2-40B4-BE49-F238E27FC236}">
                  <a16:creationId xmlns:a16="http://schemas.microsoft.com/office/drawing/2014/main" id="{DEE1B89F-36B9-4FF4-B221-94F8283C25C6}"/>
                </a:ext>
              </a:extLst>
            </p:cNvPr>
            <p:cNvCxnSpPr>
              <a:cxnSpLocks/>
              <a:stCxn id="70" idx="3"/>
              <a:endCxn id="81" idx="1"/>
            </p:cNvCxnSpPr>
            <p:nvPr/>
          </p:nvCxnSpPr>
          <p:spPr>
            <a:xfrm>
              <a:off x="5303678" y="2058253"/>
              <a:ext cx="4557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מחבר חץ ישר 92">
              <a:extLst>
                <a:ext uri="{FF2B5EF4-FFF2-40B4-BE49-F238E27FC236}">
                  <a16:creationId xmlns:a16="http://schemas.microsoft.com/office/drawing/2014/main" id="{B2820995-BB0E-4CDC-819F-EDEE73EF4C66}"/>
                </a:ext>
              </a:extLst>
            </p:cNvPr>
            <p:cNvCxnSpPr>
              <a:cxnSpLocks/>
              <a:stCxn id="70" idx="2"/>
              <a:endCxn id="82" idx="0"/>
            </p:cNvCxnSpPr>
            <p:nvPr/>
          </p:nvCxnSpPr>
          <p:spPr>
            <a:xfrm>
              <a:off x="4662532" y="2345195"/>
              <a:ext cx="26835" cy="2378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מלבן 105">
              <a:extLst>
                <a:ext uri="{FF2B5EF4-FFF2-40B4-BE49-F238E27FC236}">
                  <a16:creationId xmlns:a16="http://schemas.microsoft.com/office/drawing/2014/main" id="{10007A7D-9DC2-4B6A-801E-155CA94EA794}"/>
                </a:ext>
              </a:extLst>
            </p:cNvPr>
            <p:cNvSpPr/>
            <p:nvPr/>
          </p:nvSpPr>
          <p:spPr>
            <a:xfrm>
              <a:off x="4018746" y="3553620"/>
              <a:ext cx="1371599" cy="4925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תינוק בגיל   6-12 חודשים</a:t>
              </a:r>
            </a:p>
          </p:txBody>
        </p:sp>
        <p:sp>
          <p:nvSpPr>
            <p:cNvPr id="113" name="מלבן 112">
              <a:extLst>
                <a:ext uri="{FF2B5EF4-FFF2-40B4-BE49-F238E27FC236}">
                  <a16:creationId xmlns:a16="http://schemas.microsoft.com/office/drawing/2014/main" id="{983AD477-8618-444B-B329-22F4152F7DFF}"/>
                </a:ext>
              </a:extLst>
            </p:cNvPr>
            <p:cNvSpPr/>
            <p:nvPr/>
          </p:nvSpPr>
          <p:spPr>
            <a:xfrm>
              <a:off x="2711396" y="3074440"/>
              <a:ext cx="1288942" cy="4411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תינוק בגיל 1-6 חודשים</a:t>
              </a:r>
            </a:p>
          </p:txBody>
        </p:sp>
        <p:cxnSp>
          <p:nvCxnSpPr>
            <p:cNvPr id="119" name="מחבר: מרפקי 118">
              <a:extLst>
                <a:ext uri="{FF2B5EF4-FFF2-40B4-BE49-F238E27FC236}">
                  <a16:creationId xmlns:a16="http://schemas.microsoft.com/office/drawing/2014/main" id="{2B2124D2-8935-447D-837E-5717CB7FC7B8}"/>
                </a:ext>
              </a:extLst>
            </p:cNvPr>
            <p:cNvCxnSpPr>
              <a:cxnSpLocks/>
              <a:stCxn id="82" idx="3"/>
              <a:endCxn id="105" idx="0"/>
            </p:cNvCxnSpPr>
            <p:nvPr/>
          </p:nvCxnSpPr>
          <p:spPr>
            <a:xfrm>
              <a:off x="5093356" y="2743105"/>
              <a:ext cx="1130024" cy="2692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מחבר חץ ישר 122">
              <a:extLst>
                <a:ext uri="{FF2B5EF4-FFF2-40B4-BE49-F238E27FC236}">
                  <a16:creationId xmlns:a16="http://schemas.microsoft.com/office/drawing/2014/main" id="{35CA42D0-111D-4BDB-BDE2-084E9C9944F9}"/>
                </a:ext>
              </a:extLst>
            </p:cNvPr>
            <p:cNvCxnSpPr>
              <a:cxnSpLocks/>
              <a:stCxn id="82" idx="2"/>
              <a:endCxn id="106" idx="0"/>
            </p:cNvCxnSpPr>
            <p:nvPr/>
          </p:nvCxnSpPr>
          <p:spPr>
            <a:xfrm>
              <a:off x="4689367" y="2903211"/>
              <a:ext cx="15178" cy="650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מחבר: מרפקי 135">
              <a:extLst>
                <a:ext uri="{FF2B5EF4-FFF2-40B4-BE49-F238E27FC236}">
                  <a16:creationId xmlns:a16="http://schemas.microsoft.com/office/drawing/2014/main" id="{280E3BE4-40D1-4E3B-801D-FD17052CCA86}"/>
                </a:ext>
              </a:extLst>
            </p:cNvPr>
            <p:cNvCxnSpPr>
              <a:cxnSpLocks/>
              <a:stCxn id="82" idx="1"/>
              <a:endCxn id="113" idx="0"/>
            </p:cNvCxnSpPr>
            <p:nvPr/>
          </p:nvCxnSpPr>
          <p:spPr>
            <a:xfrm rot="10800000" flipV="1">
              <a:off x="3355869" y="2743104"/>
              <a:ext cx="929509" cy="33133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מלבן 104">
              <a:extLst>
                <a:ext uri="{FF2B5EF4-FFF2-40B4-BE49-F238E27FC236}">
                  <a16:creationId xmlns:a16="http://schemas.microsoft.com/office/drawing/2014/main" id="{572B9928-6964-48FF-BBAC-0F76D73B3948}"/>
                </a:ext>
              </a:extLst>
            </p:cNvPr>
            <p:cNvSpPr/>
            <p:nvPr/>
          </p:nvSpPr>
          <p:spPr>
            <a:xfrm>
              <a:off x="5463963" y="3012389"/>
              <a:ext cx="1518834" cy="50319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תינוק בגיל      12-24 חודשים</a:t>
              </a:r>
            </a:p>
          </p:txBody>
        </p:sp>
        <p:cxnSp>
          <p:nvCxnSpPr>
            <p:cNvPr id="141" name="מחבר: מרפקי 140">
              <a:extLst>
                <a:ext uri="{FF2B5EF4-FFF2-40B4-BE49-F238E27FC236}">
                  <a16:creationId xmlns:a16="http://schemas.microsoft.com/office/drawing/2014/main" id="{0612F243-7B26-4F0C-956C-593DA446A33A}"/>
                </a:ext>
              </a:extLst>
            </p:cNvPr>
            <p:cNvCxnSpPr>
              <a:cxnSpLocks/>
              <a:stCxn id="81" idx="3"/>
              <a:endCxn id="296" idx="3"/>
            </p:cNvCxnSpPr>
            <p:nvPr/>
          </p:nvCxnSpPr>
          <p:spPr>
            <a:xfrm flipH="1">
              <a:off x="4128323" y="2058253"/>
              <a:ext cx="2746940" cy="2271564"/>
            </a:xfrm>
            <a:prstGeom prst="bentConnector3">
              <a:avLst>
                <a:gd name="adj1" fmla="val -1024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מחבר: מרפקי 146">
              <a:extLst>
                <a:ext uri="{FF2B5EF4-FFF2-40B4-BE49-F238E27FC236}">
                  <a16:creationId xmlns:a16="http://schemas.microsoft.com/office/drawing/2014/main" id="{1D92E6F8-4326-4753-AF58-B1C26090982E}"/>
                </a:ext>
              </a:extLst>
            </p:cNvPr>
            <p:cNvCxnSpPr>
              <a:cxnSpLocks/>
              <a:stCxn id="105" idx="2"/>
              <a:endCxn id="296" idx="3"/>
            </p:cNvCxnSpPr>
            <p:nvPr/>
          </p:nvCxnSpPr>
          <p:spPr>
            <a:xfrm rot="5400000">
              <a:off x="4768736" y="2875173"/>
              <a:ext cx="814230" cy="209505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מחבר חץ ישר 148">
              <a:extLst>
                <a:ext uri="{FF2B5EF4-FFF2-40B4-BE49-F238E27FC236}">
                  <a16:creationId xmlns:a16="http://schemas.microsoft.com/office/drawing/2014/main" id="{11642F6C-D927-4B7A-A176-200D0417CE07}"/>
                </a:ext>
              </a:extLst>
            </p:cNvPr>
            <p:cNvCxnSpPr>
              <a:cxnSpLocks/>
              <a:stCxn id="106" idx="2"/>
              <a:endCxn id="296" idx="3"/>
            </p:cNvCxnSpPr>
            <p:nvPr/>
          </p:nvCxnSpPr>
          <p:spPr>
            <a:xfrm flipH="1">
              <a:off x="4128323" y="4046157"/>
              <a:ext cx="576222" cy="283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מחבר: מרפקי 150">
              <a:extLst>
                <a:ext uri="{FF2B5EF4-FFF2-40B4-BE49-F238E27FC236}">
                  <a16:creationId xmlns:a16="http://schemas.microsoft.com/office/drawing/2014/main" id="{4CEAB6ED-FC3E-4C1A-A98E-BCBE440CA8BC}"/>
                </a:ext>
              </a:extLst>
            </p:cNvPr>
            <p:cNvCxnSpPr>
              <a:cxnSpLocks/>
              <a:stCxn id="113" idx="2"/>
              <a:endCxn id="296" idx="0"/>
            </p:cNvCxnSpPr>
            <p:nvPr/>
          </p:nvCxnSpPr>
          <p:spPr>
            <a:xfrm rot="16200000" flipH="1">
              <a:off x="3165413" y="3706042"/>
              <a:ext cx="525147" cy="14423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מלבן 181">
              <a:extLst>
                <a:ext uri="{FF2B5EF4-FFF2-40B4-BE49-F238E27FC236}">
                  <a16:creationId xmlns:a16="http://schemas.microsoft.com/office/drawing/2014/main" id="{E1C2AF39-ABB7-46FE-A865-4356D1CA5731}"/>
                </a:ext>
              </a:extLst>
            </p:cNvPr>
            <p:cNvSpPr/>
            <p:nvPr/>
          </p:nvSpPr>
          <p:spPr>
            <a:xfrm>
              <a:off x="-1463160" y="4964239"/>
              <a:ext cx="1085903" cy="4411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התפתחות</a:t>
              </a:r>
            </a:p>
          </p:txBody>
        </p:sp>
        <p:sp>
          <p:nvSpPr>
            <p:cNvPr id="183" name="מלבן 182">
              <a:extLst>
                <a:ext uri="{FF2B5EF4-FFF2-40B4-BE49-F238E27FC236}">
                  <a16:creationId xmlns:a16="http://schemas.microsoft.com/office/drawing/2014/main" id="{6257AA11-F2EC-41EC-91B1-8959B0567688}"/>
                </a:ext>
              </a:extLst>
            </p:cNvPr>
            <p:cNvSpPr/>
            <p:nvPr/>
          </p:nvSpPr>
          <p:spPr>
            <a:xfrm>
              <a:off x="-435876" y="4964238"/>
              <a:ext cx="835435" cy="5134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סימנים</a:t>
              </a:r>
            </a:p>
          </p:txBody>
        </p:sp>
        <p:sp>
          <p:nvSpPr>
            <p:cNvPr id="184" name="מלבן 183">
              <a:extLst>
                <a:ext uri="{FF2B5EF4-FFF2-40B4-BE49-F238E27FC236}">
                  <a16:creationId xmlns:a16="http://schemas.microsoft.com/office/drawing/2014/main" id="{A4CF2D1B-91CF-4EDA-8609-B431EE914CAE}"/>
                </a:ext>
              </a:extLst>
            </p:cNvPr>
            <p:cNvSpPr/>
            <p:nvPr/>
          </p:nvSpPr>
          <p:spPr>
            <a:xfrm>
              <a:off x="-252695" y="2485003"/>
              <a:ext cx="864921" cy="45284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7-9 חודשים</a:t>
              </a:r>
            </a:p>
          </p:txBody>
        </p:sp>
        <p:sp>
          <p:nvSpPr>
            <p:cNvPr id="185" name="מלבן 184">
              <a:extLst>
                <a:ext uri="{FF2B5EF4-FFF2-40B4-BE49-F238E27FC236}">
                  <a16:creationId xmlns:a16="http://schemas.microsoft.com/office/drawing/2014/main" id="{FB998124-4E10-48C5-B2D1-F9FAF79F498E}"/>
                </a:ext>
              </a:extLst>
            </p:cNvPr>
            <p:cNvSpPr/>
            <p:nvPr/>
          </p:nvSpPr>
          <p:spPr>
            <a:xfrm>
              <a:off x="689450" y="2476844"/>
              <a:ext cx="864921" cy="4691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4-5 חודשים</a:t>
              </a:r>
            </a:p>
          </p:txBody>
        </p:sp>
        <p:sp>
          <p:nvSpPr>
            <p:cNvPr id="186" name="מלבן 185">
              <a:extLst>
                <a:ext uri="{FF2B5EF4-FFF2-40B4-BE49-F238E27FC236}">
                  <a16:creationId xmlns:a16="http://schemas.microsoft.com/office/drawing/2014/main" id="{38BF24C3-4F2A-4329-8538-A83C7AB3DE6D}"/>
                </a:ext>
              </a:extLst>
            </p:cNvPr>
            <p:cNvSpPr/>
            <p:nvPr/>
          </p:nvSpPr>
          <p:spPr>
            <a:xfrm>
              <a:off x="1646660" y="2487755"/>
              <a:ext cx="864921" cy="45825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1-3 חודשים</a:t>
              </a:r>
            </a:p>
          </p:txBody>
        </p:sp>
        <p:cxnSp>
          <p:nvCxnSpPr>
            <p:cNvPr id="190" name="מחבר: מרפקי 189">
              <a:extLst>
                <a:ext uri="{FF2B5EF4-FFF2-40B4-BE49-F238E27FC236}">
                  <a16:creationId xmlns:a16="http://schemas.microsoft.com/office/drawing/2014/main" id="{57B6BAD6-1FFD-43F4-AF14-E6788A48F769}"/>
                </a:ext>
              </a:extLst>
            </p:cNvPr>
            <p:cNvCxnSpPr>
              <a:cxnSpLocks/>
              <a:stCxn id="70" idx="1"/>
              <a:endCxn id="83" idx="0"/>
            </p:cNvCxnSpPr>
            <p:nvPr/>
          </p:nvCxnSpPr>
          <p:spPr>
            <a:xfrm rot="10800000">
              <a:off x="1093021" y="1965505"/>
              <a:ext cx="2928364" cy="92749"/>
            </a:xfrm>
            <a:prstGeom prst="bentConnector4">
              <a:avLst>
                <a:gd name="adj1" fmla="val 41896"/>
                <a:gd name="adj2" fmla="val 34647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מחבר: מרפקי 191">
              <a:extLst>
                <a:ext uri="{FF2B5EF4-FFF2-40B4-BE49-F238E27FC236}">
                  <a16:creationId xmlns:a16="http://schemas.microsoft.com/office/drawing/2014/main" id="{ECE7E9D6-848F-49FD-8E79-3347CA0E0EF9}"/>
                </a:ext>
              </a:extLst>
            </p:cNvPr>
            <p:cNvCxnSpPr>
              <a:cxnSpLocks/>
              <a:stCxn id="83" idx="3"/>
              <a:endCxn id="186" idx="0"/>
            </p:cNvCxnSpPr>
            <p:nvPr/>
          </p:nvCxnSpPr>
          <p:spPr>
            <a:xfrm>
              <a:off x="1407386" y="2114687"/>
              <a:ext cx="671735" cy="37306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מחבר: מרפקי 193">
              <a:extLst>
                <a:ext uri="{FF2B5EF4-FFF2-40B4-BE49-F238E27FC236}">
                  <a16:creationId xmlns:a16="http://schemas.microsoft.com/office/drawing/2014/main" id="{7A38BA7C-B10B-4AB1-9D17-73498970AB70}"/>
                </a:ext>
              </a:extLst>
            </p:cNvPr>
            <p:cNvCxnSpPr>
              <a:cxnSpLocks/>
              <a:stCxn id="83" idx="1"/>
              <a:endCxn id="184" idx="0"/>
            </p:cNvCxnSpPr>
            <p:nvPr/>
          </p:nvCxnSpPr>
          <p:spPr>
            <a:xfrm rot="10800000" flipV="1">
              <a:off x="179766" y="2114687"/>
              <a:ext cx="598890" cy="37031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מחבר חץ ישר 195">
              <a:extLst>
                <a:ext uri="{FF2B5EF4-FFF2-40B4-BE49-F238E27FC236}">
                  <a16:creationId xmlns:a16="http://schemas.microsoft.com/office/drawing/2014/main" id="{030198E8-7E74-4F6F-89FD-81616E445BF7}"/>
                </a:ext>
              </a:extLst>
            </p:cNvPr>
            <p:cNvCxnSpPr>
              <a:cxnSpLocks/>
              <a:stCxn id="83" idx="2"/>
              <a:endCxn id="185" idx="0"/>
            </p:cNvCxnSpPr>
            <p:nvPr/>
          </p:nvCxnSpPr>
          <p:spPr>
            <a:xfrm>
              <a:off x="1093021" y="2263870"/>
              <a:ext cx="28890" cy="2129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תרשים זרימה: פעולה ידנית 295">
              <a:extLst>
                <a:ext uri="{FF2B5EF4-FFF2-40B4-BE49-F238E27FC236}">
                  <a16:creationId xmlns:a16="http://schemas.microsoft.com/office/drawing/2014/main" id="{30868F28-02C8-4F26-928A-F22FA50E8AA4}"/>
                </a:ext>
              </a:extLst>
            </p:cNvPr>
            <p:cNvSpPr/>
            <p:nvPr/>
          </p:nvSpPr>
          <p:spPr>
            <a:xfrm>
              <a:off x="2714829" y="4040733"/>
              <a:ext cx="1570548" cy="578168"/>
            </a:xfrm>
            <a:prstGeom prst="flowChartManualOperat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בחירת</a:t>
              </a:r>
            </a:p>
            <a:p>
              <a:pPr algn="ctr"/>
              <a:r>
                <a:rPr lang="he-IL" sz="1400" dirty="0"/>
                <a:t>הצעות מידע</a:t>
              </a:r>
            </a:p>
          </p:txBody>
        </p:sp>
        <p:cxnSp>
          <p:nvCxnSpPr>
            <p:cNvPr id="314" name="מחבר: מרפקי 313">
              <a:extLst>
                <a:ext uri="{FF2B5EF4-FFF2-40B4-BE49-F238E27FC236}">
                  <a16:creationId xmlns:a16="http://schemas.microsoft.com/office/drawing/2014/main" id="{10FC27A0-2FF2-4063-AE01-EA9B9AEFB883}"/>
                </a:ext>
              </a:extLst>
            </p:cNvPr>
            <p:cNvCxnSpPr>
              <a:cxnSpLocks/>
              <a:stCxn id="184" idx="2"/>
              <a:endCxn id="296" idx="1"/>
            </p:cNvCxnSpPr>
            <p:nvPr/>
          </p:nvCxnSpPr>
          <p:spPr>
            <a:xfrm rot="16200000" flipH="1">
              <a:off x="829842" y="2287774"/>
              <a:ext cx="1391967" cy="269211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מחבר: מרפקי 314">
              <a:extLst>
                <a:ext uri="{FF2B5EF4-FFF2-40B4-BE49-F238E27FC236}">
                  <a16:creationId xmlns:a16="http://schemas.microsoft.com/office/drawing/2014/main" id="{AA0E76CD-AB93-4D9C-AA39-8A5D252648C9}"/>
                </a:ext>
              </a:extLst>
            </p:cNvPr>
            <p:cNvCxnSpPr>
              <a:cxnSpLocks/>
              <a:stCxn id="186" idx="2"/>
              <a:endCxn id="296" idx="1"/>
            </p:cNvCxnSpPr>
            <p:nvPr/>
          </p:nvCxnSpPr>
          <p:spPr>
            <a:xfrm rot="16200000" flipH="1">
              <a:off x="1783599" y="3241532"/>
              <a:ext cx="1383807" cy="79276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מחבר: מרפקי 315">
              <a:extLst>
                <a:ext uri="{FF2B5EF4-FFF2-40B4-BE49-F238E27FC236}">
                  <a16:creationId xmlns:a16="http://schemas.microsoft.com/office/drawing/2014/main" id="{A237F069-DAB1-4C1D-8363-7BE77C4E4B0A}"/>
                </a:ext>
              </a:extLst>
            </p:cNvPr>
            <p:cNvCxnSpPr>
              <a:cxnSpLocks/>
              <a:stCxn id="185" idx="2"/>
              <a:endCxn id="296" idx="1"/>
            </p:cNvCxnSpPr>
            <p:nvPr/>
          </p:nvCxnSpPr>
          <p:spPr>
            <a:xfrm rot="16200000" flipH="1">
              <a:off x="1304994" y="2762927"/>
              <a:ext cx="1383807" cy="174997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מחבר: מרפקי 325">
              <a:extLst>
                <a:ext uri="{FF2B5EF4-FFF2-40B4-BE49-F238E27FC236}">
                  <a16:creationId xmlns:a16="http://schemas.microsoft.com/office/drawing/2014/main" id="{E8E937EC-9C86-4B82-909D-334D6E5DF78B}"/>
                </a:ext>
              </a:extLst>
            </p:cNvPr>
            <p:cNvCxnSpPr>
              <a:cxnSpLocks/>
              <a:endCxn id="183" idx="0"/>
            </p:cNvCxnSpPr>
            <p:nvPr/>
          </p:nvCxnSpPr>
          <p:spPr>
            <a:xfrm rot="10800000" flipV="1">
              <a:off x="-18157" y="4479294"/>
              <a:ext cx="2861885" cy="48494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מחבר: מרפקי 326">
              <a:extLst>
                <a:ext uri="{FF2B5EF4-FFF2-40B4-BE49-F238E27FC236}">
                  <a16:creationId xmlns:a16="http://schemas.microsoft.com/office/drawing/2014/main" id="{EF860FD0-4444-49AB-A9C4-A86D9911BDB1}"/>
                </a:ext>
              </a:extLst>
            </p:cNvPr>
            <p:cNvCxnSpPr>
              <a:cxnSpLocks/>
              <a:endCxn id="182" idx="0"/>
            </p:cNvCxnSpPr>
            <p:nvPr/>
          </p:nvCxnSpPr>
          <p:spPr>
            <a:xfrm rot="10800000" flipV="1">
              <a:off x="-920207" y="4471135"/>
              <a:ext cx="3832965" cy="49310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מלבן 349">
              <a:extLst>
                <a:ext uri="{FF2B5EF4-FFF2-40B4-BE49-F238E27FC236}">
                  <a16:creationId xmlns:a16="http://schemas.microsoft.com/office/drawing/2014/main" id="{2D583E49-55CA-41C5-8FC7-0817EF30CC83}"/>
                </a:ext>
              </a:extLst>
            </p:cNvPr>
            <p:cNvSpPr/>
            <p:nvPr/>
          </p:nvSpPr>
          <p:spPr>
            <a:xfrm>
              <a:off x="3861099" y="4994867"/>
              <a:ext cx="1758089" cy="5134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קהילת משתמשים ופורמים</a:t>
              </a:r>
            </a:p>
          </p:txBody>
        </p:sp>
        <p:sp>
          <p:nvSpPr>
            <p:cNvPr id="351" name="מלבן 350">
              <a:extLst>
                <a:ext uri="{FF2B5EF4-FFF2-40B4-BE49-F238E27FC236}">
                  <a16:creationId xmlns:a16="http://schemas.microsoft.com/office/drawing/2014/main" id="{5EBFF51F-FCFB-450D-9DBA-1C36557198F1}"/>
                </a:ext>
              </a:extLst>
            </p:cNvPr>
            <p:cNvSpPr/>
            <p:nvPr/>
          </p:nvSpPr>
          <p:spPr>
            <a:xfrm>
              <a:off x="2711946" y="4996781"/>
              <a:ext cx="955729" cy="43576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תזונה</a:t>
              </a:r>
            </a:p>
          </p:txBody>
        </p:sp>
        <p:sp>
          <p:nvSpPr>
            <p:cNvPr id="359" name="מלבן 358">
              <a:extLst>
                <a:ext uri="{FF2B5EF4-FFF2-40B4-BE49-F238E27FC236}">
                  <a16:creationId xmlns:a16="http://schemas.microsoft.com/office/drawing/2014/main" id="{5A0DEF4B-4938-4F1E-8A6C-51E44C23A93C}"/>
                </a:ext>
              </a:extLst>
            </p:cNvPr>
            <p:cNvSpPr/>
            <p:nvPr/>
          </p:nvSpPr>
          <p:spPr>
            <a:xfrm>
              <a:off x="7242006" y="5038835"/>
              <a:ext cx="1411961" cy="4691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שיתוף חוויות אישיות</a:t>
              </a:r>
            </a:p>
          </p:txBody>
        </p:sp>
        <p:sp>
          <p:nvSpPr>
            <p:cNvPr id="360" name="מלבן 359">
              <a:extLst>
                <a:ext uri="{FF2B5EF4-FFF2-40B4-BE49-F238E27FC236}">
                  <a16:creationId xmlns:a16="http://schemas.microsoft.com/office/drawing/2014/main" id="{D550DA36-7585-469A-8391-8D3A6494637E}"/>
                </a:ext>
              </a:extLst>
            </p:cNvPr>
            <p:cNvSpPr/>
            <p:nvPr/>
          </p:nvSpPr>
          <p:spPr>
            <a:xfrm>
              <a:off x="5652292" y="5018396"/>
              <a:ext cx="1556610" cy="466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המלצות</a:t>
              </a:r>
            </a:p>
          </p:txBody>
        </p:sp>
        <p:sp>
          <p:nvSpPr>
            <p:cNvPr id="361" name="מלבן 360">
              <a:extLst>
                <a:ext uri="{FF2B5EF4-FFF2-40B4-BE49-F238E27FC236}">
                  <a16:creationId xmlns:a16="http://schemas.microsoft.com/office/drawing/2014/main" id="{2EEFC0EE-37EE-4245-9E56-F7E332582D17}"/>
                </a:ext>
              </a:extLst>
            </p:cNvPr>
            <p:cNvSpPr/>
            <p:nvPr/>
          </p:nvSpPr>
          <p:spPr>
            <a:xfrm>
              <a:off x="1405655" y="5006378"/>
              <a:ext cx="1246645" cy="4272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 err="1"/>
                <a:t>פודקאסטים</a:t>
              </a:r>
              <a:r>
                <a:rPr lang="he-IL" sz="1400" dirty="0"/>
                <a:t> ווידאו</a:t>
              </a:r>
            </a:p>
          </p:txBody>
        </p:sp>
        <p:sp>
          <p:nvSpPr>
            <p:cNvPr id="362" name="מלבן 361">
              <a:extLst>
                <a:ext uri="{FF2B5EF4-FFF2-40B4-BE49-F238E27FC236}">
                  <a16:creationId xmlns:a16="http://schemas.microsoft.com/office/drawing/2014/main" id="{15E688F9-34B4-4F89-8E84-E8276E83CBB0}"/>
                </a:ext>
              </a:extLst>
            </p:cNvPr>
            <p:cNvSpPr/>
            <p:nvPr/>
          </p:nvSpPr>
          <p:spPr>
            <a:xfrm>
              <a:off x="443168" y="5000396"/>
              <a:ext cx="931514" cy="4411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פוסטים</a:t>
              </a:r>
            </a:p>
          </p:txBody>
        </p:sp>
        <p:cxnSp>
          <p:nvCxnSpPr>
            <p:cNvPr id="384" name="מחבר: מרפקי 383">
              <a:extLst>
                <a:ext uri="{FF2B5EF4-FFF2-40B4-BE49-F238E27FC236}">
                  <a16:creationId xmlns:a16="http://schemas.microsoft.com/office/drawing/2014/main" id="{DBE0B55C-47B2-48A1-8BCF-206B7543F0FC}"/>
                </a:ext>
              </a:extLst>
            </p:cNvPr>
            <p:cNvCxnSpPr>
              <a:cxnSpLocks/>
              <a:stCxn id="296" idx="2"/>
              <a:endCxn id="359" idx="0"/>
            </p:cNvCxnSpPr>
            <p:nvPr/>
          </p:nvCxnSpPr>
          <p:spPr>
            <a:xfrm rot="16200000" flipH="1">
              <a:off x="5514077" y="2604926"/>
              <a:ext cx="419934" cy="444788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מחבר: מרפקי 384">
              <a:extLst>
                <a:ext uri="{FF2B5EF4-FFF2-40B4-BE49-F238E27FC236}">
                  <a16:creationId xmlns:a16="http://schemas.microsoft.com/office/drawing/2014/main" id="{8C5B9BE8-7EA6-4506-AA98-2AA0BDA92626}"/>
                </a:ext>
              </a:extLst>
            </p:cNvPr>
            <p:cNvCxnSpPr>
              <a:cxnSpLocks/>
              <a:stCxn id="296" idx="2"/>
              <a:endCxn id="360" idx="0"/>
            </p:cNvCxnSpPr>
            <p:nvPr/>
          </p:nvCxnSpPr>
          <p:spPr>
            <a:xfrm rot="16200000" flipH="1">
              <a:off x="4765603" y="3353400"/>
              <a:ext cx="399495" cy="29304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מחבר: מרפקי 388">
              <a:extLst>
                <a:ext uri="{FF2B5EF4-FFF2-40B4-BE49-F238E27FC236}">
                  <a16:creationId xmlns:a16="http://schemas.microsoft.com/office/drawing/2014/main" id="{66B023E9-A189-470B-87D9-D8A15B9BC18E}"/>
                </a:ext>
              </a:extLst>
            </p:cNvPr>
            <p:cNvCxnSpPr>
              <a:cxnSpLocks/>
              <a:stCxn id="296" idx="2"/>
              <a:endCxn id="350" idx="0"/>
            </p:cNvCxnSpPr>
            <p:nvPr/>
          </p:nvCxnSpPr>
          <p:spPr>
            <a:xfrm rot="16200000" flipH="1">
              <a:off x="3932140" y="4186864"/>
              <a:ext cx="375966" cy="124004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מחבר: מרפקי 390">
              <a:extLst>
                <a:ext uri="{FF2B5EF4-FFF2-40B4-BE49-F238E27FC236}">
                  <a16:creationId xmlns:a16="http://schemas.microsoft.com/office/drawing/2014/main" id="{06BBC368-258B-466C-820F-90A50E76E354}"/>
                </a:ext>
              </a:extLst>
            </p:cNvPr>
            <p:cNvCxnSpPr>
              <a:cxnSpLocks/>
              <a:stCxn id="296" idx="2"/>
              <a:endCxn id="351" idx="0"/>
            </p:cNvCxnSpPr>
            <p:nvPr/>
          </p:nvCxnSpPr>
          <p:spPr>
            <a:xfrm rot="5400000">
              <a:off x="3156017" y="4652695"/>
              <a:ext cx="377880" cy="31029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מחבר: מרפקי 392">
              <a:extLst>
                <a:ext uri="{FF2B5EF4-FFF2-40B4-BE49-F238E27FC236}">
                  <a16:creationId xmlns:a16="http://schemas.microsoft.com/office/drawing/2014/main" id="{386FEF91-C2CE-4914-B426-278B0ED753EC}"/>
                </a:ext>
              </a:extLst>
            </p:cNvPr>
            <p:cNvCxnSpPr>
              <a:cxnSpLocks/>
              <a:stCxn id="296" idx="2"/>
              <a:endCxn id="361" idx="0"/>
            </p:cNvCxnSpPr>
            <p:nvPr/>
          </p:nvCxnSpPr>
          <p:spPr>
            <a:xfrm rot="5400000">
              <a:off x="2570803" y="4077076"/>
              <a:ext cx="387477" cy="147112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מחבר: מרפקי 394">
              <a:extLst>
                <a:ext uri="{FF2B5EF4-FFF2-40B4-BE49-F238E27FC236}">
                  <a16:creationId xmlns:a16="http://schemas.microsoft.com/office/drawing/2014/main" id="{403A787D-7B42-4BA8-82E0-DA5DBC70F70E}"/>
                </a:ext>
              </a:extLst>
            </p:cNvPr>
            <p:cNvCxnSpPr>
              <a:cxnSpLocks/>
              <a:stCxn id="296" idx="2"/>
              <a:endCxn id="362" idx="0"/>
            </p:cNvCxnSpPr>
            <p:nvPr/>
          </p:nvCxnSpPr>
          <p:spPr>
            <a:xfrm rot="5400000">
              <a:off x="2013767" y="3514059"/>
              <a:ext cx="381495" cy="259117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אליפסה 403">
              <a:extLst>
                <a:ext uri="{FF2B5EF4-FFF2-40B4-BE49-F238E27FC236}">
                  <a16:creationId xmlns:a16="http://schemas.microsoft.com/office/drawing/2014/main" id="{95C05291-C50C-4CC8-8E15-E59DCAF453F7}"/>
                </a:ext>
              </a:extLst>
            </p:cNvPr>
            <p:cNvSpPr/>
            <p:nvPr/>
          </p:nvSpPr>
          <p:spPr>
            <a:xfrm>
              <a:off x="4287195" y="447638"/>
              <a:ext cx="1073258" cy="30265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התחל</a:t>
              </a:r>
            </a:p>
          </p:txBody>
        </p:sp>
      </p:grpSp>
      <p:cxnSp>
        <p:nvCxnSpPr>
          <p:cNvPr id="48" name="מחבר חץ ישר 47">
            <a:extLst>
              <a:ext uri="{FF2B5EF4-FFF2-40B4-BE49-F238E27FC236}">
                <a16:creationId xmlns:a16="http://schemas.microsoft.com/office/drawing/2014/main" id="{91AD6B6C-7D81-FE86-4065-C01B2AC90B77}"/>
              </a:ext>
            </a:extLst>
          </p:cNvPr>
          <p:cNvCxnSpPr>
            <a:cxnSpLocks/>
          </p:cNvCxnSpPr>
          <p:nvPr/>
        </p:nvCxnSpPr>
        <p:spPr>
          <a:xfrm>
            <a:off x="4487158" y="5176063"/>
            <a:ext cx="0" cy="782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אליפסה 49">
            <a:extLst>
              <a:ext uri="{FF2B5EF4-FFF2-40B4-BE49-F238E27FC236}">
                <a16:creationId xmlns:a16="http://schemas.microsoft.com/office/drawing/2014/main" id="{6E81AB49-AB80-0568-9DAF-6664B0707175}"/>
              </a:ext>
            </a:extLst>
          </p:cNvPr>
          <p:cNvSpPr/>
          <p:nvPr/>
        </p:nvSpPr>
        <p:spPr>
          <a:xfrm>
            <a:off x="4062288" y="5985583"/>
            <a:ext cx="914400" cy="4199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סיום</a:t>
            </a:r>
          </a:p>
        </p:txBody>
      </p:sp>
    </p:spTree>
    <p:extLst>
      <p:ext uri="{BB962C8B-B14F-4D97-AF65-F5344CB8AC3E}">
        <p14:creationId xmlns:p14="http://schemas.microsoft.com/office/powerpoint/2010/main" val="3262270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08F93685-BEF2-4527-ACE0-624F449E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7E768EC0-8B3B-4643-A992-DB188316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 rtl="1"/>
            <a:fld id="{F406CD6C-EFBE-497B-B02F-71827CD8C8E4}" type="slidenum">
              <a:rPr lang="he-IL" smtClean="0"/>
              <a:pPr algn="l" rtl="1"/>
              <a:t>33</a:t>
            </a:fld>
            <a:endParaRPr lang="he-IL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600F8BDE-49C4-4F1F-BDF7-F82EBDB90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16851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חקר ישימות- תיאור חלופות</a:t>
            </a: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9346E866-1C75-467E-8E0F-2EDBB0564523}"/>
              </a:ext>
            </a:extLst>
          </p:cNvPr>
          <p:cNvGraphicFramePr>
            <a:graphicFrameLocks noGrp="1"/>
          </p:cNvGraphicFramePr>
          <p:nvPr/>
        </p:nvGraphicFramePr>
        <p:xfrm>
          <a:off x="11103" y="830758"/>
          <a:ext cx="9132897" cy="491199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759058">
                  <a:extLst>
                    <a:ext uri="{9D8B030D-6E8A-4147-A177-3AD203B41FA5}">
                      <a16:colId xmlns:a16="http://schemas.microsoft.com/office/drawing/2014/main" val="71426873"/>
                    </a:ext>
                  </a:extLst>
                </a:gridCol>
                <a:gridCol w="2694233">
                  <a:extLst>
                    <a:ext uri="{9D8B030D-6E8A-4147-A177-3AD203B41FA5}">
                      <a16:colId xmlns:a16="http://schemas.microsoft.com/office/drawing/2014/main" val="431819426"/>
                    </a:ext>
                  </a:extLst>
                </a:gridCol>
                <a:gridCol w="2828720">
                  <a:extLst>
                    <a:ext uri="{9D8B030D-6E8A-4147-A177-3AD203B41FA5}">
                      <a16:colId xmlns:a16="http://schemas.microsoft.com/office/drawing/2014/main" val="1856563751"/>
                    </a:ext>
                  </a:extLst>
                </a:gridCol>
                <a:gridCol w="1850886">
                  <a:extLst>
                    <a:ext uri="{9D8B030D-6E8A-4147-A177-3AD203B41FA5}">
                      <a16:colId xmlns:a16="http://schemas.microsoft.com/office/drawing/2014/main" val="229718485"/>
                    </a:ext>
                  </a:extLst>
                </a:gridCol>
              </a:tblGrid>
              <a:tr h="605175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קריטריונים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b="1" dirty="0"/>
                        <a:t>חלופה 1</a:t>
                      </a:r>
                    </a:p>
                    <a:p>
                      <a:pPr algn="ctr" rtl="1"/>
                      <a:r>
                        <a:rPr lang="he-IL" sz="1400" b="1" dirty="0"/>
                        <a:t> </a:t>
                      </a:r>
                      <a:r>
                        <a:rPr lang="en-US" sz="1400" b="1" dirty="0"/>
                        <a:t>SITE123</a:t>
                      </a:r>
                      <a:endParaRPr lang="he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b="1" dirty="0"/>
                        <a:t>חלופה 2</a:t>
                      </a:r>
                      <a:endParaRPr lang="en-US" sz="1400" b="1" dirty="0"/>
                    </a:p>
                    <a:p>
                      <a:pPr algn="ctr" rtl="1"/>
                      <a:r>
                        <a:rPr lang="en-US" sz="1400" b="1" dirty="0"/>
                        <a:t>WIX</a:t>
                      </a:r>
                      <a:endParaRPr lang="he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b="1" dirty="0"/>
                        <a:t>חלופה 3</a:t>
                      </a:r>
                    </a:p>
                    <a:p>
                      <a:pPr algn="ctr" rtl="1"/>
                      <a:r>
                        <a:rPr lang="en-US" sz="1400" b="1" dirty="0"/>
                        <a:t>Google</a:t>
                      </a:r>
                      <a:endParaRPr lang="he-IL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365514"/>
                  </a:ext>
                </a:extLst>
              </a:tr>
              <a:tr h="2349504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תיאור הכלי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אתר אינטרנט לבניית אתרים בחינם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תואם לנייד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מספק כלים מתקדמים של שילוב רשתות חברתיות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תוספים של גורמים שלישיים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הגנת סיסמה לאתר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עיצוב אתרים גמיש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מערכת ליצירת אתרים בחינם ובקלות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 מספק יכולות מתקדמות לבניית אתרים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מאפשר להציג תוכן וכלים חיצוניים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מאפשר עיקוב וניהול אחרי ביצוע האתר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מציע פתרון מלא מתשתית ותכונות עסקיות ברמה ארגונית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אתר אינטרנט לבניית אתרים בעלות נמוכה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מאפשר שיתופי פעולה באינטרנט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מאפשר השתתפות בשיחות פרטיות או קבוצתיות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624383"/>
                  </a:ext>
                </a:extLst>
              </a:tr>
              <a:tr h="606382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ידידותית למשתמש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ידידותית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ידידותית מאוד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ידידותית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434892"/>
                  </a:ext>
                </a:extLst>
              </a:tr>
              <a:tr h="745759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התאמה לדרישות </a:t>
                      </a:r>
                      <a:r>
                        <a:rPr lang="en-US" sz="1400" b="1" dirty="0"/>
                        <a:t>FR</a:t>
                      </a:r>
                      <a:endParaRPr lang="he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התאמה כמעט מלאה</a:t>
                      </a:r>
                    </a:p>
                    <a:p>
                      <a:pPr rtl="1"/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התאמה מלאה</a:t>
                      </a:r>
                    </a:p>
                    <a:p>
                      <a:pPr rtl="1"/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התאמה כמעט מלאה</a:t>
                      </a:r>
                    </a:p>
                    <a:p>
                      <a:pPr rtl="1"/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236448"/>
                  </a:ext>
                </a:extLst>
              </a:tr>
              <a:tr h="605175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נגישות</a:t>
                      </a:r>
                      <a:r>
                        <a:rPr lang="en-US" sz="1400" b="1" dirty="0"/>
                        <a:t>/</a:t>
                      </a:r>
                      <a:r>
                        <a:rPr lang="he-IL" sz="1400" b="1" dirty="0"/>
                        <a:t> ענן</a:t>
                      </a:r>
                      <a:r>
                        <a:rPr lang="en-US" sz="1400" b="1" dirty="0"/>
                        <a:t>/</a:t>
                      </a:r>
                      <a:r>
                        <a:rPr lang="he-IL" sz="1400" b="1" dirty="0"/>
                        <a:t> סוגי מכשירים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מלאה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מלאה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מלאה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888213"/>
                  </a:ext>
                </a:extLst>
              </a:tr>
            </a:tbl>
          </a:graphicData>
        </a:graphic>
      </p:graphicFrame>
      <p:pic>
        <p:nvPicPr>
          <p:cNvPr id="6" name="תמונה 5">
            <a:extLst>
              <a:ext uri="{FF2B5EF4-FFF2-40B4-BE49-F238E27FC236}">
                <a16:creationId xmlns:a16="http://schemas.microsoft.com/office/drawing/2014/main" id="{91020CB7-75CB-49FF-90A8-02ABB9B0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06B30C5-C27E-48FA-BDF0-89A89A930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EAE0D274-1B7C-7D91-57B9-111655A2661F}"/>
              </a:ext>
            </a:extLst>
          </p:cNvPr>
          <p:cNvSpPr txBox="1"/>
          <p:nvPr/>
        </p:nvSpPr>
        <p:spPr>
          <a:xfrm>
            <a:off x="4483617" y="59399"/>
            <a:ext cx="1118026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10,11</a:t>
            </a:r>
            <a:endParaRPr lang="he-IL" sz="1050" b="1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788C47C8-9716-293E-A629-B70AA5557E72}"/>
              </a:ext>
            </a:extLst>
          </p:cNvPr>
          <p:cNvSpPr txBox="1"/>
          <p:nvPr/>
        </p:nvSpPr>
        <p:spPr>
          <a:xfrm>
            <a:off x="7143068" y="5825436"/>
            <a:ext cx="2000932" cy="10618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10.שובל, פ. (2017) 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11.שרגא, ש. , 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רובינוביץ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י. (2012)</a:t>
            </a: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WIX LINK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.16</a:t>
            </a:r>
          </a:p>
          <a:p>
            <a:pPr algn="r" rtl="1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SITE123 LINK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.17</a:t>
            </a:r>
            <a:r>
              <a:rPr lang="he-IL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WorkSpaceGoogleLINK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.18</a:t>
            </a:r>
            <a:endParaRPr lang="he-IL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3D22474-C037-2AC7-EEF2-6ED719AFE321}"/>
              </a:ext>
            </a:extLst>
          </p:cNvPr>
          <p:cNvSpPr txBox="1"/>
          <p:nvPr/>
        </p:nvSpPr>
        <p:spPr>
          <a:xfrm>
            <a:off x="406820" y="1280775"/>
            <a:ext cx="1118026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18</a:t>
            </a:r>
            <a:endParaRPr lang="he-IL" sz="1050" b="1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4F6A967-FC47-1659-4F9A-769D69D025E0}"/>
              </a:ext>
            </a:extLst>
          </p:cNvPr>
          <p:cNvSpPr txBox="1"/>
          <p:nvPr/>
        </p:nvSpPr>
        <p:spPr>
          <a:xfrm>
            <a:off x="2834701" y="1287971"/>
            <a:ext cx="1118026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16</a:t>
            </a:r>
            <a:endParaRPr lang="he-IL" sz="1050" b="1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ACAE560A-57B1-5326-201B-182A62650A6D}"/>
              </a:ext>
            </a:extLst>
          </p:cNvPr>
          <p:cNvSpPr txBox="1"/>
          <p:nvPr/>
        </p:nvSpPr>
        <p:spPr>
          <a:xfrm>
            <a:off x="5454412" y="1287971"/>
            <a:ext cx="1118026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17</a:t>
            </a:r>
            <a:endParaRPr lang="he-IL" sz="1050" b="1" dirty="0"/>
          </a:p>
        </p:txBody>
      </p:sp>
    </p:spTree>
    <p:extLst>
      <p:ext uri="{BB962C8B-B14F-4D97-AF65-F5344CB8AC3E}">
        <p14:creationId xmlns:p14="http://schemas.microsoft.com/office/powerpoint/2010/main" val="169496266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D7F06E185B0A4AA6D38547DC736365" ma:contentTypeVersion="4" ma:contentTypeDescription="Create a new document." ma:contentTypeScope="" ma:versionID="f25227434b7eadc4c9fd4e03511c2039">
  <xsd:schema xmlns:xsd="http://www.w3.org/2001/XMLSchema" xmlns:xs="http://www.w3.org/2001/XMLSchema" xmlns:p="http://schemas.microsoft.com/office/2006/metadata/properties" xmlns:ns3="f43b7b1a-9b2a-4528-a9d6-c83c855c16e8" targetNamespace="http://schemas.microsoft.com/office/2006/metadata/properties" ma:root="true" ma:fieldsID="10ea6806850b955d705b7925754abdd8" ns3:_="">
    <xsd:import namespace="f43b7b1a-9b2a-4528-a9d6-c83c855c16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3b7b1a-9b2a-4528-a9d6-c83c855c16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14D415-D5B9-473E-8216-84FC972B18BD}">
  <ds:schemaRefs>
    <ds:schemaRef ds:uri="http://schemas.microsoft.com/office/2006/metadata/propertie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B3DFC7B0-4DCC-4A4A-BABD-0E890631DCD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43b7b1a-9b2a-4528-a9d6-c83c855c16e8"/>
  </ds:schemaRefs>
</ds:datastoreItem>
</file>

<file path=customXml/itemProps3.xml><?xml version="1.0" encoding="utf-8"?>
<ds:datastoreItem xmlns:ds="http://schemas.openxmlformats.org/officeDocument/2006/customXml" ds:itemID="{E3CE1FD5-E7F0-404B-92EF-893C34201A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11646</TotalTime>
  <Words>2637</Words>
  <Application>Microsoft Office PowerPoint</Application>
  <PresentationFormat>‫הצגה על המסך (4:3)</PresentationFormat>
  <Paragraphs>527</Paragraphs>
  <Slides>33</Slides>
  <Notes>9</Notes>
  <HiddenSlides>5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33</vt:i4>
      </vt:variant>
    </vt:vector>
  </HeadingPairs>
  <TitlesOfParts>
    <vt:vector size="34" baseType="lpstr"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student</dc:creator>
  <cp:lastModifiedBy>Asia Sayed</cp:lastModifiedBy>
  <cp:revision>151</cp:revision>
  <dcterms:created xsi:type="dcterms:W3CDTF">2023-12-25T08:56:48Z</dcterms:created>
  <dcterms:modified xsi:type="dcterms:W3CDTF">2024-05-10T15:46:56Z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0x0101007FD7F06E185B0A4AA6D38547DC736365</vt:lpwstr>
  </property>
</Properties>
</file>