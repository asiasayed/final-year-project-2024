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tl="1" saveSubsetFonts="1">
  <p:sldMasterIdLst>
    <p:sldMasterId id="2147483660" r:id="rId1"/>
  </p:sldMasterIdLst>
  <p:notesMasterIdLst>
    <p:notesMasterId r:id="rId14"/>
  </p:notesMasterIdLst>
  <p:sldIdLst>
    <p:sldId id="257" r:id="rId2"/>
    <p:sldId id="258" r:id="rId3"/>
    <p:sldId id="259" r:id="rId4"/>
    <p:sldId id="270" r:id="rId5"/>
    <p:sldId id="260" r:id="rId6"/>
    <p:sldId id="261" r:id="rId7"/>
    <p:sldId id="269" r:id="rId8"/>
    <p:sldId id="268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5" autoAdjust="0"/>
    <p:restoredTop sz="94660"/>
  </p:normalViewPr>
  <p:slideViewPr>
    <p:cSldViewPr snapToGrid="0">
      <p:cViewPr varScale="1">
        <p:scale>
          <a:sx n="68" d="100"/>
          <a:sy n="68" d="100"/>
        </p:scale>
        <p:origin x="138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c5cb140357f4f39d/&#1513;&#1493;&#1500;&#1495;&#1503;%20&#1492;&#1506;&#1489;&#1493;&#1491;&#1492;/&#1505;&#1511;&#1512;%20&#1500;&#1497;&#1502;&#1492;&#1493;&#1514;%20&#1495;&#1491;&#1513;&#1493;&#1514;%20(&#1514;&#1490;&#1493;&#1489;&#1493;&#1514;)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c5cb140357f4f39d/&#1513;&#1493;&#1500;&#1495;&#1503;%20&#1492;&#1506;&#1489;&#1493;&#1491;&#1492;/&#1505;&#1511;&#1512;%20&#1500;&#1497;&#1502;&#1492;&#1493;&#1514;%20&#1495;&#1491;&#1513;&#1493;&#1514;%20(&#1514;&#1490;&#1493;&#1489;&#1493;&#1514;)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2400" b="1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2400"/>
                      <a:t>76%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4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he-IL"/>
                </a:p>
              </c:txPr>
              <c:dLblPos val="ctr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8381-4A2B-A1A5-8269B92F51D3}"/>
                </c:ext>
              </c:extLst>
            </c:dLbl>
            <c:dLbl>
              <c:idx val="1"/>
              <c:layout>
                <c:manualLayout>
                  <c:x val="0"/>
                  <c:y val="-1.4897325754074422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2400" b="1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he-IL" sz="2000" dirty="0"/>
                      <a:t>אמא חדשה</a:t>
                    </a:r>
                  </a:p>
                  <a:p>
                    <a:pPr>
                      <a:defRPr sz="2400"/>
                    </a:pPr>
                    <a:r>
                      <a:rPr lang="he-IL" sz="2400" baseline="0" dirty="0"/>
                      <a:t> </a:t>
                    </a:r>
                    <a:fld id="{D1A7C05D-54BA-4381-B95A-CD6CE91EC705}" type="VALUE">
                      <a:rPr lang="en-US" sz="2400" baseline="0"/>
                      <a:pPr>
                        <a:defRPr sz="2400"/>
                      </a:pPr>
                      <a:t>[ערך]</a:t>
                    </a:fld>
                    <a:endParaRPr lang="he-IL" sz="2400" baseline="0" dirty="0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4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he-IL"/>
                </a:p>
              </c:txPr>
              <c:dLblPos val="ctr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8381-4A2B-A1A5-8269B92F51D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he-IL"/>
              </a:p>
            </c:txPr>
            <c:dLblPos val="ctr"/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'גיל- מול ילד ראשון'!$D$118:$D$119</c:f>
              <c:strCache>
                <c:ptCount val="2"/>
                <c:pt idx="0">
                  <c:v>18-25/+26</c:v>
                </c:pt>
                <c:pt idx="1">
                  <c:v>אמא חדשה/ותיקה</c:v>
                </c:pt>
              </c:strCache>
            </c:strRef>
          </c:cat>
          <c:val>
            <c:numRef>
              <c:f>'גיל- מול ילד ראשון'!$E$118:$E$119</c:f>
              <c:numCache>
                <c:formatCode>0%</c:formatCode>
                <c:ptCount val="2"/>
                <c:pt idx="0">
                  <c:v>0.76</c:v>
                </c:pt>
                <c:pt idx="1">
                  <c:v>0.77981651376146788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F4F-4C0F-B32B-741A578C8CAB}"/>
            </c:ext>
          </c:extLst>
        </c:ser>
        <c:ser>
          <c:idx val="1"/>
          <c:order val="1"/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3.1607981388623242E-3"/>
                  <c:y val="-3.8733046960593639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20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he-I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F4F-4C0F-B32B-741A578C8CAB}"/>
                </c:ext>
              </c:extLst>
            </c:dLbl>
            <c:dLbl>
              <c:idx val="1"/>
              <c:layout>
                <c:manualLayout>
                  <c:x val="-1.5803990694311621E-3"/>
                  <c:y val="-2.9794651508148983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20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he-I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F4F-4C0F-B32B-741A578C8CA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he-I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'גיל- מול ילד ראשון'!$D$118:$D$119</c:f>
              <c:strCache>
                <c:ptCount val="2"/>
                <c:pt idx="0">
                  <c:v>18-25/+26</c:v>
                </c:pt>
                <c:pt idx="1">
                  <c:v>אמא חדשה/ותיקה</c:v>
                </c:pt>
              </c:strCache>
            </c:strRef>
          </c:cat>
          <c:val>
            <c:numRef>
              <c:f>'גיל- מול ילד ראשון'!$F$118:$F$119</c:f>
              <c:numCache>
                <c:formatCode>0%</c:formatCode>
                <c:ptCount val="2"/>
                <c:pt idx="0">
                  <c:v>0.24</c:v>
                </c:pt>
                <c:pt idx="1">
                  <c:v>0.22018348623853212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F4F-4C0F-B32B-741A578C8CAB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584272960"/>
        <c:axId val="1584287312"/>
      </c:barChart>
      <c:catAx>
        <c:axId val="15842729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1584287312"/>
        <c:crosses val="autoZero"/>
        <c:auto val="1"/>
        <c:lblAlgn val="ctr"/>
        <c:lblOffset val="100"/>
        <c:noMultiLvlLbl val="0"/>
      </c:catAx>
      <c:valAx>
        <c:axId val="1584287312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he-IL" dirty="0"/>
                  <a:t>שיעור  תשובות  לשאלה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he-IL"/>
            </a:p>
          </c:txPr>
        </c:title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15842729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 b="1">
          <a:solidFill>
            <a:schemeClr val="tx1"/>
          </a:solidFill>
        </a:defRPr>
      </a:pPr>
      <a:endParaRPr lang="he-IL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36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he-IL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he-IL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1121674665976306"/>
          <c:y val="0.11602814801932165"/>
          <c:w val="0.75316548976326825"/>
          <c:h val="0.71058507976369711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גיליון1!$B$1</c:f>
              <c:strCache>
                <c:ptCount val="1"/>
                <c:pt idx="0">
                  <c:v>18-25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he-I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גיליון1!$A$2:$A$3</c:f>
              <c:strCache>
                <c:ptCount val="2"/>
                <c:pt idx="0">
                  <c:v>0-1</c:v>
                </c:pt>
                <c:pt idx="1">
                  <c:v>+2</c:v>
                </c:pt>
              </c:strCache>
            </c:strRef>
          </c:cat>
          <c:val>
            <c:numRef>
              <c:f>גיליון1!$B$2:$B$3</c:f>
              <c:numCache>
                <c:formatCode>0%</c:formatCode>
                <c:ptCount val="2"/>
                <c:pt idx="0">
                  <c:v>0.32</c:v>
                </c:pt>
                <c:pt idx="1">
                  <c:v>0.52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1A4-4F64-9B2A-B15E45AACEA2}"/>
            </c:ext>
          </c:extLst>
        </c:ser>
        <c:ser>
          <c:idx val="1"/>
          <c:order val="1"/>
          <c:tx>
            <c:strRef>
              <c:f>גיליון1!$C$1</c:f>
              <c:strCache>
                <c:ptCount val="1"/>
                <c:pt idx="0">
                  <c:v>+26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he-I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גיליון1!$A$2:$A$3</c:f>
              <c:strCache>
                <c:ptCount val="2"/>
                <c:pt idx="0">
                  <c:v>0-1</c:v>
                </c:pt>
                <c:pt idx="1">
                  <c:v>+2</c:v>
                </c:pt>
              </c:strCache>
            </c:strRef>
          </c:cat>
          <c:val>
            <c:numRef>
              <c:f>גיליון1!$C$2:$C$3</c:f>
              <c:numCache>
                <c:formatCode>0%</c:formatCode>
                <c:ptCount val="2"/>
                <c:pt idx="0">
                  <c:v>0.05</c:v>
                </c:pt>
                <c:pt idx="1">
                  <c:v>0.12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1A4-4F64-9B2A-B15E45AACE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94"/>
        <c:overlap val="100"/>
        <c:axId val="713289727"/>
        <c:axId val="724183839"/>
      </c:barChart>
      <c:catAx>
        <c:axId val="7132897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724183839"/>
        <c:crosses val="autoZero"/>
        <c:auto val="1"/>
        <c:lblAlgn val="ctr"/>
        <c:lblOffset val="100"/>
        <c:noMultiLvlLbl val="0"/>
      </c:catAx>
      <c:valAx>
        <c:axId val="724183839"/>
        <c:scaling>
          <c:orientation val="minMax"/>
          <c:max val="1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he-IL" sz="1800" b="1" baseline="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שיעור תשובות לשאלה </a:t>
                </a:r>
                <a:endParaRPr lang="he-IL" sz="1800" b="1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he-IL"/>
            </a:p>
          </c:txPr>
        </c:title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7132897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9142623880387067"/>
          <c:y val="1.4366429539564912E-2"/>
          <c:w val="0.35456528476625671"/>
          <c:h val="8.581418831767090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he-IL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he-IL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'תגובות לטופס 1'!$I$113</c:f>
              <c:strCache>
                <c:ptCount val="1"/>
                <c:pt idx="0">
                  <c:v>האם מתבישת או חוששת לשאול שאלות?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26%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C655-4D03-9D9C-30575AAED76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74%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C655-4D03-9D9C-30575AAED76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he-I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'תגובות לטופס 1'!$H$114:$H$115</c:f>
              <c:strCache>
                <c:ptCount val="2"/>
                <c:pt idx="0">
                  <c:v>כן</c:v>
                </c:pt>
                <c:pt idx="1">
                  <c:v>לא</c:v>
                </c:pt>
              </c:strCache>
            </c:strRef>
          </c:cat>
          <c:val>
            <c:numRef>
              <c:f>'תגובות לטופס 1'!$I$114:$I$115</c:f>
              <c:numCache>
                <c:formatCode>General</c:formatCode>
                <c:ptCount val="2"/>
                <c:pt idx="0">
                  <c:v>40</c:v>
                </c:pt>
                <c:pt idx="1">
                  <c:v>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655-4D03-9D9C-30575AAED76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990060559"/>
        <c:axId val="964156991"/>
      </c:barChart>
      <c:catAx>
        <c:axId val="9900605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964156991"/>
        <c:crosses val="autoZero"/>
        <c:auto val="1"/>
        <c:lblAlgn val="ctr"/>
        <c:lblOffset val="100"/>
        <c:noMultiLvlLbl val="0"/>
      </c:catAx>
      <c:valAx>
        <c:axId val="9641569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he-IL" sz="1800" b="1">
                    <a:solidFill>
                      <a:schemeClr val="tx1"/>
                    </a:solidFill>
                  </a:rPr>
                  <a:t>מספר</a:t>
                </a:r>
                <a:r>
                  <a:rPr lang="he-IL" sz="1800" b="1" baseline="0">
                    <a:solidFill>
                      <a:schemeClr val="tx1"/>
                    </a:solidFill>
                  </a:rPr>
                  <a:t> התגובות</a:t>
                </a:r>
                <a:endParaRPr lang="he-IL" sz="1800" b="1">
                  <a:solidFill>
                    <a:schemeClr val="tx1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8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he-IL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99006055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he-IL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he-IL" baseline="0" dirty="0"/>
              <a:t>  </a:t>
            </a:r>
            <a:endParaRPr lang="he-IL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e-IL"/>
        </a:p>
      </c:txPr>
    </c:title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גיליון1!$B$1</c:f>
              <c:strCache>
                <c:ptCount val="1"/>
                <c:pt idx="0">
                  <c:v>כן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he-I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גיליון1!$A$2:$A$6</c:f>
              <c:numCache>
                <c:formatCode>General</c:formatCode>
                <c:ptCount val="5"/>
                <c:pt idx="0">
                  <c:v>4</c:v>
                </c:pt>
                <c:pt idx="1">
                  <c:v>5</c:v>
                </c:pt>
                <c:pt idx="2">
                  <c:v>6</c:v>
                </c:pt>
                <c:pt idx="3">
                  <c:v>7</c:v>
                </c:pt>
                <c:pt idx="4">
                  <c:v>9</c:v>
                </c:pt>
              </c:numCache>
            </c:numRef>
          </c:cat>
          <c:val>
            <c:numRef>
              <c:f>גיליון1!$B$2:$B$6</c:f>
              <c:numCache>
                <c:formatCode>0%</c:formatCode>
                <c:ptCount val="5"/>
                <c:pt idx="0">
                  <c:v>0.61</c:v>
                </c:pt>
                <c:pt idx="1">
                  <c:v>0.79</c:v>
                </c:pt>
                <c:pt idx="2">
                  <c:v>0.78</c:v>
                </c:pt>
                <c:pt idx="3">
                  <c:v>0.89</c:v>
                </c:pt>
                <c:pt idx="4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DC-44ED-B316-A377B4CCEB1C}"/>
            </c:ext>
          </c:extLst>
        </c:ser>
        <c:ser>
          <c:idx val="1"/>
          <c:order val="1"/>
          <c:tx>
            <c:strRef>
              <c:f>גיליון1!$C$1</c:f>
              <c:strCache>
                <c:ptCount val="1"/>
                <c:pt idx="0">
                  <c:v>לא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he-I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גיליון1!$A$2:$A$6</c:f>
              <c:numCache>
                <c:formatCode>General</c:formatCode>
                <c:ptCount val="5"/>
                <c:pt idx="0">
                  <c:v>4</c:v>
                </c:pt>
                <c:pt idx="1">
                  <c:v>5</c:v>
                </c:pt>
                <c:pt idx="2">
                  <c:v>6</c:v>
                </c:pt>
                <c:pt idx="3">
                  <c:v>7</c:v>
                </c:pt>
                <c:pt idx="4">
                  <c:v>9</c:v>
                </c:pt>
              </c:numCache>
            </c:numRef>
          </c:cat>
          <c:val>
            <c:numRef>
              <c:f>גיליון1!$C$2:$C$6</c:f>
              <c:numCache>
                <c:formatCode>0%</c:formatCode>
                <c:ptCount val="5"/>
                <c:pt idx="0">
                  <c:v>0.39</c:v>
                </c:pt>
                <c:pt idx="1">
                  <c:v>0.21</c:v>
                </c:pt>
                <c:pt idx="2">
                  <c:v>0.22</c:v>
                </c:pt>
                <c:pt idx="3">
                  <c:v>0.11</c:v>
                </c:pt>
                <c:pt idx="4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1DC-44ED-B316-A377B4CCEB1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699517727"/>
        <c:axId val="724194655"/>
      </c:barChart>
      <c:catAx>
        <c:axId val="69951772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400" b="1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he-IL" sz="24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מס'</a:t>
                </a:r>
                <a:r>
                  <a:rPr lang="he-IL" sz="2400" b="1" baseline="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שאלה</a:t>
                </a:r>
                <a:endParaRPr lang="he-IL" sz="2400" b="1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c:rich>
          </c:tx>
          <c:layout>
            <c:manualLayout>
              <c:xMode val="edge"/>
              <c:yMode val="edge"/>
              <c:x val="0.48497509703782793"/>
              <c:y val="0.7920323063761758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400" b="1" i="0" u="none" strike="noStrike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he-IL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724194655"/>
        <c:crosses val="autoZero"/>
        <c:auto val="1"/>
        <c:lblAlgn val="ctr"/>
        <c:lblOffset val="100"/>
        <c:noMultiLvlLbl val="0"/>
      </c:catAx>
      <c:valAx>
        <c:axId val="7241946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he-IL" sz="2000" b="1" i="0" baseline="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</a:rPr>
                  <a:t>שיעור  תשובות  לשאלה</a:t>
                </a:r>
                <a:endParaRPr lang="he-IL" sz="2000" dirty="0"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he-IL"/>
            </a:p>
          </c:txPr>
        </c:title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6995177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4536207932008484"/>
          <c:y val="9.8387600171546217E-3"/>
          <c:w val="0.32144512640490153"/>
          <c:h val="5.835535666571612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e-IL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he-IL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6097833054128141"/>
          <c:y val="6.8517485079427287E-2"/>
          <c:w val="0.67804333891743718"/>
          <c:h val="0.79830905091296245"/>
        </c:manualLayout>
      </c:layout>
      <c:pieChart>
        <c:varyColors val="1"/>
        <c:ser>
          <c:idx val="0"/>
          <c:order val="0"/>
          <c:tx>
            <c:strRef>
              <c:f>גיליון1!$B$1</c:f>
              <c:strCache>
                <c:ptCount val="1"/>
                <c:pt idx="0">
                  <c:v>מכירות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D0A-4880-BBDC-B9E3CED0472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A1F-4F85-86F4-597F2FCF76FC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DA1F-4F85-86F4-597F2FCF76FC}"/>
              </c:ext>
            </c:extLst>
          </c:dPt>
          <c:dLbls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he-IL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גיליון1!$A$2:$A$4</c:f>
              <c:strCache>
                <c:ptCount val="3"/>
                <c:pt idx="0">
                  <c:v>קורבי משפחה</c:v>
                </c:pt>
                <c:pt idx="1">
                  <c:v>חברים</c:v>
                </c:pt>
                <c:pt idx="2">
                  <c:v>אחר</c:v>
                </c:pt>
              </c:strCache>
            </c:strRef>
          </c:cat>
          <c:val>
            <c:numRef>
              <c:f>גיליון1!$B$2:$B$4</c:f>
              <c:numCache>
                <c:formatCode>0%</c:formatCode>
                <c:ptCount val="3"/>
                <c:pt idx="0">
                  <c:v>0.84</c:v>
                </c:pt>
                <c:pt idx="1">
                  <c:v>7.0000000000000007E-2</c:v>
                </c:pt>
                <c:pt idx="2">
                  <c:v>0.09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D0A-4880-BBDC-B9E3CED047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he-IL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282168037939175"/>
          <c:y val="6.4104598171424651E-2"/>
          <c:w val="0.79072169846965534"/>
          <c:h val="0.8208775511841464"/>
        </c:manualLayout>
      </c:layout>
      <c:pieChart>
        <c:varyColors val="1"/>
        <c:ser>
          <c:idx val="0"/>
          <c:order val="0"/>
          <c:tx>
            <c:strRef>
              <c:f>גיליון1!$B$1</c:f>
              <c:strCache>
                <c:ptCount val="1"/>
                <c:pt idx="0">
                  <c:v>מכירות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CB3-4307-8205-90A42D18D2A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6F9-424F-8C8B-5C934A91B658}"/>
              </c:ext>
            </c:extLst>
          </c:dPt>
          <c:dLbls>
            <c:dLbl>
              <c:idx val="0"/>
              <c:layout>
                <c:manualLayout>
                  <c:x val="-6.2982454734267834E-2"/>
                  <c:y val="-0.32361829843329448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CB3-4307-8205-90A42D18D2A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he-IL"/>
              </a:p>
            </c:tx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גיליון1!$A$2:$A$3</c:f>
              <c:strCache>
                <c:ptCount val="2"/>
                <c:pt idx="0">
                  <c:v>כן</c:v>
                </c:pt>
                <c:pt idx="1">
                  <c:v>לא</c:v>
                </c:pt>
              </c:strCache>
            </c:strRef>
          </c:cat>
          <c:val>
            <c:numRef>
              <c:f>גיליון1!$B$2:$B$3</c:f>
              <c:numCache>
                <c:formatCode>0%</c:formatCode>
                <c:ptCount val="2"/>
                <c:pt idx="0">
                  <c:v>0.94</c:v>
                </c:pt>
                <c:pt idx="1">
                  <c:v>0.06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CB3-4307-8205-90A42D18D2AD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he-I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0.29101</cdr:x>
      <cdr:y>0.80033</cdr:y>
    </cdr:from>
    <cdr:to>
      <cdr:x>0.4048</cdr:x>
      <cdr:y>0.89274</cdr:y>
    </cdr:to>
    <cdr:sp macro="" textlink="">
      <cdr:nvSpPr>
        <cdr:cNvPr id="2" name="תיבת טקסט 1">
          <a:extLst xmlns:a="http://schemas.openxmlformats.org/drawingml/2006/main">
            <a:ext uri="{FF2B5EF4-FFF2-40B4-BE49-F238E27FC236}">
              <a16:creationId xmlns:a16="http://schemas.microsoft.com/office/drawing/2014/main" id="{7385F19D-0648-7444-DE62-3709720F099C}"/>
            </a:ext>
          </a:extLst>
        </cdr:cNvPr>
        <cdr:cNvSpPr txBox="1"/>
      </cdr:nvSpPr>
      <cdr:spPr>
        <a:xfrm xmlns:a="http://schemas.openxmlformats.org/drawingml/2006/main">
          <a:off x="2338531" y="3411415"/>
          <a:ext cx="914400" cy="393895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1"/>
        <a:lstStyle xmlns:a="http://schemas.openxmlformats.org/drawingml/2006/main"/>
        <a:p xmlns:a="http://schemas.openxmlformats.org/drawingml/2006/main">
          <a:pPr algn="ctr"/>
          <a:r>
            <a:rPr lang="he-IL" sz="1800" b="1" dirty="0"/>
            <a:t>18-25</a:t>
          </a:r>
        </a:p>
      </cdr:txBody>
    </cdr:sp>
  </cdr:relSizeAnchor>
  <cdr:relSizeAnchor xmlns:cdr="http://schemas.openxmlformats.org/drawingml/2006/chartDrawing">
    <cdr:from>
      <cdr:x>0.28683</cdr:x>
      <cdr:y>0.17529</cdr:y>
    </cdr:from>
    <cdr:to>
      <cdr:x>0.40062</cdr:x>
      <cdr:y>0.2677</cdr:y>
    </cdr:to>
    <cdr:sp macro="" textlink="">
      <cdr:nvSpPr>
        <cdr:cNvPr id="3" name="תיבת טקסט 1">
          <a:extLst xmlns:a="http://schemas.openxmlformats.org/drawingml/2006/main">
            <a:ext uri="{FF2B5EF4-FFF2-40B4-BE49-F238E27FC236}">
              <a16:creationId xmlns:a16="http://schemas.microsoft.com/office/drawing/2014/main" id="{8E514D2F-CE79-62F9-68D9-37E71E4FC005}"/>
            </a:ext>
          </a:extLst>
        </cdr:cNvPr>
        <cdr:cNvSpPr txBox="1"/>
      </cdr:nvSpPr>
      <cdr:spPr>
        <a:xfrm xmlns:a="http://schemas.openxmlformats.org/drawingml/2006/main">
          <a:off x="2304936" y="747167"/>
          <a:ext cx="914410" cy="393899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 rtlCol="1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he-IL" sz="1800" b="1" dirty="0"/>
            <a:t>26+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EDA6DBF6-6AEF-4C94-B79B-CF8746B7BEFD}" type="datetimeFigureOut">
              <a:rPr lang="he-IL" smtClean="0"/>
              <a:t>י'/שבט/תשפ"ד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29F3F316-D071-47E7-9055-3E1EE9D3B70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29533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4861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0250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9613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3507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2484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70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0278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8653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8904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6018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6239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8C75E-7934-4551-9929-EE535370C9E1}" type="datetime8">
              <a:rPr lang="he-IL" smtClean="0"/>
              <a:t>20 ינואר 24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אתר אינטרנט לאימהות טריות                      </a:t>
            </a:r>
            <a:r>
              <a:rPr lang="en-US"/>
              <a:t>Navon-13-2024-sem1</a:t>
            </a:r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6CD6C-EFBE-497B-B02F-71827CD8C8E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42245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9AC27-A34C-4FDF-871F-6C294FA01191}" type="datetime8">
              <a:rPr lang="he-IL" smtClean="0"/>
              <a:t>20 ינואר 24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אתר אינטרנט לאימהות טריות                      </a:t>
            </a:r>
            <a:r>
              <a:rPr lang="en-US"/>
              <a:t>Navon-13-2024-sem1</a:t>
            </a:r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6CD6C-EFBE-497B-B02F-71827CD8C8E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54314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D41EE-1AE9-4D3E-A777-D1AE094AEF40}" type="datetime8">
              <a:rPr lang="he-IL" smtClean="0"/>
              <a:t>20 ינואר 24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אתר אינטרנט לאימהות טריות                      </a:t>
            </a:r>
            <a:r>
              <a:rPr lang="en-US"/>
              <a:t>Navon-13-2024-sem1</a:t>
            </a:r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6CD6C-EFBE-497B-B02F-71827CD8C8E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56023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025CC-79BD-4F95-B947-4A40AADE8AA6}" type="datetime8">
              <a:rPr lang="he-IL" smtClean="0"/>
              <a:t>20 ינואר 24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אתר אינטרנט לאימהות טריות                      </a:t>
            </a:r>
            <a:r>
              <a:rPr lang="en-US"/>
              <a:t>Navon-13-2024-sem1</a:t>
            </a:r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6CD6C-EFBE-497B-B02F-71827CD8C8E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7934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879EA-97B0-4F00-834D-8C2842400A77}" type="datetime8">
              <a:rPr lang="he-IL" smtClean="0"/>
              <a:t>20 ינואר 24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אתר אינטרנט לאימהות טריות                      </a:t>
            </a:r>
            <a:r>
              <a:rPr lang="en-US"/>
              <a:t>Navon-13-2024-sem1</a:t>
            </a:r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6CD6C-EFBE-497B-B02F-71827CD8C8E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2268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68273-1AAD-4611-91DF-03A00146180D}" type="datetime8">
              <a:rPr lang="he-IL" smtClean="0"/>
              <a:t>20 ינואר 24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אתר אינטרנט לאימהות טריות                      </a:t>
            </a:r>
            <a:r>
              <a:rPr lang="en-US"/>
              <a:t>Navon-13-2024-sem1</a:t>
            </a:r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6CD6C-EFBE-497B-B02F-71827CD8C8E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83072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7296E-5F19-4413-A471-8C8F68F1BF37}" type="datetime8">
              <a:rPr lang="he-IL" smtClean="0"/>
              <a:t>20 ינואר 24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אתר אינטרנט לאימהות טריות                      </a:t>
            </a:r>
            <a:r>
              <a:rPr lang="en-US"/>
              <a:t>Navon-13-2024-sem1</a:t>
            </a:r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6CD6C-EFBE-497B-B02F-71827CD8C8E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40291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11B81-F39D-46E3-AF18-471E11A5317D}" type="datetime8">
              <a:rPr lang="he-IL" smtClean="0"/>
              <a:t>20 ינואר 24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אתר אינטרנט לאימהות טריות                      </a:t>
            </a:r>
            <a:r>
              <a:rPr lang="en-US"/>
              <a:t>Navon-13-2024-sem1</a:t>
            </a:r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6CD6C-EFBE-497B-B02F-71827CD8C8E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0969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80DC3-0175-46E8-92D1-70970A1BE46B}" type="datetime8">
              <a:rPr lang="he-IL" smtClean="0"/>
              <a:t>20 ינואר 24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אתר אינטרנט לאימהות טריות                      </a:t>
            </a:r>
            <a:r>
              <a:rPr lang="en-US"/>
              <a:t>Navon-13-2024-sem1</a:t>
            </a:r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6CD6C-EFBE-497B-B02F-71827CD8C8E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14547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ED778-CD01-402C-8499-0CC7C1C9CCEB}" type="datetime8">
              <a:rPr lang="he-IL" smtClean="0"/>
              <a:t>20 ינואר 24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אתר אינטרנט לאימהות טריות                      </a:t>
            </a:r>
            <a:r>
              <a:rPr lang="en-US"/>
              <a:t>Navon-13-2024-sem1</a:t>
            </a:r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6CD6C-EFBE-497B-B02F-71827CD8C8E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87898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DD135-D5CE-447E-9E19-E004ECE40641}" type="datetime8">
              <a:rPr lang="he-IL" smtClean="0"/>
              <a:t>20 ינואר 24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אתר אינטרנט לאימהות טריות                      </a:t>
            </a:r>
            <a:r>
              <a:rPr lang="en-US"/>
              <a:t>Navon-13-2024-sem1</a:t>
            </a:r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6CD6C-EFBE-497B-B02F-71827CD8C8E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01638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02FEE2-A8FE-4658-A028-C009452A619A}" type="datetime8">
              <a:rPr lang="he-IL" smtClean="0"/>
              <a:t>20 ינואר 24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he-IL"/>
              <a:t>אתר אינטרנט לאימהות טריות                      </a:t>
            </a:r>
            <a:r>
              <a:rPr lang="en-US"/>
              <a:t>Navon-13-2024-sem1</a:t>
            </a:r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06CD6C-EFBE-497B-B02F-71827CD8C8E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12256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tm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tm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tm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tm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tm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1.xml"/><Relationship Id="rId4" Type="http://schemas.openxmlformats.org/officeDocument/2006/relationships/image" Target="../media/image2.tm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3.xml"/><Relationship Id="rId5" Type="http://schemas.openxmlformats.org/officeDocument/2006/relationships/chart" Target="../charts/chart2.xml"/><Relationship Id="rId4" Type="http://schemas.openxmlformats.org/officeDocument/2006/relationships/image" Target="../media/image2.tm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7.xml"/><Relationship Id="rId5" Type="http://schemas.openxmlformats.org/officeDocument/2006/relationships/chart" Target="../charts/chart6.xml"/><Relationship Id="rId4" Type="http://schemas.openxmlformats.org/officeDocument/2006/relationships/image" Target="../media/image2.tm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tm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tm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tmp"/><Relationship Id="rId4" Type="http://schemas.openxmlformats.org/officeDocument/2006/relationships/image" Target="../media/image2.tm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Rectangle 2"/>
          <p:cNvSpPr txBox="1">
            <a:spLocks noChangeArrowheads="1"/>
          </p:cNvSpPr>
          <p:nvPr/>
        </p:nvSpPr>
        <p:spPr bwMode="auto">
          <a:xfrm>
            <a:off x="0" y="150991"/>
            <a:ext cx="9137406" cy="594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54000" tIns="54000" rIns="54000" bIns="54000" anchor="ctr"/>
          <a:lstStyle/>
          <a:p>
            <a:pPr algn="ctr" rtl="1" eaLnBrk="1" hangingPunct="1">
              <a:defRPr/>
            </a:pPr>
            <a:r>
              <a:rPr lang="he-IL" sz="2400" b="1" dirty="0">
                <a:latin typeface="Times New Roman" pitchFamily="18" charset="0"/>
              </a:rPr>
              <a:t>פרויקט גמר – תשפ"ד</a:t>
            </a:r>
            <a:br>
              <a:rPr lang="he-IL" sz="2400" b="1" dirty="0">
                <a:latin typeface="Times New Roman" pitchFamily="18" charset="0"/>
              </a:rPr>
            </a:br>
            <a:r>
              <a:rPr lang="he-IL" sz="2400" b="1" dirty="0">
                <a:latin typeface="Times New Roman" pitchFamily="18" charset="0"/>
              </a:rPr>
              <a:t>סמינר </a:t>
            </a:r>
            <a:r>
              <a:rPr lang="en-US" sz="2000" b="1" dirty="0">
                <a:latin typeface="Times New Roman" pitchFamily="18" charset="0"/>
              </a:rPr>
              <a:t>1</a:t>
            </a:r>
            <a:r>
              <a:rPr lang="he-IL" sz="2400" b="1" dirty="0">
                <a:latin typeface="Times New Roman" pitchFamily="18" charset="0"/>
              </a:rPr>
              <a:t> – </a:t>
            </a:r>
            <a:r>
              <a:rPr lang="en-US" sz="2400" b="1" dirty="0">
                <a:latin typeface="Times New Roman" pitchFamily="18" charset="0"/>
              </a:rPr>
              <a:t>25/01/24</a:t>
            </a:r>
            <a:endParaRPr lang="he-IL" sz="2400" b="1" dirty="0">
              <a:latin typeface="Times New Roman" pitchFamily="18" charset="0"/>
            </a:endParaRPr>
          </a:p>
        </p:txBody>
      </p:sp>
      <p:sp>
        <p:nvSpPr>
          <p:cNvPr id="2053" name="מלבן 3"/>
          <p:cNvSpPr>
            <a:spLocks noChangeArrowheads="1"/>
          </p:cNvSpPr>
          <p:nvPr/>
        </p:nvSpPr>
        <p:spPr bwMode="auto">
          <a:xfrm>
            <a:off x="1360683" y="1215897"/>
            <a:ext cx="6367865" cy="1040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he-IL" sz="2800" dirty="0"/>
              <a:t>אתר אינטרנט לאימהות חדשות</a:t>
            </a:r>
          </a:p>
          <a:p>
            <a:pPr algn="ctr">
              <a:spcBef>
                <a:spcPct val="20000"/>
              </a:spcBef>
            </a:pPr>
            <a:endParaRPr lang="he-IL" sz="2800" dirty="0">
              <a:highlight>
                <a:srgbClr val="FFFF00"/>
              </a:highlight>
            </a:endParaRPr>
          </a:p>
        </p:txBody>
      </p:sp>
      <p:sp>
        <p:nvSpPr>
          <p:cNvPr id="2054" name="מלבן 3"/>
          <p:cNvSpPr>
            <a:spLocks noChangeArrowheads="1"/>
          </p:cNvSpPr>
          <p:nvPr/>
        </p:nvSpPr>
        <p:spPr bwMode="auto">
          <a:xfrm>
            <a:off x="4164037" y="2717814"/>
            <a:ext cx="4691453" cy="1948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rtl="1" eaLnBrk="1" hangingPunct="1">
              <a:spcBef>
                <a:spcPct val="50000"/>
              </a:spcBef>
            </a:pPr>
            <a:r>
              <a:rPr lang="he-IL" b="1" u="sng" dirty="0"/>
              <a:t>מגישים</a:t>
            </a:r>
            <a:r>
              <a:rPr lang="he-IL" b="1" dirty="0"/>
              <a:t>:</a:t>
            </a:r>
          </a:p>
          <a:p>
            <a:pPr algn="r" rtl="1" eaLnBrk="1" hangingPunct="1">
              <a:spcBef>
                <a:spcPct val="50000"/>
              </a:spcBef>
            </a:pPr>
            <a:r>
              <a:rPr lang="he-IL" b="1" dirty="0"/>
              <a:t>סוהילה מסעודיין- </a:t>
            </a:r>
            <a:r>
              <a:rPr lang="he-IL" dirty="0"/>
              <a:t>ניהול תעשייתי/מע' מידע</a:t>
            </a:r>
          </a:p>
          <a:p>
            <a:pPr algn="r" rtl="1" eaLnBrk="1" hangingPunct="1">
              <a:spcBef>
                <a:spcPct val="50000"/>
              </a:spcBef>
            </a:pPr>
            <a:r>
              <a:rPr lang="he-IL" b="1" dirty="0"/>
              <a:t>מרים אבו כף- </a:t>
            </a:r>
            <a:r>
              <a:rPr lang="he-IL" dirty="0"/>
              <a:t>ניהול תעשייתי/מע' מידע</a:t>
            </a:r>
          </a:p>
          <a:p>
            <a:pPr algn="r" rtl="1">
              <a:spcBef>
                <a:spcPct val="50000"/>
              </a:spcBef>
            </a:pPr>
            <a:r>
              <a:rPr lang="he-IL" b="1" dirty="0"/>
              <a:t>אסיא </a:t>
            </a:r>
            <a:r>
              <a:rPr lang="he-IL" b="1" dirty="0" err="1"/>
              <a:t>אלסייד</a:t>
            </a:r>
            <a:r>
              <a:rPr lang="he-IL" b="1" dirty="0"/>
              <a:t>- </a:t>
            </a:r>
            <a:r>
              <a:rPr lang="he-IL" dirty="0"/>
              <a:t>ניהול תעשייתי/מע' מידע</a:t>
            </a:r>
          </a:p>
          <a:p>
            <a:pPr algn="r" rtl="1" eaLnBrk="1" hangingPunct="1">
              <a:spcBef>
                <a:spcPct val="20000"/>
              </a:spcBef>
            </a:pPr>
            <a:r>
              <a:rPr lang="he-IL" b="1" u="sng" dirty="0"/>
              <a:t>מקור הפרויקט</a:t>
            </a:r>
            <a:r>
              <a:rPr lang="he-IL" b="1" dirty="0"/>
              <a:t>: </a:t>
            </a:r>
            <a:r>
              <a:rPr lang="he-IL" dirty="0"/>
              <a:t>סטודנטים</a:t>
            </a:r>
          </a:p>
        </p:txBody>
      </p:sp>
      <p:sp>
        <p:nvSpPr>
          <p:cNvPr id="2057" name="מציין מיקום של כותרת תחתונה 8"/>
          <p:cNvSpPr>
            <a:spLocks noGrp="1"/>
          </p:cNvSpPr>
          <p:nvPr>
            <p:ph type="ftr" sz="quarter" idx="11"/>
          </p:nvPr>
        </p:nvSpPr>
        <p:spPr>
          <a:xfrm>
            <a:off x="2832578" y="6494659"/>
            <a:ext cx="3858670" cy="342900"/>
          </a:xfrm>
          <a:noFill/>
        </p:spPr>
        <p:txBody>
          <a:bodyPr/>
          <a:lstStyle/>
          <a:p>
            <a:pPr rtl="1">
              <a:spcBef>
                <a:spcPct val="20000"/>
              </a:spcBef>
            </a:pPr>
            <a:r>
              <a:rPr lang="he-IL" b="1" dirty="0">
                <a:solidFill>
                  <a:schemeClr val="tx1"/>
                </a:solidFill>
              </a:rPr>
              <a:t>אתר אינטרנט לאימהות חדשות                   </a:t>
            </a:r>
            <a:endParaRPr lang="en-US" b="1" dirty="0">
              <a:solidFill>
                <a:schemeClr val="tx1"/>
              </a:solidFill>
            </a:endParaRPr>
          </a:p>
          <a:p>
            <a:pPr rtl="1">
              <a:spcBef>
                <a:spcPct val="20000"/>
              </a:spcBef>
            </a:pPr>
            <a:r>
              <a:rPr lang="en-US" b="1" dirty="0">
                <a:solidFill>
                  <a:schemeClr val="tx1"/>
                </a:solidFill>
              </a:rPr>
              <a:t>Navon-13-2024-sem1</a:t>
            </a:r>
          </a:p>
        </p:txBody>
      </p:sp>
      <p:sp>
        <p:nvSpPr>
          <p:cNvPr id="13" name="מלבן 12">
            <a:extLst>
              <a:ext uri="{FF2B5EF4-FFF2-40B4-BE49-F238E27FC236}">
                <a16:creationId xmlns:a16="http://schemas.microsoft.com/office/drawing/2014/main" id="{87AE97C7-02FC-4517-8172-35A44879D997}"/>
              </a:ext>
            </a:extLst>
          </p:cNvPr>
          <p:cNvSpPr/>
          <p:nvPr/>
        </p:nvSpPr>
        <p:spPr>
          <a:xfrm>
            <a:off x="3347103" y="1677529"/>
            <a:ext cx="2829621" cy="47391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57175" indent="-257175" algn="r" rtl="1">
              <a:lnSpc>
                <a:spcPct val="140000"/>
              </a:lnSpc>
              <a:spcBef>
                <a:spcPct val="50000"/>
              </a:spcBef>
              <a:tabLst>
                <a:tab pos="2019300" algn="r"/>
              </a:tabLst>
            </a:pPr>
            <a:r>
              <a:rPr lang="he-IL" sz="2000" b="1" dirty="0">
                <a:latin typeface="David" panose="020E0502060401010101" pitchFamily="34" charset="-79"/>
              </a:rPr>
              <a:t>מספר הפרויקט</a:t>
            </a:r>
            <a:r>
              <a:rPr lang="he-IL" sz="2000" dirty="0">
                <a:latin typeface="David" panose="020E0502060401010101" pitchFamily="34" charset="-79"/>
              </a:rPr>
              <a:t>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13-2024</a:t>
            </a:r>
            <a:endParaRPr lang="he-IL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מלבן 3">
            <a:extLst>
              <a:ext uri="{FF2B5EF4-FFF2-40B4-BE49-F238E27FC236}">
                <a16:creationId xmlns:a16="http://schemas.microsoft.com/office/drawing/2014/main" id="{9F41EEEF-F732-4E48-BAD8-9239F1B1CD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638" y="5163199"/>
            <a:ext cx="8417851" cy="7848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 rtl="1">
              <a:spcBef>
                <a:spcPct val="50000"/>
              </a:spcBef>
              <a:defRPr/>
            </a:pPr>
            <a:r>
              <a:rPr lang="he-IL" b="1" u="sng" kern="0" dirty="0">
                <a:solidFill>
                  <a:prstClr val="black"/>
                </a:solidFill>
              </a:rPr>
              <a:t>תחום מקצועי:</a:t>
            </a:r>
            <a:r>
              <a:rPr lang="he-IL" kern="0" dirty="0">
                <a:solidFill>
                  <a:prstClr val="black"/>
                </a:solidFill>
              </a:rPr>
              <a:t> מערכות מידע                     </a:t>
            </a:r>
            <a:r>
              <a:rPr lang="he-IL" b="1" u="sng" kern="0" dirty="0">
                <a:solidFill>
                  <a:prstClr val="black"/>
                </a:solidFill>
              </a:rPr>
              <a:t>ענף: </a:t>
            </a:r>
            <a:r>
              <a:rPr lang="he-IL" u="sng" kern="0" dirty="0">
                <a:solidFill>
                  <a:prstClr val="black"/>
                </a:solidFill>
              </a:rPr>
              <a:t>חינוך/גידול ילדים</a:t>
            </a:r>
            <a:endParaRPr lang="he-IL" kern="0" dirty="0">
              <a:solidFill>
                <a:prstClr val="black"/>
              </a:solidFill>
            </a:endParaRPr>
          </a:p>
          <a:p>
            <a:pPr algn="r" rtl="1">
              <a:spcBef>
                <a:spcPct val="50000"/>
              </a:spcBef>
              <a:defRPr/>
            </a:pPr>
            <a:r>
              <a:rPr lang="he-IL" b="1" u="sng" kern="0" dirty="0">
                <a:solidFill>
                  <a:prstClr val="black"/>
                </a:solidFill>
              </a:rPr>
              <a:t>מילות מפתח:</a:t>
            </a:r>
            <a:r>
              <a:rPr lang="he-IL" kern="0" dirty="0">
                <a:solidFill>
                  <a:prstClr val="black"/>
                </a:solidFill>
              </a:rPr>
              <a:t> תרשים תהליך, תרשים </a:t>
            </a:r>
            <a:r>
              <a:rPr lang="en-US" kern="0" dirty="0">
                <a:solidFill>
                  <a:prstClr val="black"/>
                </a:solidFill>
              </a:rPr>
              <a:t>DFD</a:t>
            </a:r>
            <a:r>
              <a:rPr lang="he-IL" kern="0" dirty="0">
                <a:solidFill>
                  <a:prstClr val="black"/>
                </a:solidFill>
              </a:rPr>
              <a:t>, </a:t>
            </a:r>
            <a:r>
              <a:rPr lang="en-US" kern="0" dirty="0">
                <a:solidFill>
                  <a:prstClr val="black"/>
                </a:solidFill>
              </a:rPr>
              <a:t>VTOC</a:t>
            </a:r>
            <a:r>
              <a:rPr lang="he-IL" kern="0" dirty="0">
                <a:solidFill>
                  <a:prstClr val="black"/>
                </a:solidFill>
              </a:rPr>
              <a:t>, </a:t>
            </a:r>
            <a:r>
              <a:rPr lang="en-US" kern="0" dirty="0">
                <a:solidFill>
                  <a:prstClr val="black"/>
                </a:solidFill>
              </a:rPr>
              <a:t>USE CASE</a:t>
            </a:r>
            <a:r>
              <a:rPr lang="he-IL" kern="0" dirty="0">
                <a:solidFill>
                  <a:prstClr val="black"/>
                </a:solidFill>
              </a:rPr>
              <a:t>, חקר ישימות, אב טיפוס.</a:t>
            </a:r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DEAAF544-2BD2-7996-B196-DE72227999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794" y="0"/>
            <a:ext cx="978206" cy="876849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1CF56178-142D-42FB-927A-F90FA1B29C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" y="60023"/>
            <a:ext cx="862087" cy="756802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" name="מלבן 3">
            <a:extLst>
              <a:ext uri="{FF2B5EF4-FFF2-40B4-BE49-F238E27FC236}">
                <a16:creationId xmlns:a16="http://schemas.microsoft.com/office/drawing/2014/main" id="{DACB60C8-419F-F9CB-344F-30E86FD757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785" y="3092852"/>
            <a:ext cx="3960252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rtl="1" eaLnBrk="1" hangingPunct="1">
              <a:spcBef>
                <a:spcPct val="50000"/>
              </a:spcBef>
            </a:pPr>
            <a:r>
              <a:rPr lang="he-IL" b="1" u="sng" dirty="0"/>
              <a:t>מנחה אקדמי</a:t>
            </a:r>
            <a:r>
              <a:rPr lang="he-IL" b="1" dirty="0"/>
              <a:t>: </a:t>
            </a:r>
            <a:r>
              <a:rPr lang="he-IL" dirty="0"/>
              <a:t>תמר נבון</a:t>
            </a:r>
          </a:p>
          <a:p>
            <a:pPr algn="r" rtl="1" eaLnBrk="1" hangingPunct="1">
              <a:spcBef>
                <a:spcPct val="50000"/>
              </a:spcBef>
            </a:pPr>
            <a:r>
              <a:rPr lang="he-IL" b="1" u="sng" dirty="0"/>
              <a:t>מנחה </a:t>
            </a:r>
            <a:r>
              <a:rPr lang="he-IL" b="1" u="sng" dirty="0" err="1"/>
              <a:t>מקצועי</a:t>
            </a:r>
            <a:r>
              <a:rPr lang="he-IL" dirty="0" err="1"/>
              <a:t>:תמר</a:t>
            </a:r>
            <a:r>
              <a:rPr lang="he-IL" dirty="0"/>
              <a:t> נבון</a:t>
            </a:r>
          </a:p>
          <a:p>
            <a:pPr algn="r" rtl="1" eaLnBrk="1" hangingPunct="1">
              <a:spcBef>
                <a:spcPct val="50000"/>
              </a:spcBef>
            </a:pPr>
            <a:r>
              <a:rPr lang="he-IL" b="1" u="sng" dirty="0"/>
              <a:t>מנחה סמינר</a:t>
            </a:r>
            <a:r>
              <a:rPr lang="he-IL" b="1" dirty="0"/>
              <a:t>: </a:t>
            </a:r>
            <a:r>
              <a:rPr lang="he-IL" dirty="0"/>
              <a:t>דוד שושנה</a:t>
            </a:r>
          </a:p>
        </p:txBody>
      </p:sp>
    </p:spTree>
    <p:extLst>
      <p:ext uri="{BB962C8B-B14F-4D97-AF65-F5344CB8AC3E}">
        <p14:creationId xmlns:p14="http://schemas.microsoft.com/office/powerpoint/2010/main" val="360108467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Rectangle 2"/>
          <p:cNvSpPr txBox="1">
            <a:spLocks noChangeArrowheads="1"/>
          </p:cNvSpPr>
          <p:nvPr/>
        </p:nvSpPr>
        <p:spPr bwMode="auto">
          <a:xfrm>
            <a:off x="0" y="150991"/>
            <a:ext cx="9144000" cy="594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54000" tIns="54000" rIns="54000" bIns="54000" anchor="ctr"/>
          <a:lstStyle/>
          <a:p>
            <a:pPr algn="ctr" rtl="1" eaLnBrk="1" hangingPunct="1">
              <a:defRPr/>
            </a:pPr>
            <a:r>
              <a:rPr lang="he-IL" sz="2400" b="1" u="sng" dirty="0">
                <a:latin typeface="Times New Roman" pitchFamily="18" charset="0"/>
              </a:rPr>
              <a:t>הארגון- רקע כללי</a:t>
            </a:r>
          </a:p>
        </p:txBody>
      </p:sp>
      <p:sp>
        <p:nvSpPr>
          <p:cNvPr id="2057" name="מציין מיקום של כותרת תחתונה 8"/>
          <p:cNvSpPr>
            <a:spLocks noGrp="1"/>
          </p:cNvSpPr>
          <p:nvPr>
            <p:ph type="ftr" sz="quarter" idx="11"/>
          </p:nvPr>
        </p:nvSpPr>
        <p:spPr>
          <a:xfrm>
            <a:off x="2832578" y="6494659"/>
            <a:ext cx="3858670" cy="342900"/>
          </a:xfrm>
          <a:noFill/>
        </p:spPr>
        <p:txBody>
          <a:bodyPr/>
          <a:lstStyle/>
          <a:p>
            <a:pPr rtl="1">
              <a:spcBef>
                <a:spcPct val="20000"/>
              </a:spcBef>
            </a:pPr>
            <a:r>
              <a:rPr lang="he-IL" b="1" dirty="0">
                <a:solidFill>
                  <a:schemeClr val="tx1"/>
                </a:solidFill>
              </a:rPr>
              <a:t>אתר אינטרנט לאימהות חדשות                     </a:t>
            </a:r>
            <a:endParaRPr lang="en-US" b="1" dirty="0">
              <a:solidFill>
                <a:schemeClr val="tx1"/>
              </a:solidFill>
            </a:endParaRPr>
          </a:p>
          <a:p>
            <a:pPr rtl="1">
              <a:spcBef>
                <a:spcPct val="20000"/>
              </a:spcBef>
            </a:pPr>
            <a:r>
              <a:rPr lang="en-US" b="1" dirty="0">
                <a:solidFill>
                  <a:schemeClr val="tx1"/>
                </a:solidFill>
              </a:rPr>
              <a:t>Navon-13-2024-sem1</a:t>
            </a:r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DEAAF544-2BD2-7996-B196-DE72227999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794" y="0"/>
            <a:ext cx="978206" cy="876849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1CF56178-142D-42FB-927A-F90FA1B29C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62087" cy="756802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" name="מציין מיקום של מספר שקופית 1">
            <a:extLst>
              <a:ext uri="{FF2B5EF4-FFF2-40B4-BE49-F238E27FC236}">
                <a16:creationId xmlns:a16="http://schemas.microsoft.com/office/drawing/2014/main" id="{11267331-BF0D-6D56-F93A-BCA2360E9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510" y="6341884"/>
            <a:ext cx="2057400" cy="365125"/>
          </a:xfrm>
        </p:spPr>
        <p:txBody>
          <a:bodyPr/>
          <a:lstStyle/>
          <a:p>
            <a:pPr algn="l"/>
            <a:fld id="{F406CD6C-EFBE-497B-B02F-71827CD8C8E4}" type="slidenum">
              <a:rPr lang="he-IL" smtClean="0"/>
              <a:pPr algn="l"/>
              <a:t>2</a:t>
            </a:fld>
            <a:endParaRPr lang="he-I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AD21FE-445F-4572-B9E4-FA58E71ECAF6}"/>
              </a:ext>
            </a:extLst>
          </p:cNvPr>
          <p:cNvSpPr txBox="1"/>
          <p:nvPr/>
        </p:nvSpPr>
        <p:spPr>
          <a:xfrm>
            <a:off x="288510" y="876849"/>
            <a:ext cx="8777616" cy="45191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1600" dirty="0"/>
              <a:t>66</a:t>
            </a:r>
            <a:r>
              <a:rPr lang="he-IL" dirty="0"/>
              <a:t>% מהאוכלוסייה מהמגזר הבדואי הינם בקבוצת גיל  0-19</a:t>
            </a:r>
            <a:r>
              <a:rPr lang="he-IL" sz="1600" dirty="0"/>
              <a:t> </a:t>
            </a:r>
            <a:r>
              <a:rPr lang="he-IL" sz="1400" dirty="0"/>
              <a:t>(החברה הבדואית בנגב ,יוזמות אברהם ,אריק רודניצקי, ד"ר תאבת אבו ראס).</a:t>
            </a: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he-IL" sz="1400" dirty="0"/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dirty="0"/>
              <a:t>חלק גדול מהאימהות החדשות במגזר הבדואי הן קטינות </a:t>
            </a:r>
            <a:r>
              <a:rPr lang="he-IL" sz="1400" dirty="0"/>
              <a:t>(מרכז המחקר והמידע של הכנסת נישואי קטינות, רוני הרשקוביץ , 2022).</a:t>
            </a: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he-IL" sz="1400" dirty="0"/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dirty="0"/>
              <a:t>בדרך כלל </a:t>
            </a:r>
            <a:r>
              <a:rPr lang="he-IL" dirty="0" err="1"/>
              <a:t>ההריון</a:t>
            </a:r>
            <a:r>
              <a:rPr lang="he-IL" dirty="0"/>
              <a:t> הראשון מגיע בשנתיים הראשונות. </a:t>
            </a:r>
            <a:endParaRPr lang="he-IL" sz="1400" dirty="0"/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he-IL" sz="1400" dirty="0"/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dirty="0"/>
              <a:t>בכפרים הלא מוכרים, אין כמעט מבני ציבור כמו מרפאות, וזה משפיע על קבלת מידע רפואי לאימהות במיוחד אימהות צעירות</a:t>
            </a:r>
            <a:r>
              <a:rPr lang="he-IL" sz="1600" dirty="0"/>
              <a:t> </a:t>
            </a:r>
            <a:r>
              <a:rPr lang="he-IL" sz="1400" dirty="0"/>
              <a:t>(כל האמת על הכפרים הלא מוכרים בנגב- ומאבקם לשוויון, סיכוי-אופוק,2020).</a:t>
            </a: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he-IL" sz="1600" dirty="0"/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he-IL" sz="1600" b="1" dirty="0"/>
          </a:p>
        </p:txBody>
      </p:sp>
      <p:sp>
        <p:nvSpPr>
          <p:cNvPr id="6" name="TextBox 15">
            <a:extLst>
              <a:ext uri="{FF2B5EF4-FFF2-40B4-BE49-F238E27FC236}">
                <a16:creationId xmlns:a16="http://schemas.microsoft.com/office/drawing/2014/main" id="{2321B528-DA0C-F04E-4EDE-859B158CB38F}"/>
              </a:ext>
            </a:extLst>
          </p:cNvPr>
          <p:cNvSpPr txBox="1"/>
          <p:nvPr/>
        </p:nvSpPr>
        <p:spPr>
          <a:xfrm>
            <a:off x="503119" y="5150154"/>
            <a:ext cx="8151778" cy="830997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ctr" rtl="1"/>
            <a:r>
              <a:rPr lang="he-IL" sz="2400" b="1" dirty="0"/>
              <a:t>בשיח האימהות החדשות במגזר הבדואי,</a:t>
            </a:r>
          </a:p>
          <a:p>
            <a:pPr algn="ctr" rtl="1"/>
            <a:r>
              <a:rPr lang="he-IL" sz="2400" b="1" dirty="0"/>
              <a:t> יש תלונות על חוסר במידע על גידול ילדים.</a:t>
            </a:r>
          </a:p>
        </p:txBody>
      </p:sp>
    </p:spTree>
    <p:extLst>
      <p:ext uri="{BB962C8B-B14F-4D97-AF65-F5344CB8AC3E}">
        <p14:creationId xmlns:p14="http://schemas.microsoft.com/office/powerpoint/2010/main" val="2866366950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Rectangle 2"/>
          <p:cNvSpPr txBox="1">
            <a:spLocks noChangeArrowheads="1"/>
          </p:cNvSpPr>
          <p:nvPr/>
        </p:nvSpPr>
        <p:spPr bwMode="auto">
          <a:xfrm>
            <a:off x="0" y="-3289"/>
            <a:ext cx="9144000" cy="594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54000" tIns="54000" rIns="54000" bIns="54000" anchor="ctr"/>
          <a:lstStyle/>
          <a:p>
            <a:pPr algn="ctr" rtl="1" eaLnBrk="1" hangingPunct="1">
              <a:defRPr/>
            </a:pPr>
            <a:r>
              <a:rPr lang="he-IL" sz="2400" b="1" u="sng" dirty="0">
                <a:latin typeface="Times New Roman" pitchFamily="18" charset="0"/>
              </a:rPr>
              <a:t>תיאור מצב קיים</a:t>
            </a:r>
          </a:p>
        </p:txBody>
      </p:sp>
      <p:sp>
        <p:nvSpPr>
          <p:cNvPr id="2057" name="מציין מיקום של כותרת תחתונה 8"/>
          <p:cNvSpPr>
            <a:spLocks noGrp="1"/>
          </p:cNvSpPr>
          <p:nvPr>
            <p:ph type="ftr" sz="quarter" idx="11"/>
          </p:nvPr>
        </p:nvSpPr>
        <p:spPr>
          <a:xfrm>
            <a:off x="2832578" y="6494659"/>
            <a:ext cx="3858670" cy="342900"/>
          </a:xfrm>
          <a:noFill/>
        </p:spPr>
        <p:txBody>
          <a:bodyPr/>
          <a:lstStyle/>
          <a:p>
            <a:pPr rtl="1">
              <a:spcBef>
                <a:spcPct val="20000"/>
              </a:spcBef>
            </a:pPr>
            <a:r>
              <a:rPr lang="he-IL" b="1" dirty="0">
                <a:solidFill>
                  <a:schemeClr val="tx1"/>
                </a:solidFill>
              </a:rPr>
              <a:t>אתר אינטרנט לאימהות חדשות                     </a:t>
            </a:r>
            <a:endParaRPr lang="en-US" b="1" dirty="0">
              <a:solidFill>
                <a:schemeClr val="tx1"/>
              </a:solidFill>
            </a:endParaRPr>
          </a:p>
          <a:p>
            <a:pPr rtl="1">
              <a:spcBef>
                <a:spcPct val="20000"/>
              </a:spcBef>
            </a:pPr>
            <a:r>
              <a:rPr lang="en-US" b="1" dirty="0">
                <a:solidFill>
                  <a:schemeClr val="tx1"/>
                </a:solidFill>
              </a:rPr>
              <a:t>Navon-13-2024-sem1</a:t>
            </a:r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DEAAF544-2BD2-7996-B196-DE72227999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794" y="0"/>
            <a:ext cx="978206" cy="876849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1CF56178-142D-42FB-927A-F90FA1B29C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62087" cy="756802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" name="מציין מיקום של מספר שקופית 1">
            <a:extLst>
              <a:ext uri="{FF2B5EF4-FFF2-40B4-BE49-F238E27FC236}">
                <a16:creationId xmlns:a16="http://schemas.microsoft.com/office/drawing/2014/main" id="{27435F99-FF78-2E65-A2DD-B0C2B1D5E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510" y="6357727"/>
            <a:ext cx="2057400" cy="365125"/>
          </a:xfrm>
        </p:spPr>
        <p:txBody>
          <a:bodyPr vert="horz" lIns="91440" tIns="45720" rIns="91440" bIns="45720" rtlCol="0" anchor="ctr"/>
          <a:lstStyle/>
          <a:p>
            <a:pPr algn="l"/>
            <a:fld id="{F406CD6C-EFBE-497B-B02F-71827CD8C8E4}" type="slidenum">
              <a:rPr lang="he-IL"/>
              <a:pPr algn="l"/>
              <a:t>3</a:t>
            </a:fld>
            <a:endParaRPr lang="he-I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443D05-AAF0-43D2-8223-5D66E324B43E}"/>
              </a:ext>
            </a:extLst>
          </p:cNvPr>
          <p:cNvSpPr txBox="1"/>
          <p:nvPr/>
        </p:nvSpPr>
        <p:spPr>
          <a:xfrm>
            <a:off x="230419" y="1039751"/>
            <a:ext cx="8683161" cy="452431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dirty="0"/>
              <a:t> אוכלוסיית הנשואים במגזר הבדואי כוללת 300 אלף איש ואישה, </a:t>
            </a:r>
            <a:r>
              <a:rPr lang="he-IL"/>
              <a:t>מהן  כ-20% בנות </a:t>
            </a:r>
            <a:r>
              <a:rPr lang="he-IL" dirty="0"/>
              <a:t>בגיל 18- 25 </a:t>
            </a:r>
            <a:r>
              <a:rPr lang="he-IL" b="1" dirty="0"/>
              <a:t>(</a:t>
            </a:r>
            <a:r>
              <a:rPr lang="he-IL" sz="1600" b="1" dirty="0"/>
              <a:t>מרכז המחקר והמדעי, נתונים על אוכלוסיית הבדואים בנגב, 2023).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endParaRPr lang="he-IL" b="1" dirty="0"/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dirty="0"/>
              <a:t> בשנים האחרונות יש ירידה במספר הקטינות שיולדות, ומדווחות על כך לביטוח לאומי </a:t>
            </a:r>
            <a:r>
              <a:rPr lang="he-IL" sz="1600" b="1" dirty="0"/>
              <a:t>(מרכז המחקר והמידע של הכנסת נישואי קטינות, רוני הרשקוביץ, 2022).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endParaRPr lang="he-IL" b="1" dirty="0"/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dirty="0"/>
              <a:t> 5% מקרב הילודים הבדואים במחוז הדרום נולדו לאימהות מתחת לגיל 20 </a:t>
            </a:r>
            <a:r>
              <a:rPr lang="he-IL" sz="1600" b="1" dirty="0"/>
              <a:t>(המרכז הלאומי לבקרת מחלות, מצב הבריאות של תינוקות וילדים בדואים עד גיל 6 שנים ביישובי קבע ובכפרים הבלתי מוכרים בנגב, 2008).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endParaRPr lang="he-IL" sz="1600" b="1" dirty="0"/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dirty="0"/>
              <a:t> חלק גדול מהאימהות חדשות הן בעלות השכלה חטיבת ביניים ותיכון </a:t>
            </a:r>
            <a:r>
              <a:rPr lang="he-IL" b="1" dirty="0"/>
              <a:t>(</a:t>
            </a:r>
            <a:r>
              <a:rPr lang="he-IL" sz="1600" b="1" dirty="0"/>
              <a:t>המרכז הלאומי לבקרת מחלות, מצב הבריאות של תינוקות וילדים בדואים עד גיל 6 שנים ביישובי קבע ובכפרים הבלתי מוכרים בנגב, 2008 ).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endParaRPr lang="he-IL" sz="1600" b="1" dirty="0"/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dirty="0"/>
              <a:t>לפעמים נשים בהריון ולאחר לידה חוות עצב ,פחד ,כעס או תסכול </a:t>
            </a:r>
            <a:r>
              <a:rPr lang="he-IL" sz="1600" b="1" dirty="0"/>
              <a:t>(משרד הבריאות, דיכאון אחרי לידה ובמהלך ההיריון).</a:t>
            </a:r>
            <a:endParaRPr lang="he-IL" dirty="0"/>
          </a:p>
          <a:p>
            <a:pPr algn="r" rtl="1"/>
            <a:endParaRPr lang="he-IL" b="1" dirty="0"/>
          </a:p>
        </p:txBody>
      </p:sp>
      <p:sp>
        <p:nvSpPr>
          <p:cNvPr id="5" name="TextBox 15">
            <a:extLst>
              <a:ext uri="{FF2B5EF4-FFF2-40B4-BE49-F238E27FC236}">
                <a16:creationId xmlns:a16="http://schemas.microsoft.com/office/drawing/2014/main" id="{6B1D7C80-8BE3-6F24-842E-1CAA1841D937}"/>
              </a:ext>
            </a:extLst>
          </p:cNvPr>
          <p:cNvSpPr txBox="1"/>
          <p:nvPr/>
        </p:nvSpPr>
        <p:spPr>
          <a:xfrm>
            <a:off x="431043" y="6045741"/>
            <a:ext cx="8151778" cy="461665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ctr" rtl="1"/>
            <a:r>
              <a:rPr lang="he-IL" sz="2400" b="1" dirty="0"/>
              <a:t>הפרויקט יתמקד בבניית אתר למידע לאימהות חדשות</a:t>
            </a:r>
          </a:p>
        </p:txBody>
      </p:sp>
    </p:spTree>
    <p:extLst>
      <p:ext uri="{BB962C8B-B14F-4D97-AF65-F5344CB8AC3E}">
        <p14:creationId xmlns:p14="http://schemas.microsoft.com/office/powerpoint/2010/main" val="414691839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מציין מיקום של כותרת תחתונה 8"/>
          <p:cNvSpPr>
            <a:spLocks noGrp="1"/>
          </p:cNvSpPr>
          <p:nvPr>
            <p:ph type="ftr" sz="quarter" idx="11"/>
          </p:nvPr>
        </p:nvSpPr>
        <p:spPr>
          <a:xfrm>
            <a:off x="2832578" y="6494659"/>
            <a:ext cx="3858670" cy="342900"/>
          </a:xfrm>
          <a:noFill/>
        </p:spPr>
        <p:txBody>
          <a:bodyPr/>
          <a:lstStyle/>
          <a:p>
            <a:pPr rtl="1">
              <a:spcBef>
                <a:spcPct val="20000"/>
              </a:spcBef>
            </a:pPr>
            <a:r>
              <a:rPr lang="he-IL" b="1" dirty="0">
                <a:solidFill>
                  <a:schemeClr val="tx1"/>
                </a:solidFill>
              </a:rPr>
              <a:t>אתר אינטרנט לאימהות חדשות                     </a:t>
            </a:r>
            <a:endParaRPr lang="en-US" b="1" dirty="0">
              <a:solidFill>
                <a:schemeClr val="tx1"/>
              </a:solidFill>
            </a:endParaRPr>
          </a:p>
          <a:p>
            <a:pPr rtl="1">
              <a:spcBef>
                <a:spcPct val="20000"/>
              </a:spcBef>
            </a:pPr>
            <a:r>
              <a:rPr lang="en-US" b="1" dirty="0">
                <a:solidFill>
                  <a:schemeClr val="tx1"/>
                </a:solidFill>
              </a:rPr>
              <a:t>Navon-13-2024-sem1</a:t>
            </a:r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DEAAF544-2BD2-7996-B196-DE72227999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794" y="0"/>
            <a:ext cx="978206" cy="876849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1CF56178-142D-42FB-927A-F90FA1B29C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67" y="3852"/>
            <a:ext cx="862087" cy="756802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" name="TextBox 5">
            <a:extLst>
              <a:ext uri="{FF2B5EF4-FFF2-40B4-BE49-F238E27FC236}">
                <a16:creationId xmlns:a16="http://schemas.microsoft.com/office/drawing/2014/main" id="{F945C521-9F72-7C61-D706-C915BFBAF6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768" y="-373"/>
            <a:ext cx="7835321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he-IL"/>
            </a:defPPr>
            <a:lvl1pPr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algn="ctr"/>
            <a:r>
              <a:rPr lang="he-IL" sz="2400" b="1" u="sng" dirty="0">
                <a:latin typeface="Calibri" pitchFamily="34" charset="0"/>
              </a:rPr>
              <a:t>תרשים תהליך- חיפוש מידע במהלך הריון ולאחריו</a:t>
            </a:r>
          </a:p>
          <a:p>
            <a:pPr algn="ctr"/>
            <a:r>
              <a:rPr lang="he-IL" sz="2400" b="1" u="sng" dirty="0">
                <a:latin typeface="Calibri" pitchFamily="34" charset="0"/>
              </a:rPr>
              <a:t>מצב קיים </a:t>
            </a:r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6DF479B-089B-AEB3-AFF0-685A75B7A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8103" y="6354622"/>
            <a:ext cx="2057400" cy="365125"/>
          </a:xfrm>
        </p:spPr>
        <p:txBody>
          <a:bodyPr/>
          <a:lstStyle/>
          <a:p>
            <a:pPr algn="l"/>
            <a:fld id="{F406CD6C-EFBE-497B-B02F-71827CD8C8E4}" type="slidenum">
              <a:rPr lang="he-IL" smtClean="0"/>
              <a:pPr algn="l"/>
              <a:t>4</a:t>
            </a:fld>
            <a:endParaRPr lang="he-IL"/>
          </a:p>
        </p:txBody>
      </p:sp>
      <p:sp>
        <p:nvSpPr>
          <p:cNvPr id="11" name="אליפסה 10">
            <a:extLst>
              <a:ext uri="{FF2B5EF4-FFF2-40B4-BE49-F238E27FC236}">
                <a16:creationId xmlns:a16="http://schemas.microsoft.com/office/drawing/2014/main" id="{ADE0C791-51DA-4FCE-8077-834315F8BC26}"/>
              </a:ext>
            </a:extLst>
          </p:cNvPr>
          <p:cNvSpPr/>
          <p:nvPr/>
        </p:nvSpPr>
        <p:spPr>
          <a:xfrm>
            <a:off x="638991" y="486283"/>
            <a:ext cx="1257300" cy="3651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התחלה</a:t>
            </a:r>
          </a:p>
        </p:txBody>
      </p:sp>
      <p:cxnSp>
        <p:nvCxnSpPr>
          <p:cNvPr id="13" name="מחבר חץ ישר 12">
            <a:extLst>
              <a:ext uri="{FF2B5EF4-FFF2-40B4-BE49-F238E27FC236}">
                <a16:creationId xmlns:a16="http://schemas.microsoft.com/office/drawing/2014/main" id="{C929BBB5-B7DB-4E67-897C-2F94A1821846}"/>
              </a:ext>
            </a:extLst>
          </p:cNvPr>
          <p:cNvCxnSpPr>
            <a:cxnSpLocks/>
            <a:stCxn id="11" idx="4"/>
            <a:endCxn id="14" idx="0"/>
          </p:cNvCxnSpPr>
          <p:nvPr/>
        </p:nvCxnSpPr>
        <p:spPr>
          <a:xfrm flipH="1">
            <a:off x="1254173" y="851408"/>
            <a:ext cx="13468" cy="3901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קבוצה 3">
            <a:extLst>
              <a:ext uri="{FF2B5EF4-FFF2-40B4-BE49-F238E27FC236}">
                <a16:creationId xmlns:a16="http://schemas.microsoft.com/office/drawing/2014/main" id="{36053A5F-7680-1790-5F5A-E297B0E87ACB}"/>
              </a:ext>
            </a:extLst>
          </p:cNvPr>
          <p:cNvGrpSpPr/>
          <p:nvPr/>
        </p:nvGrpSpPr>
        <p:grpSpPr>
          <a:xfrm>
            <a:off x="85791" y="1241554"/>
            <a:ext cx="8755995" cy="4614202"/>
            <a:chOff x="499745" y="2264407"/>
            <a:chExt cx="8755995" cy="3254861"/>
          </a:xfrm>
        </p:grpSpPr>
        <p:sp>
          <p:nvSpPr>
            <p:cNvPr id="14" name="תרשים זרימה: פעולה ידנית 13">
              <a:extLst>
                <a:ext uri="{FF2B5EF4-FFF2-40B4-BE49-F238E27FC236}">
                  <a16:creationId xmlns:a16="http://schemas.microsoft.com/office/drawing/2014/main" id="{1687F3ED-3120-4F72-BF88-B04ED9A7B1DD}"/>
                </a:ext>
              </a:extLst>
            </p:cNvPr>
            <p:cNvSpPr/>
            <p:nvPr/>
          </p:nvSpPr>
          <p:spPr>
            <a:xfrm>
              <a:off x="891354" y="2264407"/>
              <a:ext cx="1553546" cy="633047"/>
            </a:xfrm>
            <a:prstGeom prst="flowChartManualOperation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he-IL" b="1" dirty="0"/>
                <a:t>תהליך ההיריון</a:t>
              </a:r>
            </a:p>
          </p:txBody>
        </p:sp>
        <p:cxnSp>
          <p:nvCxnSpPr>
            <p:cNvPr id="19" name="מחבר חץ ישר 18">
              <a:extLst>
                <a:ext uri="{FF2B5EF4-FFF2-40B4-BE49-F238E27FC236}">
                  <a16:creationId xmlns:a16="http://schemas.microsoft.com/office/drawing/2014/main" id="{86121D25-00B1-4CCB-A4C6-46B9696543ED}"/>
                </a:ext>
              </a:extLst>
            </p:cNvPr>
            <p:cNvCxnSpPr>
              <a:cxnSpLocks/>
              <a:stCxn id="48" idx="2"/>
              <a:endCxn id="53" idx="0"/>
            </p:cNvCxnSpPr>
            <p:nvPr/>
          </p:nvCxnSpPr>
          <p:spPr>
            <a:xfrm flipH="1">
              <a:off x="4327965" y="2897454"/>
              <a:ext cx="4884" cy="32716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מחבר חץ ישר 19">
              <a:extLst>
                <a:ext uri="{FF2B5EF4-FFF2-40B4-BE49-F238E27FC236}">
                  <a16:creationId xmlns:a16="http://schemas.microsoft.com/office/drawing/2014/main" id="{37C16226-1053-434D-819C-31672132E615}"/>
                </a:ext>
              </a:extLst>
            </p:cNvPr>
            <p:cNvCxnSpPr>
              <a:cxnSpLocks/>
              <a:stCxn id="53" idx="2"/>
              <a:endCxn id="59" idx="0"/>
            </p:cNvCxnSpPr>
            <p:nvPr/>
          </p:nvCxnSpPr>
          <p:spPr>
            <a:xfrm>
              <a:off x="4160226" y="4448153"/>
              <a:ext cx="925" cy="28116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מחבר חץ ישר 20">
              <a:extLst>
                <a:ext uri="{FF2B5EF4-FFF2-40B4-BE49-F238E27FC236}">
                  <a16:creationId xmlns:a16="http://schemas.microsoft.com/office/drawing/2014/main" id="{4D7A3B88-97FB-4A7F-8D98-CE8D1AA9B939}"/>
                </a:ext>
              </a:extLst>
            </p:cNvPr>
            <p:cNvCxnSpPr>
              <a:cxnSpLocks/>
              <a:stCxn id="2063" idx="2"/>
              <a:endCxn id="91" idx="0"/>
            </p:cNvCxnSpPr>
            <p:nvPr/>
          </p:nvCxnSpPr>
          <p:spPr>
            <a:xfrm>
              <a:off x="6571631" y="3913302"/>
              <a:ext cx="3527" cy="8011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מחבר חץ ישר 22">
              <a:extLst>
                <a:ext uri="{FF2B5EF4-FFF2-40B4-BE49-F238E27FC236}">
                  <a16:creationId xmlns:a16="http://schemas.microsoft.com/office/drawing/2014/main" id="{28BA90DC-3D49-4996-9660-088F6F700318}"/>
                </a:ext>
              </a:extLst>
            </p:cNvPr>
            <p:cNvCxnSpPr>
              <a:cxnSpLocks/>
              <a:stCxn id="25" idx="2"/>
              <a:endCxn id="33" idx="1"/>
            </p:cNvCxnSpPr>
            <p:nvPr/>
          </p:nvCxnSpPr>
          <p:spPr>
            <a:xfrm flipH="1">
              <a:off x="1633633" y="4331350"/>
              <a:ext cx="13220" cy="393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מחבר חץ ישר 23">
              <a:extLst>
                <a:ext uri="{FF2B5EF4-FFF2-40B4-BE49-F238E27FC236}">
                  <a16:creationId xmlns:a16="http://schemas.microsoft.com/office/drawing/2014/main" id="{A2011791-39EF-4756-AA6C-FF434F05AD6F}"/>
                </a:ext>
              </a:extLst>
            </p:cNvPr>
            <p:cNvCxnSpPr>
              <a:cxnSpLocks/>
              <a:stCxn id="14" idx="2"/>
              <a:endCxn id="25" idx="0"/>
            </p:cNvCxnSpPr>
            <p:nvPr/>
          </p:nvCxnSpPr>
          <p:spPr>
            <a:xfrm flipH="1">
              <a:off x="1646853" y="2897454"/>
              <a:ext cx="21274" cy="40640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תרשים זרימה: פעולה ידנית 24">
              <a:extLst>
                <a:ext uri="{FF2B5EF4-FFF2-40B4-BE49-F238E27FC236}">
                  <a16:creationId xmlns:a16="http://schemas.microsoft.com/office/drawing/2014/main" id="{3619989A-5A11-46C0-A7E3-59D157663CA1}"/>
                </a:ext>
              </a:extLst>
            </p:cNvPr>
            <p:cNvSpPr/>
            <p:nvPr/>
          </p:nvSpPr>
          <p:spPr>
            <a:xfrm>
              <a:off x="754434" y="3303861"/>
              <a:ext cx="1784838" cy="1027489"/>
            </a:xfrm>
            <a:prstGeom prst="flowChartManualOperation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he-IL" b="1" dirty="0"/>
                <a:t>בדיקות אצל טיפת חלב ושאלות</a:t>
              </a:r>
            </a:p>
          </p:txBody>
        </p:sp>
        <p:sp>
          <p:nvSpPr>
            <p:cNvPr id="33" name="תרשים זרימה: נתונים 32">
              <a:extLst>
                <a:ext uri="{FF2B5EF4-FFF2-40B4-BE49-F238E27FC236}">
                  <a16:creationId xmlns:a16="http://schemas.microsoft.com/office/drawing/2014/main" id="{8D7880B5-2D18-4494-85E1-0D0E28C58F2E}"/>
                </a:ext>
              </a:extLst>
            </p:cNvPr>
            <p:cNvSpPr/>
            <p:nvPr/>
          </p:nvSpPr>
          <p:spPr>
            <a:xfrm>
              <a:off x="499745" y="4724350"/>
              <a:ext cx="2267776" cy="342901"/>
            </a:xfrm>
            <a:prstGeom prst="flowChartInputOutpu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he-IL" b="1" dirty="0"/>
                <a:t>נתונים כללים</a:t>
              </a:r>
            </a:p>
          </p:txBody>
        </p:sp>
        <p:cxnSp>
          <p:nvCxnSpPr>
            <p:cNvPr id="46" name="מחבר: מרפקי 45">
              <a:extLst>
                <a:ext uri="{FF2B5EF4-FFF2-40B4-BE49-F238E27FC236}">
                  <a16:creationId xmlns:a16="http://schemas.microsoft.com/office/drawing/2014/main" id="{DCD5B95D-C6EF-48D7-A775-95AAE2297AC0}"/>
                </a:ext>
              </a:extLst>
            </p:cNvPr>
            <p:cNvCxnSpPr>
              <a:cxnSpLocks/>
              <a:stCxn id="33" idx="5"/>
              <a:endCxn id="48" idx="1"/>
            </p:cNvCxnSpPr>
            <p:nvPr/>
          </p:nvCxnSpPr>
          <p:spPr>
            <a:xfrm flipV="1">
              <a:off x="2540743" y="2580931"/>
              <a:ext cx="1236432" cy="2314870"/>
            </a:xfrm>
            <a:prstGeom prst="bentConnector3">
              <a:avLst>
                <a:gd name="adj1" fmla="val 36489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תרשים זרימה: פעולה ידנית 47">
              <a:extLst>
                <a:ext uri="{FF2B5EF4-FFF2-40B4-BE49-F238E27FC236}">
                  <a16:creationId xmlns:a16="http://schemas.microsoft.com/office/drawing/2014/main" id="{7832999C-8643-4A19-8883-B997BF7E1820}"/>
                </a:ext>
              </a:extLst>
            </p:cNvPr>
            <p:cNvSpPr/>
            <p:nvPr/>
          </p:nvSpPr>
          <p:spPr>
            <a:xfrm>
              <a:off x="3638257" y="2264407"/>
              <a:ext cx="1389184" cy="633047"/>
            </a:xfrm>
            <a:prstGeom prst="flowChartManualOperation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he-IL" b="1" dirty="0"/>
                <a:t>תהליך הלידה</a:t>
              </a:r>
            </a:p>
          </p:txBody>
        </p:sp>
        <p:sp>
          <p:nvSpPr>
            <p:cNvPr id="53" name="תרשים זרימה: ריבוי מסמכים 52">
              <a:extLst>
                <a:ext uri="{FF2B5EF4-FFF2-40B4-BE49-F238E27FC236}">
                  <a16:creationId xmlns:a16="http://schemas.microsoft.com/office/drawing/2014/main" id="{6F0DAD19-D3ED-4B2B-A50A-3BA853F10C33}"/>
                </a:ext>
              </a:extLst>
            </p:cNvPr>
            <p:cNvSpPr/>
            <p:nvPr/>
          </p:nvSpPr>
          <p:spPr>
            <a:xfrm>
              <a:off x="3638257" y="3224621"/>
              <a:ext cx="1212575" cy="1271691"/>
            </a:xfrm>
            <a:prstGeom prst="flowChartMultidocument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he-IL" b="1" dirty="0"/>
                <a:t>מסמכי הוראות ממרפאה</a:t>
              </a:r>
            </a:p>
          </p:txBody>
        </p:sp>
        <p:sp>
          <p:nvSpPr>
            <p:cNvPr id="59" name="תרשים זרימה: פעולה ידנית 58">
              <a:extLst>
                <a:ext uri="{FF2B5EF4-FFF2-40B4-BE49-F238E27FC236}">
                  <a16:creationId xmlns:a16="http://schemas.microsoft.com/office/drawing/2014/main" id="{272FD29E-02A9-455B-BBD6-84C8A877ADF0}"/>
                </a:ext>
              </a:extLst>
            </p:cNvPr>
            <p:cNvSpPr/>
            <p:nvPr/>
          </p:nvSpPr>
          <p:spPr>
            <a:xfrm>
              <a:off x="3156936" y="4729315"/>
              <a:ext cx="2008429" cy="789953"/>
            </a:xfrm>
            <a:prstGeom prst="flowChartManualOperation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he-IL" b="1" dirty="0"/>
                <a:t>מידע מהורים והמשפחות</a:t>
              </a:r>
            </a:p>
          </p:txBody>
        </p:sp>
        <p:cxnSp>
          <p:nvCxnSpPr>
            <p:cNvPr id="77" name="מחבר חץ ישר 76">
              <a:extLst>
                <a:ext uri="{FF2B5EF4-FFF2-40B4-BE49-F238E27FC236}">
                  <a16:creationId xmlns:a16="http://schemas.microsoft.com/office/drawing/2014/main" id="{66B129FE-7ABF-4D80-BED4-1B80CF2E1AED}"/>
                </a:ext>
              </a:extLst>
            </p:cNvPr>
            <p:cNvCxnSpPr>
              <a:cxnSpLocks/>
              <a:stCxn id="108" idx="4"/>
              <a:endCxn id="2063" idx="0"/>
            </p:cNvCxnSpPr>
            <p:nvPr/>
          </p:nvCxnSpPr>
          <p:spPr>
            <a:xfrm>
              <a:off x="6548177" y="2751992"/>
              <a:ext cx="23454" cy="38685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מחבר: מרפקי 77">
              <a:extLst>
                <a:ext uri="{FF2B5EF4-FFF2-40B4-BE49-F238E27FC236}">
                  <a16:creationId xmlns:a16="http://schemas.microsoft.com/office/drawing/2014/main" id="{5697BF46-1B8B-4FB1-97A9-B6AEC9FEFD2E}"/>
                </a:ext>
              </a:extLst>
            </p:cNvPr>
            <p:cNvCxnSpPr>
              <a:cxnSpLocks/>
              <a:stCxn id="59" idx="3"/>
              <a:endCxn id="108" idx="2"/>
            </p:cNvCxnSpPr>
            <p:nvPr/>
          </p:nvCxnSpPr>
          <p:spPr>
            <a:xfrm flipV="1">
              <a:off x="4964522" y="2508421"/>
              <a:ext cx="964624" cy="2615870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63" name="תרשים זרימה: החלטה 2062">
              <a:extLst>
                <a:ext uri="{FF2B5EF4-FFF2-40B4-BE49-F238E27FC236}">
                  <a16:creationId xmlns:a16="http://schemas.microsoft.com/office/drawing/2014/main" id="{11B2596C-315A-42F5-9D35-2F0B22D0F220}"/>
                </a:ext>
              </a:extLst>
            </p:cNvPr>
            <p:cNvSpPr/>
            <p:nvPr/>
          </p:nvSpPr>
          <p:spPr>
            <a:xfrm>
              <a:off x="5689967" y="3138843"/>
              <a:ext cx="1763328" cy="774459"/>
            </a:xfrm>
            <a:prstGeom prst="flowChartDecision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he-IL" b="1" dirty="0"/>
                <a:t>שאלות</a:t>
              </a:r>
            </a:p>
            <a:p>
              <a:pPr algn="ctr"/>
              <a:r>
                <a:rPr lang="he-IL" b="1" dirty="0"/>
                <a:t>נוספות?</a:t>
              </a:r>
            </a:p>
          </p:txBody>
        </p:sp>
        <p:sp>
          <p:nvSpPr>
            <p:cNvPr id="91" name="תרשים זרימה: פעולה ידנית 90">
              <a:extLst>
                <a:ext uri="{FF2B5EF4-FFF2-40B4-BE49-F238E27FC236}">
                  <a16:creationId xmlns:a16="http://schemas.microsoft.com/office/drawing/2014/main" id="{D46CCBDD-E23E-46F1-B00F-EC5AF1F5BEE1}"/>
                </a:ext>
              </a:extLst>
            </p:cNvPr>
            <p:cNvSpPr/>
            <p:nvPr/>
          </p:nvSpPr>
          <p:spPr>
            <a:xfrm>
              <a:off x="5632646" y="4714491"/>
              <a:ext cx="1885024" cy="633047"/>
            </a:xfrm>
            <a:prstGeom prst="flowChartManualOperation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he-IL" b="1" dirty="0"/>
                <a:t>חיפוש מידע באינטרנט</a:t>
              </a:r>
            </a:p>
          </p:txBody>
        </p:sp>
        <p:sp>
          <p:nvSpPr>
            <p:cNvPr id="101" name="תרשים זרימה: נתונים 100">
              <a:extLst>
                <a:ext uri="{FF2B5EF4-FFF2-40B4-BE49-F238E27FC236}">
                  <a16:creationId xmlns:a16="http://schemas.microsoft.com/office/drawing/2014/main" id="{04FE4590-5D83-44AD-8FA1-82E880BF772A}"/>
                </a:ext>
              </a:extLst>
            </p:cNvPr>
            <p:cNvSpPr/>
            <p:nvPr/>
          </p:nvSpPr>
          <p:spPr>
            <a:xfrm>
              <a:off x="7708163" y="2296013"/>
              <a:ext cx="1547577" cy="455979"/>
            </a:xfrm>
            <a:prstGeom prst="flowChartInputOutpu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he-IL" b="1" dirty="0"/>
                <a:t>נתונים</a:t>
              </a:r>
              <a:r>
                <a:rPr lang="en-US" b="1" dirty="0"/>
                <a:t> </a:t>
              </a:r>
              <a:r>
                <a:rPr lang="he-IL" b="1" dirty="0"/>
                <a:t>ומידע </a:t>
              </a:r>
            </a:p>
          </p:txBody>
        </p:sp>
        <p:cxnSp>
          <p:nvCxnSpPr>
            <p:cNvPr id="102" name="מחבר חץ ישר 101">
              <a:extLst>
                <a:ext uri="{FF2B5EF4-FFF2-40B4-BE49-F238E27FC236}">
                  <a16:creationId xmlns:a16="http://schemas.microsoft.com/office/drawing/2014/main" id="{3D331550-D146-4532-8A99-507924B5B868}"/>
                </a:ext>
              </a:extLst>
            </p:cNvPr>
            <p:cNvCxnSpPr>
              <a:cxnSpLocks/>
              <a:stCxn id="101" idx="4"/>
              <a:endCxn id="160" idx="0"/>
            </p:cNvCxnSpPr>
            <p:nvPr/>
          </p:nvCxnSpPr>
          <p:spPr>
            <a:xfrm flipH="1">
              <a:off x="8454566" y="2751992"/>
              <a:ext cx="27386" cy="56729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מחבר חץ ישר 102">
              <a:extLst>
                <a:ext uri="{FF2B5EF4-FFF2-40B4-BE49-F238E27FC236}">
                  <a16:creationId xmlns:a16="http://schemas.microsoft.com/office/drawing/2014/main" id="{82525CBC-2859-43AC-AB2A-51517BF2022C}"/>
                </a:ext>
              </a:extLst>
            </p:cNvPr>
            <p:cNvCxnSpPr>
              <a:cxnSpLocks/>
              <a:stCxn id="160" idx="2"/>
              <a:endCxn id="166" idx="0"/>
            </p:cNvCxnSpPr>
            <p:nvPr/>
          </p:nvCxnSpPr>
          <p:spPr>
            <a:xfrm>
              <a:off x="8454566" y="3913302"/>
              <a:ext cx="14788" cy="8011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תרשים זרימה: נתונים 107">
              <a:extLst>
                <a:ext uri="{FF2B5EF4-FFF2-40B4-BE49-F238E27FC236}">
                  <a16:creationId xmlns:a16="http://schemas.microsoft.com/office/drawing/2014/main" id="{61F4EEC4-CA5D-4C21-9317-2192190422EA}"/>
                </a:ext>
              </a:extLst>
            </p:cNvPr>
            <p:cNvSpPr/>
            <p:nvPr/>
          </p:nvSpPr>
          <p:spPr>
            <a:xfrm>
              <a:off x="5774388" y="2264851"/>
              <a:ext cx="1547577" cy="487141"/>
            </a:xfrm>
            <a:prstGeom prst="flowChartInputOutpu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he-IL" b="1" dirty="0"/>
                <a:t>מידע</a:t>
              </a:r>
            </a:p>
          </p:txBody>
        </p:sp>
        <p:cxnSp>
          <p:nvCxnSpPr>
            <p:cNvPr id="148" name="מחבר: מרפקי 147">
              <a:extLst>
                <a:ext uri="{FF2B5EF4-FFF2-40B4-BE49-F238E27FC236}">
                  <a16:creationId xmlns:a16="http://schemas.microsoft.com/office/drawing/2014/main" id="{35DD1E77-F93C-450F-BF8A-538001130F0C}"/>
                </a:ext>
              </a:extLst>
            </p:cNvPr>
            <p:cNvCxnSpPr>
              <a:cxnSpLocks/>
              <a:stCxn id="91" idx="3"/>
              <a:endCxn id="101" idx="2"/>
            </p:cNvCxnSpPr>
            <p:nvPr/>
          </p:nvCxnSpPr>
          <p:spPr>
            <a:xfrm flipV="1">
              <a:off x="7329168" y="2524003"/>
              <a:ext cx="533753" cy="2507012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תרשים זרימה: פעולה ידנית 159">
              <a:extLst>
                <a:ext uri="{FF2B5EF4-FFF2-40B4-BE49-F238E27FC236}">
                  <a16:creationId xmlns:a16="http://schemas.microsoft.com/office/drawing/2014/main" id="{2FF5DDAB-5638-458E-9DF1-4DCFC75BA803}"/>
                </a:ext>
              </a:extLst>
            </p:cNvPr>
            <p:cNvSpPr/>
            <p:nvPr/>
          </p:nvSpPr>
          <p:spPr>
            <a:xfrm>
              <a:off x="7680777" y="3319290"/>
              <a:ext cx="1547577" cy="594012"/>
            </a:xfrm>
            <a:prstGeom prst="flowChartManualOperation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he-IL" b="1" dirty="0"/>
                <a:t>גידול</a:t>
              </a:r>
            </a:p>
            <a:p>
              <a:pPr algn="ctr"/>
              <a:r>
                <a:rPr lang="he-IL" b="1" dirty="0"/>
                <a:t>הנולד</a:t>
              </a:r>
            </a:p>
          </p:txBody>
        </p:sp>
        <p:sp>
          <p:nvSpPr>
            <p:cNvPr id="166" name="אליפסה 165">
              <a:extLst>
                <a:ext uri="{FF2B5EF4-FFF2-40B4-BE49-F238E27FC236}">
                  <a16:creationId xmlns:a16="http://schemas.microsoft.com/office/drawing/2014/main" id="{72E6CEEB-E9D9-4B6F-86DA-509D069018B1}"/>
                </a:ext>
              </a:extLst>
            </p:cNvPr>
            <p:cNvSpPr/>
            <p:nvPr/>
          </p:nvSpPr>
          <p:spPr>
            <a:xfrm>
              <a:off x="7840704" y="4714491"/>
              <a:ext cx="1257300" cy="36512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he-IL" b="1" dirty="0"/>
                <a:t>סיום</a:t>
              </a:r>
            </a:p>
          </p:txBody>
        </p:sp>
      </p:grpSp>
      <p:sp>
        <p:nvSpPr>
          <p:cNvPr id="42" name="תיבת טקסט 41">
            <a:extLst>
              <a:ext uri="{FF2B5EF4-FFF2-40B4-BE49-F238E27FC236}">
                <a16:creationId xmlns:a16="http://schemas.microsoft.com/office/drawing/2014/main" id="{9938D98D-227C-9775-5DB9-CBBDFB6560A8}"/>
              </a:ext>
            </a:extLst>
          </p:cNvPr>
          <p:cNvSpPr txBox="1"/>
          <p:nvPr/>
        </p:nvSpPr>
        <p:spPr>
          <a:xfrm>
            <a:off x="5802898" y="3993027"/>
            <a:ext cx="360996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b="1" dirty="0"/>
              <a:t>כן</a:t>
            </a:r>
          </a:p>
        </p:txBody>
      </p:sp>
      <p:cxnSp>
        <p:nvCxnSpPr>
          <p:cNvPr id="57" name="מחבר: מרפקי 56">
            <a:extLst>
              <a:ext uri="{FF2B5EF4-FFF2-40B4-BE49-F238E27FC236}">
                <a16:creationId xmlns:a16="http://schemas.microsoft.com/office/drawing/2014/main" id="{E4BA4D8C-BFFF-B59B-3427-FDA7F43114C1}"/>
              </a:ext>
            </a:extLst>
          </p:cNvPr>
          <p:cNvCxnSpPr>
            <a:cxnSpLocks/>
          </p:cNvCxnSpPr>
          <p:nvPr/>
        </p:nvCxnSpPr>
        <p:spPr>
          <a:xfrm rot="10800000" flipV="1">
            <a:off x="4562694" y="3030134"/>
            <a:ext cx="768795" cy="168474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תיבת טקסט 57">
            <a:extLst>
              <a:ext uri="{FF2B5EF4-FFF2-40B4-BE49-F238E27FC236}">
                <a16:creationId xmlns:a16="http://schemas.microsoft.com/office/drawing/2014/main" id="{FCCB9009-61DD-B57A-D068-2C2EB55F8C47}"/>
              </a:ext>
            </a:extLst>
          </p:cNvPr>
          <p:cNvSpPr txBox="1"/>
          <p:nvPr/>
        </p:nvSpPr>
        <p:spPr>
          <a:xfrm>
            <a:off x="4539573" y="4220913"/>
            <a:ext cx="433132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b="1" dirty="0"/>
              <a:t>לא</a:t>
            </a:r>
          </a:p>
        </p:txBody>
      </p:sp>
      <p:sp>
        <p:nvSpPr>
          <p:cNvPr id="60" name="TextBox 15">
            <a:extLst>
              <a:ext uri="{FF2B5EF4-FFF2-40B4-BE49-F238E27FC236}">
                <a16:creationId xmlns:a16="http://schemas.microsoft.com/office/drawing/2014/main" id="{83E1229B-8654-F628-E8B2-306C5F44DDA9}"/>
              </a:ext>
            </a:extLst>
          </p:cNvPr>
          <p:cNvSpPr txBox="1"/>
          <p:nvPr/>
        </p:nvSpPr>
        <p:spPr>
          <a:xfrm>
            <a:off x="431043" y="6045741"/>
            <a:ext cx="8151778" cy="461665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ctr" rtl="1"/>
            <a:r>
              <a:rPr lang="he-IL" sz="2400" b="1" dirty="0"/>
              <a:t>מידע לאימהות חדשות נאסף ממספר מקורות</a:t>
            </a:r>
          </a:p>
        </p:txBody>
      </p:sp>
    </p:spTree>
    <p:extLst>
      <p:ext uri="{BB962C8B-B14F-4D97-AF65-F5344CB8AC3E}">
        <p14:creationId xmlns:p14="http://schemas.microsoft.com/office/powerpoint/2010/main" val="1605262584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Rectangle 2"/>
          <p:cNvSpPr txBox="1">
            <a:spLocks noChangeArrowheads="1"/>
          </p:cNvSpPr>
          <p:nvPr/>
        </p:nvSpPr>
        <p:spPr bwMode="auto">
          <a:xfrm>
            <a:off x="0" y="-109248"/>
            <a:ext cx="9143999" cy="1010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54000" tIns="54000" rIns="54000" bIns="54000" anchor="ctr"/>
          <a:lstStyle/>
          <a:p>
            <a:pPr algn="ctr" rtl="1" eaLnBrk="1" hangingPunct="1">
              <a:defRPr/>
            </a:pPr>
            <a:r>
              <a:rPr lang="he-IL" sz="2400" b="1" u="sng" dirty="0">
                <a:latin typeface="Times New Roman" pitchFamily="18" charset="0"/>
              </a:rPr>
              <a:t>תיאור מצב קיים</a:t>
            </a:r>
          </a:p>
          <a:p>
            <a:pPr algn="ctr" rtl="1" eaLnBrk="1" hangingPunct="1">
              <a:defRPr/>
            </a:pPr>
            <a:r>
              <a:rPr lang="he-IL" sz="2400" b="1" u="sng" dirty="0">
                <a:latin typeface="Times New Roman" pitchFamily="18" charset="0"/>
              </a:rPr>
              <a:t>סקר אימהות חדשות-שאלון </a:t>
            </a:r>
          </a:p>
        </p:txBody>
      </p:sp>
      <p:sp>
        <p:nvSpPr>
          <p:cNvPr id="2057" name="מציין מיקום של כותרת תחתונה 8"/>
          <p:cNvSpPr>
            <a:spLocks noGrp="1"/>
          </p:cNvSpPr>
          <p:nvPr>
            <p:ph type="ftr" sz="quarter" idx="11"/>
          </p:nvPr>
        </p:nvSpPr>
        <p:spPr>
          <a:xfrm>
            <a:off x="2832578" y="6494659"/>
            <a:ext cx="3858670" cy="342900"/>
          </a:xfrm>
          <a:noFill/>
        </p:spPr>
        <p:txBody>
          <a:bodyPr/>
          <a:lstStyle/>
          <a:p>
            <a:pPr rtl="1">
              <a:spcBef>
                <a:spcPct val="20000"/>
              </a:spcBef>
            </a:pPr>
            <a:r>
              <a:rPr lang="he-IL" b="1" dirty="0">
                <a:solidFill>
                  <a:schemeClr val="tx1"/>
                </a:solidFill>
              </a:rPr>
              <a:t>אתר אינטרנט לאימהות חדשות                    </a:t>
            </a:r>
            <a:endParaRPr lang="en-US" b="1" dirty="0">
              <a:solidFill>
                <a:schemeClr val="tx1"/>
              </a:solidFill>
            </a:endParaRPr>
          </a:p>
          <a:p>
            <a:pPr rtl="1">
              <a:spcBef>
                <a:spcPct val="20000"/>
              </a:spcBef>
            </a:pPr>
            <a:r>
              <a:rPr lang="en-US" b="1" dirty="0">
                <a:solidFill>
                  <a:schemeClr val="tx1"/>
                </a:solidFill>
              </a:rPr>
              <a:t>Navon-13-2024-sem1</a:t>
            </a:r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DEAAF544-2BD2-7996-B196-DE72227999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7284" y="90968"/>
            <a:ext cx="978206" cy="876849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1CF56178-142D-42FB-927A-F90FA1B29C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572"/>
            <a:ext cx="862087" cy="756802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" name="מציין מיקום של מספר שקופית 1">
            <a:extLst>
              <a:ext uri="{FF2B5EF4-FFF2-40B4-BE49-F238E27FC236}">
                <a16:creationId xmlns:a16="http://schemas.microsoft.com/office/drawing/2014/main" id="{2B2DBE05-DC6F-363D-4E15-40DB1A842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510" y="6312096"/>
            <a:ext cx="2057400" cy="365125"/>
          </a:xfrm>
        </p:spPr>
        <p:txBody>
          <a:bodyPr/>
          <a:lstStyle/>
          <a:p>
            <a:pPr algn="l"/>
            <a:fld id="{F406CD6C-EFBE-497B-B02F-71827CD8C8E4}" type="slidenum">
              <a:rPr lang="he-IL" smtClean="0"/>
              <a:pPr algn="l"/>
              <a:t>5</a:t>
            </a:fld>
            <a:endParaRPr lang="he-IL"/>
          </a:p>
        </p:txBody>
      </p:sp>
      <p:graphicFrame>
        <p:nvGraphicFramePr>
          <p:cNvPr id="5" name="טבלה 4">
            <a:extLst>
              <a:ext uri="{FF2B5EF4-FFF2-40B4-BE49-F238E27FC236}">
                <a16:creationId xmlns:a16="http://schemas.microsoft.com/office/drawing/2014/main" id="{FE209D8C-823A-47B7-E716-FECD6CB982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3727273"/>
              </p:ext>
            </p:extLst>
          </p:nvPr>
        </p:nvGraphicFramePr>
        <p:xfrm>
          <a:off x="535318" y="1379771"/>
          <a:ext cx="8073363" cy="4184457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346321">
                  <a:extLst>
                    <a:ext uri="{9D8B030D-6E8A-4147-A177-3AD203B41FA5}">
                      <a16:colId xmlns:a16="http://schemas.microsoft.com/office/drawing/2014/main" val="1252776336"/>
                    </a:ext>
                  </a:extLst>
                </a:gridCol>
                <a:gridCol w="4811247">
                  <a:extLst>
                    <a:ext uri="{9D8B030D-6E8A-4147-A177-3AD203B41FA5}">
                      <a16:colId xmlns:a16="http://schemas.microsoft.com/office/drawing/2014/main" val="3152787148"/>
                    </a:ext>
                  </a:extLst>
                </a:gridCol>
                <a:gridCol w="1206536">
                  <a:extLst>
                    <a:ext uri="{9D8B030D-6E8A-4147-A177-3AD203B41FA5}">
                      <a16:colId xmlns:a16="http://schemas.microsoft.com/office/drawing/2014/main" val="4069057726"/>
                    </a:ext>
                  </a:extLst>
                </a:gridCol>
                <a:gridCol w="904902">
                  <a:extLst>
                    <a:ext uri="{9D8B030D-6E8A-4147-A177-3AD203B41FA5}">
                      <a16:colId xmlns:a16="http://schemas.microsoft.com/office/drawing/2014/main" val="2977084996"/>
                    </a:ext>
                  </a:extLst>
                </a:gridCol>
                <a:gridCol w="804357">
                  <a:extLst>
                    <a:ext uri="{9D8B030D-6E8A-4147-A177-3AD203B41FA5}">
                      <a16:colId xmlns:a16="http://schemas.microsoft.com/office/drawing/2014/main" val="1457533964"/>
                    </a:ext>
                  </a:extLst>
                </a:gridCol>
              </a:tblGrid>
              <a:tr h="385461">
                <a:tc gridSpan="5">
                  <a:txBody>
                    <a:bodyPr/>
                    <a:lstStyle/>
                    <a:p>
                      <a:pPr algn="ctr" rtl="1" fontAlgn="b"/>
                      <a:r>
                        <a:rPr lang="he-IL" sz="1600" b="1" u="none" strike="noStrike" dirty="0">
                          <a:effectLst/>
                        </a:rPr>
                        <a:t>סקר אימהות  חדשות</a:t>
                      </a:r>
                      <a:endParaRPr lang="he-IL" sz="1600" b="1" i="0" u="none" strike="noStrike" dirty="0">
                        <a:solidFill>
                          <a:srgbClr val="20212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6349287"/>
                  </a:ext>
                </a:extLst>
              </a:tr>
              <a:tr h="294620"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u="none" strike="noStrike" dirty="0">
                          <a:effectLst/>
                        </a:rPr>
                        <a:t>#</a:t>
                      </a:r>
                      <a:endParaRPr lang="he-IL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600" b="1" u="none" strike="noStrike" dirty="0">
                          <a:effectLst/>
                        </a:rPr>
                        <a:t>שאלה</a:t>
                      </a:r>
                      <a:endParaRPr lang="he-IL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600" b="1" u="none" strike="noStrike" dirty="0">
                          <a:effectLst/>
                        </a:rPr>
                        <a:t>תשובה</a:t>
                      </a:r>
                      <a:endParaRPr lang="he-IL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600" b="1" u="none" strike="noStrike" dirty="0">
                          <a:effectLst/>
                        </a:rPr>
                        <a:t>תשובה</a:t>
                      </a:r>
                      <a:endParaRPr lang="he-IL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600" b="1" u="none" strike="noStrike" dirty="0">
                          <a:effectLst/>
                        </a:rPr>
                        <a:t> תשובה</a:t>
                      </a:r>
                      <a:endParaRPr lang="he-IL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3272235"/>
                  </a:ext>
                </a:extLst>
              </a:tr>
              <a:tr h="294620"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u="none" strike="noStrike" dirty="0">
                          <a:effectLst/>
                        </a:rPr>
                        <a:t>1</a:t>
                      </a:r>
                      <a:endParaRPr lang="he-IL" sz="1600" b="1" i="0" u="none" strike="noStrike" dirty="0">
                        <a:solidFill>
                          <a:srgbClr val="20212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600" b="1" u="none" strike="noStrike" dirty="0">
                          <a:effectLst/>
                        </a:rPr>
                        <a:t>האם זה ילד ראשון?</a:t>
                      </a:r>
                      <a:endParaRPr lang="he-IL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600" b="1" u="none" strike="noStrike">
                          <a:effectLst/>
                        </a:rPr>
                        <a:t>כן</a:t>
                      </a:r>
                      <a:endParaRPr lang="he-IL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600" b="1" u="none" strike="noStrike" dirty="0">
                          <a:effectLst/>
                        </a:rPr>
                        <a:t>לא</a:t>
                      </a:r>
                      <a:endParaRPr lang="he-IL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u="none" strike="noStrike" dirty="0">
                          <a:effectLst/>
                        </a:rPr>
                        <a:t> </a:t>
                      </a:r>
                      <a:endParaRPr lang="he-IL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162685"/>
                  </a:ext>
                </a:extLst>
              </a:tr>
              <a:tr h="294620"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u="none" strike="noStrike" dirty="0">
                          <a:effectLst/>
                        </a:rPr>
                        <a:t>2</a:t>
                      </a:r>
                      <a:endParaRPr lang="he-IL" sz="1600" b="1" i="0" u="none" strike="noStrike" dirty="0">
                        <a:solidFill>
                          <a:srgbClr val="20212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600" b="1" u="none" strike="noStrike" dirty="0">
                          <a:effectLst/>
                        </a:rPr>
                        <a:t>גיל האם</a:t>
                      </a:r>
                      <a:endParaRPr lang="he-IL" sz="1600" b="1" i="0" u="none" strike="noStrike" dirty="0">
                        <a:solidFill>
                          <a:srgbClr val="20212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u="none" strike="noStrike">
                          <a:effectLst/>
                        </a:rPr>
                        <a:t>18-25</a:t>
                      </a:r>
                      <a:endParaRPr lang="he-IL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u="none" strike="noStrike">
                          <a:effectLst/>
                        </a:rPr>
                        <a:t>26+</a:t>
                      </a:r>
                      <a:endParaRPr lang="he-IL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u="none" strike="noStrike" dirty="0">
                          <a:effectLst/>
                        </a:rPr>
                        <a:t> </a:t>
                      </a:r>
                      <a:endParaRPr lang="he-IL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3298923"/>
                  </a:ext>
                </a:extLst>
              </a:tr>
              <a:tr h="294620"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u="none" strike="noStrike" dirty="0">
                          <a:effectLst/>
                        </a:rPr>
                        <a:t>3</a:t>
                      </a:r>
                      <a:endParaRPr lang="he-IL" sz="1600" b="1" i="0" u="none" strike="noStrike" dirty="0">
                        <a:solidFill>
                          <a:srgbClr val="20212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600" b="1" u="none" strike="noStrike" dirty="0">
                          <a:effectLst/>
                        </a:rPr>
                        <a:t>כמה זמן נשואה?</a:t>
                      </a:r>
                      <a:endParaRPr lang="he-IL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u="none" strike="noStrike">
                          <a:effectLst/>
                        </a:rPr>
                        <a:t>0-1</a:t>
                      </a:r>
                      <a:endParaRPr lang="he-IL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u="none" strike="noStrike">
                          <a:effectLst/>
                        </a:rPr>
                        <a:t>2 +</a:t>
                      </a:r>
                      <a:endParaRPr lang="he-IL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u="none" strike="noStrike" dirty="0">
                          <a:effectLst/>
                        </a:rPr>
                        <a:t> </a:t>
                      </a:r>
                      <a:endParaRPr lang="he-IL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8460738"/>
                  </a:ext>
                </a:extLst>
              </a:tr>
              <a:tr h="294620"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u="none" strike="noStrike" dirty="0">
                          <a:effectLst/>
                        </a:rPr>
                        <a:t>4</a:t>
                      </a:r>
                      <a:endParaRPr lang="he-IL" sz="1600" b="1" i="0" u="none" strike="noStrike" dirty="0">
                        <a:solidFill>
                          <a:srgbClr val="20212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600" b="1" u="none" strike="noStrike" dirty="0">
                          <a:effectLst/>
                        </a:rPr>
                        <a:t>האם יש ניסיון קודם בטיפול בתינוק?</a:t>
                      </a:r>
                      <a:endParaRPr lang="he-IL" sz="1600" b="1" i="0" u="none" strike="noStrike" dirty="0">
                        <a:solidFill>
                          <a:srgbClr val="20212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600" b="1" u="none" strike="noStrike">
                          <a:effectLst/>
                        </a:rPr>
                        <a:t>כן</a:t>
                      </a:r>
                      <a:endParaRPr lang="he-IL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600" b="1" u="none" strike="noStrike">
                          <a:effectLst/>
                        </a:rPr>
                        <a:t>לא</a:t>
                      </a:r>
                      <a:endParaRPr lang="he-IL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u="none" strike="noStrike" dirty="0">
                          <a:effectLst/>
                        </a:rPr>
                        <a:t> </a:t>
                      </a:r>
                      <a:endParaRPr lang="he-IL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7692942"/>
                  </a:ext>
                </a:extLst>
              </a:tr>
              <a:tr h="294620"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u="none" strike="noStrike" dirty="0">
                          <a:effectLst/>
                        </a:rPr>
                        <a:t>5</a:t>
                      </a:r>
                      <a:endParaRPr lang="he-IL" sz="1600" b="1" i="0" u="none" strike="noStrike" dirty="0">
                        <a:solidFill>
                          <a:srgbClr val="20212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600" b="1" u="none" strike="noStrike" dirty="0">
                          <a:effectLst/>
                        </a:rPr>
                        <a:t>האם קבלת הדרכה כלשהי לטיפול בתינוק?</a:t>
                      </a:r>
                      <a:endParaRPr lang="he-IL" sz="1600" b="1" i="0" u="none" strike="noStrike" dirty="0">
                        <a:solidFill>
                          <a:srgbClr val="20212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600" b="1" u="none" strike="noStrike">
                          <a:effectLst/>
                        </a:rPr>
                        <a:t>כן</a:t>
                      </a:r>
                      <a:endParaRPr lang="he-IL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600" b="1" u="none" strike="noStrike">
                          <a:effectLst/>
                        </a:rPr>
                        <a:t>לא</a:t>
                      </a:r>
                      <a:endParaRPr lang="he-IL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u="none" strike="noStrike" dirty="0">
                          <a:effectLst/>
                        </a:rPr>
                        <a:t> </a:t>
                      </a:r>
                      <a:endParaRPr lang="he-IL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9656239"/>
                  </a:ext>
                </a:extLst>
              </a:tr>
              <a:tr h="294620"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u="none" strike="noStrike" dirty="0">
                          <a:effectLst/>
                        </a:rPr>
                        <a:t>6</a:t>
                      </a:r>
                      <a:endParaRPr lang="he-IL" sz="1600" b="1" i="0" u="none" strike="noStrike" dirty="0">
                        <a:solidFill>
                          <a:srgbClr val="20212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600" b="1" u="none" strike="noStrike" dirty="0">
                          <a:effectLst/>
                        </a:rPr>
                        <a:t>האם ההדרכה הייתה מקרובי משפחה? </a:t>
                      </a:r>
                      <a:endParaRPr lang="he-IL" sz="1600" b="1" i="0" u="none" strike="noStrike" dirty="0">
                        <a:solidFill>
                          <a:srgbClr val="20212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600" b="1" u="none" strike="noStrike">
                          <a:effectLst/>
                        </a:rPr>
                        <a:t>כן</a:t>
                      </a:r>
                      <a:endParaRPr lang="he-IL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600" b="1" u="none" strike="noStrike">
                          <a:effectLst/>
                        </a:rPr>
                        <a:t>לא</a:t>
                      </a:r>
                      <a:endParaRPr lang="he-IL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u="none" strike="noStrike" dirty="0">
                          <a:effectLst/>
                        </a:rPr>
                        <a:t> </a:t>
                      </a:r>
                      <a:endParaRPr lang="he-IL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7350935"/>
                  </a:ext>
                </a:extLst>
              </a:tr>
              <a:tr h="294620"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u="none" strike="noStrike" dirty="0">
                          <a:effectLst/>
                        </a:rPr>
                        <a:t>7</a:t>
                      </a:r>
                      <a:endParaRPr lang="he-IL" sz="1600" b="1" i="0" u="none" strike="noStrike" dirty="0">
                        <a:solidFill>
                          <a:srgbClr val="20212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600" b="1" u="none" strike="noStrike" dirty="0">
                          <a:effectLst/>
                        </a:rPr>
                        <a:t>האם היה לך קושי להתמודד עם התינוק בלי עזרה?</a:t>
                      </a:r>
                      <a:endParaRPr lang="he-IL" sz="1600" b="1" i="0" u="none" strike="noStrike" dirty="0">
                        <a:solidFill>
                          <a:srgbClr val="20212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600" b="1" u="none" strike="noStrike">
                          <a:effectLst/>
                        </a:rPr>
                        <a:t>כן</a:t>
                      </a:r>
                      <a:endParaRPr lang="he-IL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600" b="1" u="none" strike="noStrike">
                          <a:effectLst/>
                        </a:rPr>
                        <a:t>לא</a:t>
                      </a:r>
                      <a:endParaRPr lang="he-IL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600" b="1" u="none" strike="noStrike" dirty="0">
                          <a:effectLst/>
                        </a:rPr>
                        <a:t> </a:t>
                      </a:r>
                      <a:endParaRPr lang="he-IL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2261090"/>
                  </a:ext>
                </a:extLst>
              </a:tr>
              <a:tr h="294620"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u="none" strike="noStrike" dirty="0">
                          <a:effectLst/>
                        </a:rPr>
                        <a:t>8</a:t>
                      </a:r>
                      <a:endParaRPr lang="he-IL" sz="1600" b="1" i="0" u="none" strike="noStrike" dirty="0">
                        <a:solidFill>
                          <a:srgbClr val="20212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600" b="1" u="none" strike="noStrike" dirty="0">
                          <a:effectLst/>
                        </a:rPr>
                        <a:t>האם מתביישת או חוששת לשאול שאלות?</a:t>
                      </a:r>
                      <a:endParaRPr lang="he-IL" sz="1600" b="1" i="0" u="none" strike="noStrike" dirty="0">
                        <a:solidFill>
                          <a:srgbClr val="20212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600" b="1" u="none" strike="noStrike">
                          <a:effectLst/>
                        </a:rPr>
                        <a:t>כן</a:t>
                      </a:r>
                      <a:endParaRPr lang="he-IL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600" b="1" u="none" strike="noStrike">
                          <a:effectLst/>
                        </a:rPr>
                        <a:t>לא</a:t>
                      </a:r>
                      <a:endParaRPr lang="he-IL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u="none" strike="noStrike" dirty="0">
                          <a:effectLst/>
                        </a:rPr>
                        <a:t> </a:t>
                      </a:r>
                      <a:endParaRPr lang="he-IL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7370426"/>
                  </a:ext>
                </a:extLst>
              </a:tr>
              <a:tr h="294620"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u="none" strike="noStrike" dirty="0">
                          <a:effectLst/>
                        </a:rPr>
                        <a:t>9</a:t>
                      </a:r>
                      <a:endParaRPr lang="he-IL" sz="1600" b="1" i="0" u="none" strike="noStrike" dirty="0">
                        <a:solidFill>
                          <a:srgbClr val="20212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600" b="1" u="none" strike="noStrike" dirty="0">
                          <a:effectLst/>
                        </a:rPr>
                        <a:t>האם חסר לך מידע לטיפול בתינוק/ת?</a:t>
                      </a:r>
                      <a:endParaRPr lang="he-IL" sz="1600" b="1" i="0" u="none" strike="noStrike" dirty="0">
                        <a:solidFill>
                          <a:srgbClr val="20212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600" b="1" u="none" strike="noStrike" dirty="0">
                          <a:effectLst/>
                        </a:rPr>
                        <a:t>כן</a:t>
                      </a:r>
                      <a:endParaRPr lang="he-IL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600" b="1" u="none" strike="noStrike">
                          <a:effectLst/>
                        </a:rPr>
                        <a:t>לא</a:t>
                      </a:r>
                      <a:endParaRPr lang="he-IL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u="none" strike="noStrike" dirty="0">
                          <a:effectLst/>
                        </a:rPr>
                        <a:t> </a:t>
                      </a:r>
                      <a:endParaRPr lang="he-IL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6913368"/>
                  </a:ext>
                </a:extLst>
              </a:tr>
              <a:tr h="426398"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u="none" strike="noStrike" dirty="0">
                          <a:effectLst/>
                        </a:rPr>
                        <a:t>10</a:t>
                      </a:r>
                      <a:endParaRPr lang="he-IL" sz="1600" b="1" i="0" u="none" strike="noStrike" dirty="0">
                        <a:solidFill>
                          <a:srgbClr val="20212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600" b="1" u="none" strike="noStrike" dirty="0">
                          <a:effectLst/>
                        </a:rPr>
                        <a:t>היכן מחפשת מידע על טיפול בתינוק/ת?</a:t>
                      </a:r>
                      <a:endParaRPr lang="he-IL" sz="1600" b="1" i="0" u="none" strike="noStrike" dirty="0">
                        <a:solidFill>
                          <a:srgbClr val="20212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600" b="1" u="none" strike="noStrike">
                          <a:effectLst/>
                        </a:rPr>
                        <a:t>קרובי משפחה</a:t>
                      </a:r>
                      <a:endParaRPr lang="he-IL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600" b="1" u="none" strike="noStrike">
                          <a:effectLst/>
                        </a:rPr>
                        <a:t>חברים</a:t>
                      </a:r>
                      <a:endParaRPr lang="he-IL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600" b="1" u="none" strike="noStrike" dirty="0">
                          <a:effectLst/>
                        </a:rPr>
                        <a:t>אחר</a:t>
                      </a:r>
                      <a:endParaRPr lang="he-IL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4171917"/>
                  </a:ext>
                </a:extLst>
              </a:tr>
              <a:tr h="426398"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u="none" strike="noStrike" dirty="0">
                          <a:effectLst/>
                        </a:rPr>
                        <a:t>11</a:t>
                      </a:r>
                      <a:endParaRPr lang="he-IL" sz="1600" b="1" i="0" u="none" strike="noStrike" dirty="0">
                        <a:solidFill>
                          <a:srgbClr val="20212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600" b="1" u="none" strike="noStrike" dirty="0">
                          <a:effectLst/>
                        </a:rPr>
                        <a:t>האם אתר אינטרנט ייעודי יכול לסייע לאימהות חדשות? </a:t>
                      </a:r>
                      <a:endParaRPr lang="he-IL" sz="1600" b="1" i="0" u="none" strike="noStrike" dirty="0">
                        <a:solidFill>
                          <a:srgbClr val="202124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600" b="1" u="none" strike="noStrike">
                          <a:effectLst/>
                        </a:rPr>
                        <a:t>כן</a:t>
                      </a:r>
                      <a:endParaRPr lang="he-IL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600" b="1" u="none" strike="noStrike">
                          <a:effectLst/>
                        </a:rPr>
                        <a:t>לא</a:t>
                      </a:r>
                      <a:endParaRPr lang="he-IL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600" b="1" u="none" strike="noStrike" dirty="0">
                          <a:effectLst/>
                        </a:rPr>
                        <a:t> </a:t>
                      </a:r>
                      <a:endParaRPr lang="he-IL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8999299"/>
                  </a:ext>
                </a:extLst>
              </a:tr>
            </a:tbl>
          </a:graphicData>
        </a:graphic>
      </p:graphicFrame>
      <p:sp>
        <p:nvSpPr>
          <p:cNvPr id="6" name="TextBox 15">
            <a:extLst>
              <a:ext uri="{FF2B5EF4-FFF2-40B4-BE49-F238E27FC236}">
                <a16:creationId xmlns:a16="http://schemas.microsoft.com/office/drawing/2014/main" id="{4A1319FC-BF43-A389-0246-BC975F35DC41}"/>
              </a:ext>
            </a:extLst>
          </p:cNvPr>
          <p:cNvSpPr txBox="1"/>
          <p:nvPr/>
        </p:nvSpPr>
        <p:spPr>
          <a:xfrm>
            <a:off x="551144" y="5798611"/>
            <a:ext cx="8151778" cy="461665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ctr" rtl="1"/>
            <a:r>
              <a:rPr lang="he-IL" sz="2400" b="1" dirty="0"/>
              <a:t>הסקר הועבר לכ-100 אימהות חדשות </a:t>
            </a:r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9194FB98-56F0-DF38-0736-B52D8FFDB6FF}"/>
              </a:ext>
            </a:extLst>
          </p:cNvPr>
          <p:cNvSpPr/>
          <p:nvPr/>
        </p:nvSpPr>
        <p:spPr>
          <a:xfrm>
            <a:off x="535318" y="883409"/>
            <a:ext cx="8100487" cy="360134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2000" b="1" dirty="0"/>
              <a:t>בנינו סקר על סמך מידע שאספנו ושיחות עם נשים במגזר הבדואי בדרום:</a:t>
            </a:r>
          </a:p>
        </p:txBody>
      </p:sp>
    </p:spTree>
    <p:extLst>
      <p:ext uri="{BB962C8B-B14F-4D97-AF65-F5344CB8AC3E}">
        <p14:creationId xmlns:p14="http://schemas.microsoft.com/office/powerpoint/2010/main" val="1862091252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Rectangle 2"/>
          <p:cNvSpPr txBox="1">
            <a:spLocks noChangeArrowheads="1"/>
          </p:cNvSpPr>
          <p:nvPr/>
        </p:nvSpPr>
        <p:spPr bwMode="auto">
          <a:xfrm>
            <a:off x="1028588" y="177513"/>
            <a:ext cx="7498080" cy="948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54000" tIns="54000" rIns="54000" bIns="54000" anchor="ctr"/>
          <a:lstStyle/>
          <a:p>
            <a:pPr algn="ctr" rtl="1" eaLnBrk="1" hangingPunct="1">
              <a:defRPr/>
            </a:pPr>
            <a:r>
              <a:rPr lang="he-IL" sz="2400" b="1" u="sng" dirty="0">
                <a:latin typeface="Times New Roman" pitchFamily="18" charset="0"/>
              </a:rPr>
              <a:t>תיאור הצורך באתר אינטרנט-סקר אימהות חדשות</a:t>
            </a:r>
          </a:p>
          <a:p>
            <a:pPr algn="ctr" rtl="1" eaLnBrk="1" hangingPunct="1">
              <a:defRPr/>
            </a:pPr>
            <a:r>
              <a:rPr lang="he-IL" sz="2400" b="1" i="0" u="none" strike="noStrike" kern="1200" spc="0" baseline="0" dirty="0"/>
              <a:t>גיל האם מול ילד ראשון</a:t>
            </a:r>
          </a:p>
          <a:p>
            <a:pPr algn="ctr" rtl="1" eaLnBrk="1" hangingPunct="1">
              <a:defRPr/>
            </a:pPr>
            <a:r>
              <a:rPr lang="he-IL" sz="1600" b="1" dirty="0"/>
              <a:t>(שאלה 1-2)</a:t>
            </a:r>
            <a:r>
              <a:rPr lang="he-IL" sz="1600" b="1" i="0" u="none" strike="noStrike" kern="1200" spc="0" baseline="0" dirty="0"/>
              <a:t> </a:t>
            </a:r>
            <a:endParaRPr lang="he-IL" sz="2400" b="1" u="sng" dirty="0">
              <a:latin typeface="Times New Roman" pitchFamily="18" charset="0"/>
            </a:endParaRPr>
          </a:p>
        </p:txBody>
      </p:sp>
      <p:sp>
        <p:nvSpPr>
          <p:cNvPr id="2057" name="מציין מיקום של כותרת תחתונה 8"/>
          <p:cNvSpPr>
            <a:spLocks noGrp="1"/>
          </p:cNvSpPr>
          <p:nvPr>
            <p:ph type="ftr" sz="quarter" idx="11"/>
          </p:nvPr>
        </p:nvSpPr>
        <p:spPr>
          <a:xfrm>
            <a:off x="2832578" y="6494659"/>
            <a:ext cx="3858670" cy="342900"/>
          </a:xfrm>
          <a:noFill/>
        </p:spPr>
        <p:txBody>
          <a:bodyPr/>
          <a:lstStyle/>
          <a:p>
            <a:pPr rtl="1">
              <a:spcBef>
                <a:spcPct val="20000"/>
              </a:spcBef>
            </a:pPr>
            <a:r>
              <a:rPr lang="he-IL" b="1" dirty="0">
                <a:solidFill>
                  <a:schemeClr val="tx1"/>
                </a:solidFill>
              </a:rPr>
              <a:t>אתר אינטרנט לאימהות חדשות                     </a:t>
            </a:r>
            <a:endParaRPr lang="en-US" b="1" dirty="0">
              <a:solidFill>
                <a:schemeClr val="tx1"/>
              </a:solidFill>
            </a:endParaRPr>
          </a:p>
          <a:p>
            <a:pPr rtl="1">
              <a:spcBef>
                <a:spcPct val="20000"/>
              </a:spcBef>
            </a:pPr>
            <a:r>
              <a:rPr lang="en-US" b="1" dirty="0">
                <a:solidFill>
                  <a:schemeClr val="tx1"/>
                </a:solidFill>
              </a:rPr>
              <a:t>Navon-13-2024-sem1</a:t>
            </a:r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DEAAF544-2BD2-7996-B196-DE72227999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794" y="0"/>
            <a:ext cx="978206" cy="876849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1CF56178-142D-42FB-927A-F90FA1B29C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770"/>
            <a:ext cx="862087" cy="756802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" name="מציין מיקום של מספר שקופית 1">
            <a:extLst>
              <a:ext uri="{FF2B5EF4-FFF2-40B4-BE49-F238E27FC236}">
                <a16:creationId xmlns:a16="http://schemas.microsoft.com/office/drawing/2014/main" id="{81CCDB81-AF1D-95FB-B70C-A2B9D35FE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510" y="6341884"/>
            <a:ext cx="2057400" cy="365125"/>
          </a:xfrm>
        </p:spPr>
        <p:txBody>
          <a:bodyPr/>
          <a:lstStyle/>
          <a:p>
            <a:pPr algn="l"/>
            <a:fld id="{F406CD6C-EFBE-497B-B02F-71827CD8C8E4}" type="slidenum">
              <a:rPr lang="he-IL" smtClean="0"/>
              <a:pPr algn="l"/>
              <a:t>6</a:t>
            </a:fld>
            <a:endParaRPr lang="he-IL"/>
          </a:p>
        </p:txBody>
      </p:sp>
      <p:sp>
        <p:nvSpPr>
          <p:cNvPr id="6" name="TextBox 15">
            <a:extLst>
              <a:ext uri="{FF2B5EF4-FFF2-40B4-BE49-F238E27FC236}">
                <a16:creationId xmlns:a16="http://schemas.microsoft.com/office/drawing/2014/main" id="{93DE0FB8-08CB-0C6E-58CB-8BED72B5DF19}"/>
              </a:ext>
            </a:extLst>
          </p:cNvPr>
          <p:cNvSpPr txBox="1"/>
          <p:nvPr/>
        </p:nvSpPr>
        <p:spPr>
          <a:xfrm>
            <a:off x="1097280" y="5523202"/>
            <a:ext cx="7360697" cy="830997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ctr" rtl="1"/>
            <a:r>
              <a:rPr lang="he-IL" sz="2400" b="1" dirty="0"/>
              <a:t>76% מהאימהות הן בקבוצת גיל 18-25 </a:t>
            </a:r>
          </a:p>
          <a:p>
            <a:pPr algn="ctr" rtl="1"/>
            <a:r>
              <a:rPr lang="he-IL" sz="2400" b="1" dirty="0"/>
              <a:t>78% מהאימהות הן אימהות חדשות</a:t>
            </a:r>
          </a:p>
        </p:txBody>
      </p:sp>
      <p:graphicFrame>
        <p:nvGraphicFramePr>
          <p:cNvPr id="9" name="תרשים 8">
            <a:extLst>
              <a:ext uri="{FF2B5EF4-FFF2-40B4-BE49-F238E27FC236}">
                <a16:creationId xmlns:a16="http://schemas.microsoft.com/office/drawing/2014/main" id="{65CE9993-39D5-A900-D42E-793B6232A02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38292062"/>
              </p:ext>
            </p:extLst>
          </p:nvPr>
        </p:nvGraphicFramePr>
        <p:xfrm>
          <a:off x="686023" y="1266093"/>
          <a:ext cx="8035945" cy="42625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089049861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Rectangle 2"/>
          <p:cNvSpPr txBox="1">
            <a:spLocks noChangeArrowheads="1"/>
          </p:cNvSpPr>
          <p:nvPr/>
        </p:nvSpPr>
        <p:spPr bwMode="auto">
          <a:xfrm>
            <a:off x="1541419" y="171689"/>
            <a:ext cx="6440987" cy="594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54000" tIns="54000" rIns="54000" bIns="54000" anchor="ctr"/>
          <a:lstStyle/>
          <a:p>
            <a:pPr algn="ctr" rtl="1">
              <a:lnSpc>
                <a:spcPts val="1400"/>
              </a:lnSpc>
              <a:spcBef>
                <a:spcPct val="50000"/>
              </a:spcBef>
            </a:pPr>
            <a:r>
              <a:rPr lang="he-IL" sz="2400" b="1" u="sng" dirty="0"/>
              <a:t>תיאור הצורך באתר אינטרנט-סקר אימהות חדשות </a:t>
            </a:r>
          </a:p>
          <a:p>
            <a:pPr algn="ctr" rtl="1">
              <a:lnSpc>
                <a:spcPts val="1400"/>
              </a:lnSpc>
              <a:spcBef>
                <a:spcPct val="50000"/>
              </a:spcBef>
            </a:pPr>
            <a:r>
              <a:rPr lang="he-IL" sz="2400" b="1" u="sng" dirty="0"/>
              <a:t>שאלות 3,8</a:t>
            </a:r>
          </a:p>
        </p:txBody>
      </p:sp>
      <p:sp>
        <p:nvSpPr>
          <p:cNvPr id="2057" name="מציין מיקום של כותרת תחתונה 8"/>
          <p:cNvSpPr>
            <a:spLocks noGrp="1"/>
          </p:cNvSpPr>
          <p:nvPr>
            <p:ph type="ftr" sz="quarter" idx="11"/>
          </p:nvPr>
        </p:nvSpPr>
        <p:spPr>
          <a:xfrm>
            <a:off x="2832578" y="6494659"/>
            <a:ext cx="3858670" cy="342900"/>
          </a:xfrm>
          <a:noFill/>
        </p:spPr>
        <p:txBody>
          <a:bodyPr/>
          <a:lstStyle/>
          <a:p>
            <a:pPr rtl="1">
              <a:spcBef>
                <a:spcPct val="20000"/>
              </a:spcBef>
            </a:pPr>
            <a:r>
              <a:rPr lang="he-IL" b="1" dirty="0">
                <a:solidFill>
                  <a:schemeClr val="tx1"/>
                </a:solidFill>
              </a:rPr>
              <a:t>אתר אינטרנט לאימהות חדשות                     </a:t>
            </a:r>
            <a:endParaRPr lang="en-US" b="1" dirty="0">
              <a:solidFill>
                <a:schemeClr val="tx1"/>
              </a:solidFill>
            </a:endParaRPr>
          </a:p>
          <a:p>
            <a:pPr rtl="1">
              <a:spcBef>
                <a:spcPct val="20000"/>
              </a:spcBef>
            </a:pPr>
            <a:r>
              <a:rPr lang="en-US" b="1" dirty="0">
                <a:solidFill>
                  <a:schemeClr val="tx1"/>
                </a:solidFill>
              </a:rPr>
              <a:t>Navon-13-2024-sem1</a:t>
            </a:r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DEAAF544-2BD2-7996-B196-DE72227999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794" y="0"/>
            <a:ext cx="978206" cy="816826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1CF56178-142D-42FB-927A-F90FA1B29C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39" y="6525"/>
            <a:ext cx="862087" cy="756802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7402B074-3020-FC99-48E9-19C2F50CF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510" y="6341884"/>
            <a:ext cx="2057400" cy="365125"/>
          </a:xfrm>
        </p:spPr>
        <p:txBody>
          <a:bodyPr/>
          <a:lstStyle/>
          <a:p>
            <a:pPr algn="l"/>
            <a:fld id="{F406CD6C-EFBE-497B-B02F-71827CD8C8E4}" type="slidenum">
              <a:rPr lang="he-IL" smtClean="0"/>
              <a:pPr algn="l"/>
              <a:t>7</a:t>
            </a:fld>
            <a:endParaRPr lang="he-IL" dirty="0"/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7CBFB8F4-0FF9-2EE7-C450-D13A1CD77F29}"/>
              </a:ext>
            </a:extLst>
          </p:cNvPr>
          <p:cNvSpPr txBox="1"/>
          <p:nvPr/>
        </p:nvSpPr>
        <p:spPr>
          <a:xfrm>
            <a:off x="5044389" y="5601116"/>
            <a:ext cx="4099611" cy="923330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1">
            <a:spAutoFit/>
          </a:bodyPr>
          <a:lstStyle>
            <a:defPPr>
              <a:defRPr lang="en-US"/>
            </a:defPPr>
            <a:lvl1pPr algn="ctr" rtl="1">
              <a:defRPr sz="14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ctr" rtl="1"/>
            <a:r>
              <a:rPr lang="he-IL" sz="1800" b="1" dirty="0"/>
              <a:t>32% מהאימהות בקבוצת גיל 18-25 נשואות 0-1 שנה, </a:t>
            </a:r>
          </a:p>
          <a:p>
            <a:pPr algn="ctr" rtl="1"/>
            <a:r>
              <a:rPr lang="he-IL" sz="1800" b="1" dirty="0"/>
              <a:t>52% בקבוצת גיל 18-25 נשואות 2+ שנים</a:t>
            </a:r>
          </a:p>
        </p:txBody>
      </p:sp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63AED9BB-3562-81B0-6FFA-22217AC6128D}"/>
              </a:ext>
            </a:extLst>
          </p:cNvPr>
          <p:cNvSpPr txBox="1"/>
          <p:nvPr/>
        </p:nvSpPr>
        <p:spPr>
          <a:xfrm>
            <a:off x="288510" y="5589710"/>
            <a:ext cx="4105827" cy="923330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1">
            <a:spAutoFit/>
          </a:bodyPr>
          <a:lstStyle>
            <a:defPPr>
              <a:defRPr lang="en-US"/>
            </a:defPPr>
            <a:lvl1pPr algn="ctr" rtl="1">
              <a:defRPr b="1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he-IL" dirty="0"/>
              <a:t>26% מתביישות או חוששות לשאול</a:t>
            </a:r>
          </a:p>
          <a:p>
            <a:r>
              <a:rPr lang="he-IL" dirty="0"/>
              <a:t> </a:t>
            </a:r>
          </a:p>
          <a:p>
            <a:r>
              <a:rPr lang="he-IL" dirty="0"/>
              <a:t> 74% לא מתביישות לשאול שאלות</a:t>
            </a:r>
          </a:p>
        </p:txBody>
      </p:sp>
      <p:sp>
        <p:nvSpPr>
          <p:cNvPr id="2" name="TextBox 15">
            <a:extLst>
              <a:ext uri="{FF2B5EF4-FFF2-40B4-BE49-F238E27FC236}">
                <a16:creationId xmlns:a16="http://schemas.microsoft.com/office/drawing/2014/main" id="{03D8330C-AE7A-7DAA-5957-48243FEC50EA}"/>
              </a:ext>
            </a:extLst>
          </p:cNvPr>
          <p:cNvSpPr txBox="1"/>
          <p:nvPr/>
        </p:nvSpPr>
        <p:spPr>
          <a:xfrm>
            <a:off x="236520" y="822231"/>
            <a:ext cx="4295282" cy="1015663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ctr" rtl="1"/>
            <a:r>
              <a:rPr lang="he-IL" b="1" dirty="0"/>
              <a:t>שאלה 8:</a:t>
            </a:r>
          </a:p>
          <a:p>
            <a:pPr algn="ctr" rtl="1"/>
            <a:r>
              <a:rPr lang="he-IL" b="1" dirty="0"/>
              <a:t>האם מתביישת או חוששת לשאול שאלות?</a:t>
            </a:r>
          </a:p>
          <a:p>
            <a:pPr algn="ctr" rtl="1"/>
            <a:endParaRPr lang="he-IL" sz="2400" b="1" dirty="0"/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54FA5FE7-1B23-4853-FF96-9148625A506D}"/>
              </a:ext>
            </a:extLst>
          </p:cNvPr>
          <p:cNvSpPr/>
          <p:nvPr/>
        </p:nvSpPr>
        <p:spPr>
          <a:xfrm>
            <a:off x="4912440" y="836816"/>
            <a:ext cx="4075719" cy="923330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ctr" rtl="1"/>
            <a:r>
              <a:rPr lang="he-IL" sz="1800" b="1" u="none" strike="noStrike" dirty="0">
                <a:effectLst/>
              </a:rPr>
              <a:t>שאלה 3:</a:t>
            </a:r>
          </a:p>
          <a:p>
            <a:pPr algn="ctr" rtl="1"/>
            <a:r>
              <a:rPr lang="he-IL" sz="1800" b="1" u="none" strike="noStrike" dirty="0">
                <a:effectLst/>
              </a:rPr>
              <a:t> כמה זמן נשואה </a:t>
            </a:r>
          </a:p>
          <a:p>
            <a:pPr algn="ctr" rtl="1"/>
            <a:r>
              <a:rPr lang="he-IL" sz="1800" b="1" u="none" strike="noStrike" dirty="0">
                <a:effectLst/>
              </a:rPr>
              <a:t>בחתך קבוצת גיל </a:t>
            </a:r>
            <a:r>
              <a:rPr lang="he-IL" sz="1800" b="1" i="0" dirty="0">
                <a:solidFill>
                  <a:srgbClr val="000000"/>
                </a:solidFill>
                <a:latin typeface="Arial" panose="020B0604020202020204" pitchFamily="34" charset="0"/>
              </a:rPr>
              <a:t>אימהות לילד ראשון?</a:t>
            </a:r>
            <a:endParaRPr lang="he-IL" sz="18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תרשים 5">
            <a:extLst>
              <a:ext uri="{FF2B5EF4-FFF2-40B4-BE49-F238E27FC236}">
                <a16:creationId xmlns:a16="http://schemas.microsoft.com/office/drawing/2014/main" id="{B4D24531-692C-C651-15C0-2B0F885518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5442681"/>
              </p:ext>
            </p:extLst>
          </p:nvPr>
        </p:nvGraphicFramePr>
        <p:xfrm>
          <a:off x="4641442" y="1815557"/>
          <a:ext cx="4099612" cy="37446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תרשים 12">
            <a:extLst>
              <a:ext uri="{FF2B5EF4-FFF2-40B4-BE49-F238E27FC236}">
                <a16:creationId xmlns:a16="http://schemas.microsoft.com/office/drawing/2014/main" id="{0F3EA8E4-C8BF-453A-BF46-CE83F609A5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22757777"/>
              </p:ext>
            </p:extLst>
          </p:nvPr>
        </p:nvGraphicFramePr>
        <p:xfrm>
          <a:off x="4584655" y="1815556"/>
          <a:ext cx="4403505" cy="37446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8" name="תרשים 7">
            <a:extLst>
              <a:ext uri="{FF2B5EF4-FFF2-40B4-BE49-F238E27FC236}">
                <a16:creationId xmlns:a16="http://schemas.microsoft.com/office/drawing/2014/main" id="{666DF055-83DA-B7B2-C39F-347370D16C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1652564"/>
              </p:ext>
            </p:extLst>
          </p:nvPr>
        </p:nvGraphicFramePr>
        <p:xfrm>
          <a:off x="155842" y="1734275"/>
          <a:ext cx="4295282" cy="36909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3973289947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תחתונה 1">
            <a:extLst>
              <a:ext uri="{FF2B5EF4-FFF2-40B4-BE49-F238E27FC236}">
                <a16:creationId xmlns:a16="http://schemas.microsoft.com/office/drawing/2014/main" id="{1307940F-0E3B-08D0-0911-72EC034C9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492875"/>
            <a:ext cx="3086100" cy="365125"/>
          </a:xfrm>
        </p:spPr>
        <p:txBody>
          <a:bodyPr/>
          <a:lstStyle/>
          <a:p>
            <a:r>
              <a:rPr lang="he-IL" b="1" dirty="0">
                <a:solidFill>
                  <a:schemeClr val="tx1"/>
                </a:solidFill>
              </a:rPr>
              <a:t>אתר אינטרנט לאימהות טריות                      </a:t>
            </a:r>
            <a:r>
              <a:rPr lang="en-US" b="1" dirty="0">
                <a:solidFill>
                  <a:schemeClr val="tx1"/>
                </a:solidFill>
              </a:rPr>
              <a:t>Navon-13-2024-sem1</a:t>
            </a:r>
            <a:endParaRPr lang="he-IL" b="1" dirty="0">
              <a:solidFill>
                <a:schemeClr val="tx1"/>
              </a:solidFill>
            </a:endParaRPr>
          </a:p>
        </p:txBody>
      </p:sp>
      <p:sp>
        <p:nvSpPr>
          <p:cNvPr id="3" name="מציין מיקום של מספר שקופית 2">
            <a:extLst>
              <a:ext uri="{FF2B5EF4-FFF2-40B4-BE49-F238E27FC236}">
                <a16:creationId xmlns:a16="http://schemas.microsoft.com/office/drawing/2014/main" id="{FD818957-6CE8-E4F6-602E-45E703671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1556" y="6356351"/>
            <a:ext cx="2057400" cy="365125"/>
          </a:xfrm>
        </p:spPr>
        <p:txBody>
          <a:bodyPr/>
          <a:lstStyle/>
          <a:p>
            <a:pPr algn="l"/>
            <a:fld id="{F406CD6C-EFBE-497B-B02F-71827CD8C8E4}" type="slidenum">
              <a:rPr lang="he-IL" smtClean="0"/>
              <a:pPr algn="l"/>
              <a:t>8</a:t>
            </a:fld>
            <a:endParaRPr lang="he-IL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71FF915-6B4B-DA93-2FEE-B6AA23DD7C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6578" y="136524"/>
            <a:ext cx="6229602" cy="9592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54000" tIns="54000" rIns="54000" bIns="54000" anchor="ctr"/>
          <a:lstStyle/>
          <a:p>
            <a:pPr algn="ctr" rtl="1">
              <a:lnSpc>
                <a:spcPts val="1400"/>
              </a:lnSpc>
              <a:spcBef>
                <a:spcPct val="50000"/>
              </a:spcBef>
            </a:pPr>
            <a:r>
              <a:rPr lang="he-IL" sz="2400" b="1" u="sng" dirty="0"/>
              <a:t>תיאור הצורך באתר אינטרנט- סקר אימהות חדשות</a:t>
            </a:r>
          </a:p>
          <a:p>
            <a:pPr algn="ctr" rtl="1">
              <a:lnSpc>
                <a:spcPts val="1400"/>
              </a:lnSpc>
              <a:spcBef>
                <a:spcPct val="50000"/>
              </a:spcBef>
            </a:pPr>
            <a:r>
              <a:rPr lang="he-IL" sz="2400" b="1" u="none" strike="noStrike" dirty="0">
                <a:effectLst/>
              </a:rPr>
              <a:t>(שאל</a:t>
            </a:r>
            <a:r>
              <a:rPr lang="he-IL" sz="2400" b="1" dirty="0"/>
              <a:t>ות 7-4 ו-9)</a:t>
            </a:r>
            <a:endParaRPr lang="he-IL" sz="24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ctr" rtl="1">
              <a:lnSpc>
                <a:spcPts val="1400"/>
              </a:lnSpc>
              <a:spcBef>
                <a:spcPct val="50000"/>
              </a:spcBef>
            </a:pPr>
            <a:endParaRPr lang="he-IL" sz="2400" b="1" u="sng" dirty="0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D0DE5F2C-CC06-F7D6-E229-1FDDE4F5D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7283" y="90969"/>
            <a:ext cx="994047" cy="756802"/>
          </a:xfrm>
          <a:prstGeom prst="rect">
            <a:avLst/>
          </a:prstGeom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535470A5-D22A-98FE-5205-D4E43D8C16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62087" cy="756802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8" name="TextBox 15">
            <a:extLst>
              <a:ext uri="{FF2B5EF4-FFF2-40B4-BE49-F238E27FC236}">
                <a16:creationId xmlns:a16="http://schemas.microsoft.com/office/drawing/2014/main" id="{C4EC2285-092B-DB5B-1EA8-64BA2AE24FDC}"/>
              </a:ext>
            </a:extLst>
          </p:cNvPr>
          <p:cNvSpPr txBox="1"/>
          <p:nvPr/>
        </p:nvSpPr>
        <p:spPr>
          <a:xfrm>
            <a:off x="218927" y="4842770"/>
            <a:ext cx="5071403" cy="1477328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r" rtl="1"/>
            <a:r>
              <a:rPr lang="he-IL" b="1" u="sng" dirty="0"/>
              <a:t>שאלה 4:</a:t>
            </a:r>
            <a:r>
              <a:rPr lang="he-IL" b="1" dirty="0"/>
              <a:t> ניסיון בגידול תינוק 61% יש ו-39% אין</a:t>
            </a:r>
          </a:p>
          <a:p>
            <a:pPr algn="r" rtl="1"/>
            <a:r>
              <a:rPr lang="he-IL" b="1" u="sng" dirty="0"/>
              <a:t>שאלה 5:</a:t>
            </a:r>
            <a:r>
              <a:rPr lang="he-IL" b="1" dirty="0"/>
              <a:t> </a:t>
            </a:r>
            <a:r>
              <a:rPr lang="he-IL" sz="1800" b="1" u="none" strike="noStrike" dirty="0">
                <a:effectLst/>
              </a:rPr>
              <a:t>קבלת הדרכה כלשהי לטיפול בתינוק:</a:t>
            </a:r>
          </a:p>
          <a:p>
            <a:pPr algn="r" rtl="1"/>
            <a:r>
              <a:rPr lang="he-IL" b="1" dirty="0"/>
              <a:t> 79% כן, 21% לא </a:t>
            </a:r>
          </a:p>
          <a:p>
            <a:pPr algn="r" rtl="1"/>
            <a:r>
              <a:rPr lang="he-IL" b="1" u="sng" dirty="0"/>
              <a:t>שאלה 6:</a:t>
            </a:r>
            <a:r>
              <a:rPr lang="he-IL" b="1" dirty="0"/>
              <a:t> </a:t>
            </a:r>
            <a:r>
              <a:rPr lang="he-IL" sz="1800" b="1" u="none" strike="noStrike" dirty="0">
                <a:effectLst/>
              </a:rPr>
              <a:t>האם ההדרכה הייתה מקרובי משפחה? </a:t>
            </a:r>
            <a:endParaRPr lang="he-IL" sz="1800" b="1" i="0" u="none" strike="noStrike" dirty="0">
              <a:solidFill>
                <a:srgbClr val="202124"/>
              </a:solidFill>
              <a:effectLst/>
              <a:latin typeface="Arial" panose="020B0604020202020204" pitchFamily="34" charset="0"/>
            </a:endParaRPr>
          </a:p>
          <a:p>
            <a:pPr algn="r" rtl="1"/>
            <a:r>
              <a:rPr lang="he-IL" b="1" dirty="0"/>
              <a:t>78%  כן, 22% לא</a:t>
            </a:r>
          </a:p>
        </p:txBody>
      </p:sp>
      <p:graphicFrame>
        <p:nvGraphicFramePr>
          <p:cNvPr id="10" name="תרשים 9">
            <a:extLst>
              <a:ext uri="{FF2B5EF4-FFF2-40B4-BE49-F238E27FC236}">
                <a16:creationId xmlns:a16="http://schemas.microsoft.com/office/drawing/2014/main" id="{BC50E3C9-398E-44D6-B90A-C354B1C5A8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33333554"/>
              </p:ext>
            </p:extLst>
          </p:nvPr>
        </p:nvGraphicFramePr>
        <p:xfrm>
          <a:off x="397597" y="972737"/>
          <a:ext cx="8348806" cy="40288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Box 15">
            <a:extLst>
              <a:ext uri="{FF2B5EF4-FFF2-40B4-BE49-F238E27FC236}">
                <a16:creationId xmlns:a16="http://schemas.microsoft.com/office/drawing/2014/main" id="{884C742B-6DD1-3A53-7F67-0C695D064BFE}"/>
              </a:ext>
            </a:extLst>
          </p:cNvPr>
          <p:cNvSpPr txBox="1"/>
          <p:nvPr/>
        </p:nvSpPr>
        <p:spPr>
          <a:xfrm>
            <a:off x="5360670" y="4842770"/>
            <a:ext cx="3706836" cy="1477328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r" rtl="1"/>
            <a:r>
              <a:rPr lang="he-IL" b="1" u="sng" dirty="0"/>
              <a:t>שאלה 7:</a:t>
            </a:r>
            <a:r>
              <a:rPr lang="he-IL" b="1" dirty="0"/>
              <a:t> </a:t>
            </a:r>
            <a:r>
              <a:rPr lang="he-IL" sz="1800" b="1" u="none" strike="noStrike" dirty="0">
                <a:effectLst/>
              </a:rPr>
              <a:t>קושי להתמודד עם התינוק בלי עזרה: 89%</a:t>
            </a:r>
            <a:r>
              <a:rPr lang="he-IL" b="1" dirty="0"/>
              <a:t>  כן ,11% לא</a:t>
            </a:r>
          </a:p>
          <a:p>
            <a:pPr algn="r" rtl="1"/>
            <a:endParaRPr lang="he-IL" b="1" dirty="0"/>
          </a:p>
          <a:p>
            <a:pPr algn="r" rtl="1"/>
            <a:r>
              <a:rPr lang="he-IL" b="1" u="sng" dirty="0"/>
              <a:t>שאלה 9:</a:t>
            </a:r>
            <a:r>
              <a:rPr lang="he-IL" b="1" dirty="0"/>
              <a:t> </a:t>
            </a:r>
            <a:r>
              <a:rPr lang="he-IL" sz="1800" b="1" u="none" strike="noStrike" dirty="0">
                <a:effectLst/>
              </a:rPr>
              <a:t>חסר לך מידע לטיפול בתינוק/ת?:</a:t>
            </a:r>
            <a:r>
              <a:rPr lang="he-IL" b="1" dirty="0"/>
              <a:t> 70% כן, 30%לא .</a:t>
            </a:r>
          </a:p>
        </p:txBody>
      </p:sp>
    </p:spTree>
    <p:extLst>
      <p:ext uri="{BB962C8B-B14F-4D97-AF65-F5344CB8AC3E}">
        <p14:creationId xmlns:p14="http://schemas.microsoft.com/office/powerpoint/2010/main" val="2644208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מציין מיקום של כותרת תחתונה 8"/>
          <p:cNvSpPr>
            <a:spLocks noGrp="1"/>
          </p:cNvSpPr>
          <p:nvPr>
            <p:ph type="ftr" sz="quarter" idx="11"/>
          </p:nvPr>
        </p:nvSpPr>
        <p:spPr>
          <a:xfrm>
            <a:off x="2832578" y="6494659"/>
            <a:ext cx="3858670" cy="342900"/>
          </a:xfrm>
          <a:noFill/>
        </p:spPr>
        <p:txBody>
          <a:bodyPr/>
          <a:lstStyle/>
          <a:p>
            <a:pPr rtl="1">
              <a:spcBef>
                <a:spcPct val="20000"/>
              </a:spcBef>
            </a:pPr>
            <a:r>
              <a:rPr lang="he-IL" b="1" dirty="0">
                <a:solidFill>
                  <a:schemeClr val="tx1"/>
                </a:solidFill>
              </a:rPr>
              <a:t>אתר אינטרנט לאימהות חדשות                     </a:t>
            </a:r>
            <a:endParaRPr lang="en-US" b="1" dirty="0">
              <a:solidFill>
                <a:schemeClr val="tx1"/>
              </a:solidFill>
            </a:endParaRPr>
          </a:p>
          <a:p>
            <a:pPr rtl="1">
              <a:spcBef>
                <a:spcPct val="20000"/>
              </a:spcBef>
            </a:pPr>
            <a:r>
              <a:rPr lang="en-US" b="1" dirty="0">
                <a:solidFill>
                  <a:schemeClr val="tx1"/>
                </a:solidFill>
              </a:rPr>
              <a:t>Navon-13-2024-sem1</a:t>
            </a:r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DEAAF544-2BD2-7996-B196-DE72227999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794" y="0"/>
            <a:ext cx="978206" cy="876849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1CF56178-142D-42FB-927A-F90FA1B29C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50" y="32231"/>
            <a:ext cx="862087" cy="756802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" name="Text Box 6">
            <a:extLst>
              <a:ext uri="{FF2B5EF4-FFF2-40B4-BE49-F238E27FC236}">
                <a16:creationId xmlns:a16="http://schemas.microsoft.com/office/drawing/2014/main" id="{0ABD4892-B720-B921-375E-8684C4760A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7960" y="-54984"/>
            <a:ext cx="7157834" cy="9077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54000" tIns="54000" rIns="54000" bIns="54000" anchor="ctr"/>
          <a:lstStyle>
            <a:defPPr>
              <a:defRPr lang="en-US"/>
            </a:defPPr>
            <a:lvl1pPr algn="ctr" rtl="1">
              <a:lnSpc>
                <a:spcPts val="1400"/>
              </a:lnSpc>
              <a:spcBef>
                <a:spcPct val="50000"/>
              </a:spcBef>
              <a:defRPr sz="2400" b="1" u="sng"/>
            </a:lvl1pPr>
            <a:lvl2pPr marL="4572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r>
              <a:rPr lang="he-IL" dirty="0"/>
              <a:t>תיאור הצורך </a:t>
            </a:r>
            <a:r>
              <a:rPr lang="he-IL" sz="2400" b="1" u="sng" dirty="0">
                <a:latin typeface="Times New Roman" pitchFamily="18" charset="0"/>
              </a:rPr>
              <a:t>באתר אינטרנט-סקר אימהות חדשות</a:t>
            </a:r>
            <a:endParaRPr lang="he-IL" sz="2000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7D910093-5DBC-3502-47E8-81DFF9F7E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510" y="6300984"/>
            <a:ext cx="2057400" cy="365125"/>
          </a:xfrm>
        </p:spPr>
        <p:txBody>
          <a:bodyPr/>
          <a:lstStyle/>
          <a:p>
            <a:pPr algn="l"/>
            <a:fld id="{F406CD6C-EFBE-497B-B02F-71827CD8C8E4}" type="slidenum">
              <a:rPr lang="he-IL" smtClean="0"/>
              <a:pPr algn="l"/>
              <a:t>9</a:t>
            </a:fld>
            <a:endParaRPr lang="he-IL"/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3386145A-7937-C381-74C0-36FC489FCA57}"/>
              </a:ext>
            </a:extLst>
          </p:cNvPr>
          <p:cNvSpPr txBox="1"/>
          <p:nvPr/>
        </p:nvSpPr>
        <p:spPr>
          <a:xfrm>
            <a:off x="842448" y="5695321"/>
            <a:ext cx="3493592" cy="954107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1">
            <a:spAutoFit/>
          </a:bodyPr>
          <a:lstStyle>
            <a:defPPr>
              <a:defRPr lang="en-US"/>
            </a:defPPr>
            <a:lvl1pPr algn="ctr" rtl="1">
              <a:defRPr sz="24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he-IL" sz="1800" b="1" dirty="0"/>
              <a:t>94% השיבו כן-</a:t>
            </a:r>
          </a:p>
          <a:p>
            <a:endParaRPr lang="he-IL" sz="1800" b="1" dirty="0"/>
          </a:p>
          <a:p>
            <a:r>
              <a:rPr lang="he-IL" sz="2000" b="1" dirty="0"/>
              <a:t>אתר ייעודי יכול לסייע</a:t>
            </a:r>
          </a:p>
        </p:txBody>
      </p:sp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A125EED1-4842-3C57-EB51-0929242E7DCA}"/>
              </a:ext>
            </a:extLst>
          </p:cNvPr>
          <p:cNvSpPr txBox="1"/>
          <p:nvPr/>
        </p:nvSpPr>
        <p:spPr>
          <a:xfrm>
            <a:off x="842448" y="727012"/>
            <a:ext cx="3493592" cy="1015663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1">
            <a:spAutoFit/>
          </a:bodyPr>
          <a:lstStyle>
            <a:defPPr>
              <a:defRPr lang="en-US"/>
            </a:defPPr>
            <a:lvl1pPr algn="ctr" rtl="1">
              <a:defRPr sz="24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he-IL" sz="2000" b="1" dirty="0"/>
              <a:t>שאלה 11:</a:t>
            </a:r>
          </a:p>
          <a:p>
            <a:r>
              <a:rPr lang="he-IL" sz="2000" b="1" dirty="0"/>
              <a:t>האם אתר אינטרנט ייעודי יכול לסייע לאימהות חדשות? </a:t>
            </a:r>
          </a:p>
        </p:txBody>
      </p:sp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7F522016-92AE-988F-9301-26F3640705D5}"/>
              </a:ext>
            </a:extLst>
          </p:cNvPr>
          <p:cNvSpPr txBox="1"/>
          <p:nvPr/>
        </p:nvSpPr>
        <p:spPr>
          <a:xfrm>
            <a:off x="4761913" y="747479"/>
            <a:ext cx="3609703" cy="1015663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1">
            <a:spAutoFit/>
          </a:bodyPr>
          <a:lstStyle>
            <a:defPPr>
              <a:defRPr lang="en-US"/>
            </a:defPPr>
            <a:lvl1pPr algn="ctr" rtl="1">
              <a:defRPr sz="24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ctr" rtl="1"/>
            <a:r>
              <a:rPr lang="he-IL" sz="2000" b="1" dirty="0">
                <a:solidFill>
                  <a:schemeClr val="dk1"/>
                </a:solidFill>
              </a:rPr>
              <a:t>שאלה 10: </a:t>
            </a:r>
          </a:p>
          <a:p>
            <a:pPr algn="ctr" rtl="1"/>
            <a:r>
              <a:rPr lang="he-IL" sz="2000" b="1" dirty="0">
                <a:solidFill>
                  <a:schemeClr val="dk1"/>
                </a:solidFill>
              </a:rPr>
              <a:t>היכן מחפשת מידע על טיפול בתינוק/ת?</a:t>
            </a:r>
          </a:p>
        </p:txBody>
      </p:sp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8E903C04-4E44-8645-CA4C-CD62FF1C3E10}"/>
              </a:ext>
            </a:extLst>
          </p:cNvPr>
          <p:cNvSpPr txBox="1"/>
          <p:nvPr/>
        </p:nvSpPr>
        <p:spPr>
          <a:xfrm>
            <a:off x="4855803" y="5704191"/>
            <a:ext cx="3609703" cy="923330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1">
            <a:spAutoFit/>
          </a:bodyPr>
          <a:lstStyle>
            <a:defPPr>
              <a:defRPr lang="en-US"/>
            </a:defPPr>
            <a:lvl1pPr algn="ctr" rtl="1">
              <a:defRPr sz="14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r"/>
            <a:r>
              <a:rPr lang="he-IL" sz="1800" b="1" dirty="0"/>
              <a:t>84% נעזרות בקרובי משפחה </a:t>
            </a:r>
          </a:p>
          <a:p>
            <a:pPr algn="r"/>
            <a:r>
              <a:rPr lang="he-IL" sz="1800" b="1" dirty="0"/>
              <a:t>7% בחברים ו-9% באחר</a:t>
            </a:r>
          </a:p>
          <a:p>
            <a:pPr algn="r"/>
            <a:r>
              <a:rPr lang="he-IL" sz="1800" b="1" dirty="0"/>
              <a:t>(מרפאה, אינטרנט, טיפת חלב, רופא)</a:t>
            </a:r>
          </a:p>
        </p:txBody>
      </p:sp>
      <p:graphicFrame>
        <p:nvGraphicFramePr>
          <p:cNvPr id="14" name="תרשים 13">
            <a:extLst>
              <a:ext uri="{FF2B5EF4-FFF2-40B4-BE49-F238E27FC236}">
                <a16:creationId xmlns:a16="http://schemas.microsoft.com/office/drawing/2014/main" id="{BEEAA195-1928-4E2F-9D34-555DE78F46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118074"/>
              </p:ext>
            </p:extLst>
          </p:nvPr>
        </p:nvGraphicFramePr>
        <p:xfrm>
          <a:off x="4569151" y="1810867"/>
          <a:ext cx="3995225" cy="38179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7" name="תרשים 16">
            <a:extLst>
              <a:ext uri="{FF2B5EF4-FFF2-40B4-BE49-F238E27FC236}">
                <a16:creationId xmlns:a16="http://schemas.microsoft.com/office/drawing/2014/main" id="{6E114E8A-BAD1-4623-AC87-545A2B6EE0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86557887"/>
              </p:ext>
            </p:extLst>
          </p:nvPr>
        </p:nvGraphicFramePr>
        <p:xfrm>
          <a:off x="847966" y="1733010"/>
          <a:ext cx="3493592" cy="37785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2934276467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מציין מיקום של כותרת תחתונה 8"/>
          <p:cNvSpPr>
            <a:spLocks noGrp="1"/>
          </p:cNvSpPr>
          <p:nvPr>
            <p:ph type="ftr" sz="quarter" idx="11"/>
          </p:nvPr>
        </p:nvSpPr>
        <p:spPr>
          <a:xfrm>
            <a:off x="2832578" y="6494659"/>
            <a:ext cx="3858670" cy="342900"/>
          </a:xfrm>
          <a:noFill/>
        </p:spPr>
        <p:txBody>
          <a:bodyPr/>
          <a:lstStyle/>
          <a:p>
            <a:pPr rtl="1">
              <a:spcBef>
                <a:spcPct val="20000"/>
              </a:spcBef>
            </a:pPr>
            <a:r>
              <a:rPr lang="he-IL" b="1" dirty="0">
                <a:solidFill>
                  <a:schemeClr val="tx1"/>
                </a:solidFill>
              </a:rPr>
              <a:t>אתר אינטרנט לאימהות חדשות                     </a:t>
            </a:r>
            <a:endParaRPr lang="en-US" b="1" dirty="0">
              <a:solidFill>
                <a:schemeClr val="tx1"/>
              </a:solidFill>
            </a:endParaRPr>
          </a:p>
          <a:p>
            <a:pPr rtl="1">
              <a:spcBef>
                <a:spcPct val="20000"/>
              </a:spcBef>
            </a:pPr>
            <a:r>
              <a:rPr lang="en-US" b="1" dirty="0">
                <a:solidFill>
                  <a:schemeClr val="tx1"/>
                </a:solidFill>
              </a:rPr>
              <a:t>Navon-13-2024-sem1</a:t>
            </a:r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DEAAF544-2BD2-7996-B196-DE72227999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794" y="0"/>
            <a:ext cx="978206" cy="876849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1CF56178-142D-42FB-927A-F90FA1B29C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36" y="87116"/>
            <a:ext cx="862087" cy="756802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" name="TextBox 5">
            <a:extLst>
              <a:ext uri="{FF2B5EF4-FFF2-40B4-BE49-F238E27FC236}">
                <a16:creationId xmlns:a16="http://schemas.microsoft.com/office/drawing/2014/main" id="{F945C521-9F72-7C61-D706-C915BFBAF6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7301" y="382253"/>
            <a:ext cx="5715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defPPr>
              <a:defRPr lang="he-IL"/>
            </a:defPPr>
            <a:lvl1pPr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algn="ctr"/>
            <a:r>
              <a:rPr lang="he-IL" sz="2400" b="1" u="sng" dirty="0">
                <a:latin typeface="Calibri" pitchFamily="34" charset="0"/>
              </a:rPr>
              <a:t>הפרויקט</a:t>
            </a:r>
          </a:p>
        </p:txBody>
      </p:sp>
      <p:sp>
        <p:nvSpPr>
          <p:cNvPr id="4" name="TextBox 17">
            <a:extLst>
              <a:ext uri="{FF2B5EF4-FFF2-40B4-BE49-F238E27FC236}">
                <a16:creationId xmlns:a16="http://schemas.microsoft.com/office/drawing/2014/main" id="{80905EFE-8F68-83E6-424D-61600C74B35C}"/>
              </a:ext>
            </a:extLst>
          </p:cNvPr>
          <p:cNvSpPr txBox="1"/>
          <p:nvPr/>
        </p:nvSpPr>
        <p:spPr>
          <a:xfrm>
            <a:off x="384542" y="1005510"/>
            <a:ext cx="8470948" cy="142763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he-IL" sz="2000" b="1" u="sng" dirty="0"/>
              <a:t>מטרה עיקרית</a:t>
            </a:r>
          </a:p>
          <a:p>
            <a:pPr marL="285750" indent="-28575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2000" dirty="0"/>
              <a:t>הקמת אתר אינטרנט לאימהות חדשות</a:t>
            </a:r>
          </a:p>
          <a:p>
            <a:pPr marL="285750" indent="-28575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2000" dirty="0"/>
              <a:t>בנית אב טיפוס</a:t>
            </a:r>
            <a:endParaRPr lang="en-US" sz="2000" dirty="0"/>
          </a:p>
        </p:txBody>
      </p:sp>
      <p:sp>
        <p:nvSpPr>
          <p:cNvPr id="5" name="TextBox 18">
            <a:extLst>
              <a:ext uri="{FF2B5EF4-FFF2-40B4-BE49-F238E27FC236}">
                <a16:creationId xmlns:a16="http://schemas.microsoft.com/office/drawing/2014/main" id="{F6B6853D-A2B4-EF73-61DA-5FC3294BBE2D}"/>
              </a:ext>
            </a:extLst>
          </p:cNvPr>
          <p:cNvSpPr txBox="1"/>
          <p:nvPr/>
        </p:nvSpPr>
        <p:spPr>
          <a:xfrm>
            <a:off x="1246803" y="2756817"/>
            <a:ext cx="7561770" cy="326698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he-IL" sz="2000" b="1" u="sng" dirty="0"/>
              <a:t>תהליכי עבודה-תיחום</a:t>
            </a: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2000" dirty="0"/>
              <a:t>חיפוש מידע בקטגוריה ספציפית</a:t>
            </a: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2000" dirty="0"/>
              <a:t>ניהול קשר עם אימהות אחרות- עתידי</a:t>
            </a:r>
          </a:p>
          <a:p>
            <a:pPr algn="r" rtl="1">
              <a:lnSpc>
                <a:spcPct val="150000"/>
              </a:lnSpc>
            </a:pPr>
            <a:r>
              <a:rPr lang="he-IL" sz="2000" b="1" u="sng" dirty="0"/>
              <a:t>מדדי הצלחה ארגוניים או עסקיים</a:t>
            </a:r>
          </a:p>
          <a:p>
            <a:pPr algn="r" rtl="1">
              <a:lnSpc>
                <a:spcPct val="150000"/>
              </a:lnSpc>
            </a:pPr>
            <a:r>
              <a:rPr lang="he-IL" dirty="0"/>
              <a:t>( מדדים ימוקדו לקראת סמינר 2)</a:t>
            </a: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2000" dirty="0"/>
              <a:t>תוך חצי שנה כניסה של  מעל 1000 איש לאתר.</a:t>
            </a: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2000" dirty="0"/>
              <a:t>איתור משקיע להקמת האתר לאחר פיילוט</a:t>
            </a:r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6DF479B-089B-AEB3-AFF0-685A75B7A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8103" y="6354622"/>
            <a:ext cx="2057400" cy="365125"/>
          </a:xfrm>
        </p:spPr>
        <p:txBody>
          <a:bodyPr/>
          <a:lstStyle/>
          <a:p>
            <a:pPr algn="l"/>
            <a:fld id="{F406CD6C-EFBE-497B-B02F-71827CD8C8E4}" type="slidenum">
              <a:rPr lang="he-IL" smtClean="0"/>
              <a:pPr algn="l"/>
              <a:t>10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96267874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מציין מיקום של כותרת תחתונה 8"/>
          <p:cNvSpPr>
            <a:spLocks noGrp="1"/>
          </p:cNvSpPr>
          <p:nvPr>
            <p:ph type="ftr" sz="quarter" idx="11"/>
          </p:nvPr>
        </p:nvSpPr>
        <p:spPr>
          <a:xfrm>
            <a:off x="2832578" y="6494659"/>
            <a:ext cx="3858670" cy="342900"/>
          </a:xfrm>
          <a:noFill/>
        </p:spPr>
        <p:txBody>
          <a:bodyPr/>
          <a:lstStyle/>
          <a:p>
            <a:pPr rtl="1">
              <a:spcBef>
                <a:spcPct val="20000"/>
              </a:spcBef>
            </a:pPr>
            <a:r>
              <a:rPr lang="he-IL" b="1" dirty="0">
                <a:solidFill>
                  <a:schemeClr val="tx1"/>
                </a:solidFill>
              </a:rPr>
              <a:t>אתר אינטרנט לאימהות חדשות                     </a:t>
            </a:r>
            <a:endParaRPr lang="en-US" b="1" dirty="0">
              <a:solidFill>
                <a:schemeClr val="tx1"/>
              </a:solidFill>
            </a:endParaRPr>
          </a:p>
          <a:p>
            <a:pPr rtl="1">
              <a:spcBef>
                <a:spcPct val="20000"/>
              </a:spcBef>
            </a:pPr>
            <a:r>
              <a:rPr lang="en-US" b="1" dirty="0">
                <a:solidFill>
                  <a:schemeClr val="tx1"/>
                </a:solidFill>
              </a:rPr>
              <a:t>Navon-13-2024-sem1</a:t>
            </a:r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DEAAF544-2BD2-7996-B196-DE72227999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794" y="0"/>
            <a:ext cx="978206" cy="876849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1CF56178-142D-42FB-927A-F90FA1B29C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87" y="31859"/>
            <a:ext cx="862087" cy="756802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" name="TextBox 5">
            <a:extLst>
              <a:ext uri="{FF2B5EF4-FFF2-40B4-BE49-F238E27FC236}">
                <a16:creationId xmlns:a16="http://schemas.microsoft.com/office/drawing/2014/main" id="{D46FC529-1679-22B8-1A62-16D5579434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4413" y="116851"/>
            <a:ext cx="5715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defPPr>
              <a:defRPr lang="he-IL"/>
            </a:defPPr>
            <a:lvl1pPr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algn="ctr"/>
            <a:r>
              <a:rPr lang="he-IL" sz="2400" b="1" u="sng" dirty="0">
                <a:latin typeface="Calibri" pitchFamily="34" charset="0"/>
              </a:rPr>
              <a:t> תהליך עבודה ושיטות</a:t>
            </a:r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A0DC1740-847F-2970-25D0-3ABC1495A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510" y="6341884"/>
            <a:ext cx="2057400" cy="365125"/>
          </a:xfrm>
        </p:spPr>
        <p:txBody>
          <a:bodyPr/>
          <a:lstStyle/>
          <a:p>
            <a:pPr algn="l"/>
            <a:fld id="{F406CD6C-EFBE-497B-B02F-71827CD8C8E4}" type="slidenum">
              <a:rPr lang="he-IL" smtClean="0"/>
              <a:pPr algn="l"/>
              <a:t>11</a:t>
            </a:fld>
            <a:endParaRPr lang="he-IL"/>
          </a:p>
        </p:txBody>
      </p:sp>
      <p:graphicFrame>
        <p:nvGraphicFramePr>
          <p:cNvPr id="8" name="טבלה 7">
            <a:extLst>
              <a:ext uri="{FF2B5EF4-FFF2-40B4-BE49-F238E27FC236}">
                <a16:creationId xmlns:a16="http://schemas.microsoft.com/office/drawing/2014/main" id="{E36B9912-2E19-48D4-8D18-C29EA9A2C8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4315197"/>
              </p:ext>
            </p:extLst>
          </p:nvPr>
        </p:nvGraphicFramePr>
        <p:xfrm>
          <a:off x="288510" y="998806"/>
          <a:ext cx="8672610" cy="53430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72682">
                  <a:extLst>
                    <a:ext uri="{9D8B030D-6E8A-4147-A177-3AD203B41FA5}">
                      <a16:colId xmlns:a16="http://schemas.microsoft.com/office/drawing/2014/main" val="1833756598"/>
                    </a:ext>
                  </a:extLst>
                </a:gridCol>
                <a:gridCol w="3823739">
                  <a:extLst>
                    <a:ext uri="{9D8B030D-6E8A-4147-A177-3AD203B41FA5}">
                      <a16:colId xmlns:a16="http://schemas.microsoft.com/office/drawing/2014/main" val="3856817206"/>
                    </a:ext>
                  </a:extLst>
                </a:gridCol>
                <a:gridCol w="1476189">
                  <a:extLst>
                    <a:ext uri="{9D8B030D-6E8A-4147-A177-3AD203B41FA5}">
                      <a16:colId xmlns:a16="http://schemas.microsoft.com/office/drawing/2014/main" val="1541279435"/>
                    </a:ext>
                  </a:extLst>
                </a:gridCol>
              </a:tblGrid>
              <a:tr h="799094">
                <a:tc>
                  <a:txBody>
                    <a:bodyPr/>
                    <a:lstStyle/>
                    <a:p>
                      <a:pPr algn="ctr" rtl="1"/>
                      <a:r>
                        <a:rPr lang="he-IL" sz="2000" b="1" dirty="0">
                          <a:solidFill>
                            <a:schemeClr val="tx1"/>
                          </a:solidFill>
                        </a:rPr>
                        <a:t>כלים ושיטות 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David" panose="020E0502060401010101" pitchFamily="34" charset="-79"/>
                        <a:cs typeface="+mn-cs"/>
                      </a:endParaRPr>
                    </a:p>
                  </a:txBody>
                  <a:tcPr marL="68580" marR="68580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000" b="1" baseline="0" dirty="0">
                          <a:solidFill>
                            <a:schemeClr val="tx1"/>
                          </a:solidFill>
                        </a:rPr>
                        <a:t>שלב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David" panose="020E0502060401010101" pitchFamily="34" charset="-79"/>
                        <a:cs typeface="+mn-cs"/>
                      </a:endParaRPr>
                    </a:p>
                  </a:txBody>
                  <a:tcPr marL="68580" marR="68580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000" b="1" dirty="0">
                          <a:solidFill>
                            <a:schemeClr val="tx1"/>
                          </a:solidFill>
                        </a:rPr>
                        <a:t>תהליך</a:t>
                      </a:r>
                    </a:p>
                    <a:p>
                      <a:pPr algn="ctr" rtl="1"/>
                      <a:r>
                        <a:rPr lang="he-IL" sz="2000" b="1" dirty="0">
                          <a:solidFill>
                            <a:schemeClr val="tx1"/>
                          </a:solidFill>
                        </a:rPr>
                        <a:t>העבודה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David" panose="020E0502060401010101" pitchFamily="34" charset="-79"/>
                        <a:cs typeface="+mn-cs"/>
                      </a:endParaRPr>
                    </a:p>
                  </a:txBody>
                  <a:tcPr marL="68580" marR="68580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2442351"/>
                  </a:ext>
                </a:extLst>
              </a:tr>
              <a:tr h="259462">
                <a:tc rowSpan="2">
                  <a:txBody>
                    <a:bodyPr/>
                    <a:lstStyle/>
                    <a:p>
                      <a:pPr marL="285750" indent="-285750" algn="r" rtl="1">
                        <a:buFont typeface="Arial" panose="020B0604020202020204" pitchFamily="34" charset="0"/>
                        <a:buChar char="•"/>
                      </a:pPr>
                      <a:r>
                        <a:rPr lang="he-IL" sz="1600" dirty="0">
                          <a:solidFill>
                            <a:schemeClr val="tx1"/>
                          </a:solidFill>
                        </a:rPr>
                        <a:t>סקר אימהות חדשות</a:t>
                      </a:r>
                      <a:endParaRPr lang="he-IL" sz="16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285750" marR="0" lvl="0" indent="-28575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e-IL" sz="16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איסוף נתונים כמותיים</a:t>
                      </a:r>
                    </a:p>
                    <a:p>
                      <a:pPr marL="285750" marR="0" lvl="0" indent="-28575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e-IL" sz="16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ניתוח תוצאות סקר</a:t>
                      </a:r>
                      <a:endParaRPr lang="he-IL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400" dirty="0">
                          <a:solidFill>
                            <a:schemeClr val="tx1"/>
                          </a:solidFill>
                          <a:effectLst/>
                        </a:rPr>
                        <a:t>חקר מצב קיים</a:t>
                      </a:r>
                      <a:endParaRPr lang="he-IL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35" marR="51435" marT="0" marB="0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rtl="1"/>
                      <a:r>
                        <a:rPr lang="he-IL" sz="1800" b="1" dirty="0">
                          <a:solidFill>
                            <a:schemeClr val="tx1"/>
                          </a:solidFill>
                        </a:rPr>
                        <a:t>תכנון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David" panose="020E0502060401010101" pitchFamily="34" charset="-79"/>
                        <a:cs typeface="+mn-cs"/>
                      </a:endParaRPr>
                    </a:p>
                  </a:txBody>
                  <a:tcPr marL="68580" marR="68580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2201986"/>
                  </a:ext>
                </a:extLst>
              </a:tr>
              <a:tr h="65316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400" dirty="0">
                          <a:solidFill>
                            <a:schemeClr val="tx1"/>
                          </a:solidFill>
                          <a:effectLst/>
                        </a:rPr>
                        <a:t>הגדרת הצורך בפרויקט ומטרותיו</a:t>
                      </a:r>
                      <a:endParaRPr lang="he-IL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35" marR="51435" marT="0" marB="0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0678435"/>
                  </a:ext>
                </a:extLst>
              </a:tr>
              <a:tr h="486405">
                <a:tc>
                  <a:txBody>
                    <a:bodyPr/>
                    <a:lstStyle/>
                    <a:p>
                      <a:pPr marL="285750" marR="0" lvl="0" indent="-28575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e-IL" sz="1400" b="0" dirty="0">
                          <a:solidFill>
                            <a:schemeClr val="tx1"/>
                          </a:solidFill>
                        </a:rPr>
                        <a:t>תרשים תהליך (תרשים חיפוש מידע)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400" baseline="0" dirty="0">
                          <a:solidFill>
                            <a:schemeClr val="tx1"/>
                          </a:solidFill>
                        </a:rPr>
                        <a:t>מיפוי </a:t>
                      </a:r>
                      <a:r>
                        <a:rPr lang="he-IL" sz="1400" dirty="0">
                          <a:solidFill>
                            <a:schemeClr val="tx1"/>
                          </a:solidFill>
                        </a:rPr>
                        <a:t>תהליכי עבודה-מצב קיים</a:t>
                      </a:r>
                    </a:p>
                    <a:p>
                      <a:pPr algn="r" rtl="1"/>
                      <a:endParaRPr lang="he-IL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35" marR="51435" marT="0" marB="0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5898073"/>
                  </a:ext>
                </a:extLst>
              </a:tr>
              <a:tr h="630122">
                <a:tc>
                  <a:txBody>
                    <a:bodyPr/>
                    <a:lstStyle/>
                    <a:p>
                      <a:pPr marL="285750" marR="0" lvl="0" indent="-28575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</a:rPr>
                        <a:t>FR</a:t>
                      </a:r>
                      <a:r>
                        <a:rPr lang="he-IL" sz="1400" b="0" kern="120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</a:rPr>
                        <a:t>NFR</a:t>
                      </a:r>
                    </a:p>
                    <a:p>
                      <a:pPr marL="285750" marR="0" lvl="0" indent="-28575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e-IL" sz="1400" b="0" kern="1200" dirty="0">
                          <a:solidFill>
                            <a:schemeClr val="tx1"/>
                          </a:solidFill>
                        </a:rPr>
                        <a:t>עץ תהליכים מוצע</a:t>
                      </a:r>
                      <a:endParaRPr lang="he-IL" sz="14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400" dirty="0">
                          <a:solidFill>
                            <a:schemeClr val="tx1"/>
                          </a:solidFill>
                          <a:effectLst/>
                        </a:rPr>
                        <a:t>הגדרת דרישות פונקציונליות/ לא פונקציונליות</a:t>
                      </a:r>
                    </a:p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400" dirty="0">
                          <a:effectLst/>
                        </a:rPr>
                        <a:t>מיפוי תהליכים מצב מוצע</a:t>
                      </a:r>
                      <a:endParaRPr lang="he-IL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35" marR="51435" marT="0" marB="0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6735081"/>
                  </a:ext>
                </a:extLst>
              </a:tr>
              <a:tr h="590635">
                <a:tc>
                  <a:txBody>
                    <a:bodyPr/>
                    <a:lstStyle/>
                    <a:p>
                      <a:pPr marL="285750" marR="0" lvl="0" indent="-28575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e-IL" sz="1400" b="0" kern="1200" dirty="0">
                          <a:solidFill>
                            <a:schemeClr val="tx1"/>
                          </a:solidFill>
                        </a:rPr>
                        <a:t>ע"י  מודל קבלת החלטות  </a:t>
                      </a:r>
                    </a:p>
                    <a:p>
                      <a:pPr marL="285750" marR="0" lvl="0" indent="-28575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he-IL" sz="14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400" dirty="0">
                          <a:solidFill>
                            <a:schemeClr val="tx1"/>
                          </a:solidFill>
                          <a:effectLst/>
                        </a:rPr>
                        <a:t>חקר ישימות- בחינת חלופות לפתרון</a:t>
                      </a:r>
                      <a:endParaRPr lang="he-IL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35" marR="51435" marT="0" marB="0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3655770"/>
                  </a:ext>
                </a:extLst>
              </a:tr>
              <a:tr h="490180">
                <a:tc>
                  <a:txBody>
                    <a:bodyPr/>
                    <a:lstStyle/>
                    <a:p>
                      <a:pPr marL="285750" marR="0" lvl="0" indent="-28575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e-IL" sz="1400" b="0" kern="1200" dirty="0">
                          <a:solidFill>
                            <a:schemeClr val="tx1"/>
                          </a:solidFill>
                        </a:rPr>
                        <a:t>תרשים על 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</a:rPr>
                        <a:t>Use Case</a:t>
                      </a:r>
                    </a:p>
                  </a:txBody>
                  <a:tcPr marL="68580" marR="68580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400" dirty="0">
                          <a:solidFill>
                            <a:schemeClr val="tx1"/>
                          </a:solidFill>
                          <a:effectLst/>
                        </a:rPr>
                        <a:t>אפיון אירועים וישויות</a:t>
                      </a:r>
                      <a:endParaRPr lang="he-IL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1800" b="1" dirty="0">
                          <a:solidFill>
                            <a:schemeClr val="tx1"/>
                          </a:solidFill>
                        </a:rPr>
                        <a:t>ניתוח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David" panose="020E0502060401010101" pitchFamily="34" charset="-79"/>
                        <a:cs typeface="+mn-cs"/>
                      </a:endParaRPr>
                    </a:p>
                  </a:txBody>
                  <a:tcPr marL="68580" marR="68580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8688119"/>
                  </a:ext>
                </a:extLst>
              </a:tr>
              <a:tr h="444791">
                <a:tc>
                  <a:txBody>
                    <a:bodyPr/>
                    <a:lstStyle/>
                    <a:p>
                      <a:pPr marL="285750" marR="0" lvl="0" indent="-28575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e-IL" sz="1400" b="0" kern="1200" dirty="0">
                          <a:solidFill>
                            <a:schemeClr val="tx1"/>
                          </a:solidFill>
                        </a:rPr>
                        <a:t>כלי עיצוב- יוחלט בהמשך</a:t>
                      </a:r>
                      <a:endParaRPr lang="en-US" sz="14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400" dirty="0">
                          <a:solidFill>
                            <a:schemeClr val="tx1"/>
                          </a:solidFill>
                          <a:effectLst/>
                        </a:rPr>
                        <a:t>עיצוב מסכים</a:t>
                      </a:r>
                      <a:endParaRPr lang="he-IL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35" marR="51435" marT="0" marB="0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800" b="1" kern="1200" dirty="0">
                          <a:solidFill>
                            <a:schemeClr val="tx1"/>
                          </a:solidFill>
                        </a:rPr>
                        <a:t>עיצוב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1777390"/>
                  </a:ext>
                </a:extLst>
              </a:tr>
              <a:tr h="486405">
                <a:tc>
                  <a:txBody>
                    <a:bodyPr/>
                    <a:lstStyle/>
                    <a:p>
                      <a:pPr marL="285750" marR="0" lvl="0" indent="-28575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e-IL" sz="1400" b="0" kern="1200" dirty="0">
                          <a:solidFill>
                            <a:schemeClr val="tx1"/>
                          </a:solidFill>
                        </a:rPr>
                        <a:t>עיצוב אב טיפוס</a:t>
                      </a:r>
                      <a:endParaRPr lang="en-US" sz="14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435" marR="51435" marT="0" marB="0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400" dirty="0">
                          <a:solidFill>
                            <a:schemeClr val="tx1"/>
                          </a:solidFill>
                          <a:effectLst/>
                        </a:rPr>
                        <a:t>אב טיפוס</a:t>
                      </a:r>
                    </a:p>
                    <a:p>
                      <a:pPr algn="r" rtl="1"/>
                      <a:endParaRPr lang="he-IL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35" marR="51435" marT="0" marB="0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algn="ctr" defTabSz="457200" rtl="1" eaLnBrk="1" latinLnBrk="0" hangingPunct="1"/>
                      <a:r>
                        <a:rPr lang="he-IL" sz="1800" b="1" kern="1200" dirty="0">
                          <a:solidFill>
                            <a:schemeClr val="tx1"/>
                          </a:solidFill>
                        </a:rPr>
                        <a:t>יישום/פיתוח</a:t>
                      </a:r>
                    </a:p>
                  </a:txBody>
                  <a:tcPr marL="68580" marR="68580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3288460"/>
                  </a:ext>
                </a:extLst>
              </a:tr>
              <a:tr h="502815">
                <a:tc>
                  <a:txBody>
                    <a:bodyPr/>
                    <a:lstStyle/>
                    <a:p>
                      <a:pPr marL="285750" marR="0" lvl="0" indent="-28575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e-IL" sz="1400" b="0" kern="1200" dirty="0">
                          <a:solidFill>
                            <a:schemeClr val="tx1"/>
                          </a:solidFill>
                        </a:rPr>
                        <a:t>מצגת אב טיפוס      </a:t>
                      </a:r>
                      <a:endParaRPr lang="he-IL" sz="14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435" marR="51435" marT="0" marB="0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400" kern="1200" dirty="0">
                          <a:solidFill>
                            <a:schemeClr val="tx1"/>
                          </a:solidFill>
                          <a:effectLst/>
                        </a:rPr>
                        <a:t>הצגת ממצאים והמלצות</a:t>
                      </a:r>
                      <a:endParaRPr lang="he-IL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35" marR="51435" marT="0" marB="0"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092139"/>
                  </a:ext>
                </a:extLst>
              </a:tr>
            </a:tbl>
          </a:graphicData>
        </a:graphic>
      </p:graphicFrame>
      <p:sp>
        <p:nvSpPr>
          <p:cNvPr id="6" name="חץ: שמאלה 5">
            <a:extLst>
              <a:ext uri="{FF2B5EF4-FFF2-40B4-BE49-F238E27FC236}">
                <a16:creationId xmlns:a16="http://schemas.microsoft.com/office/drawing/2014/main" id="{69217CB6-9402-4CDD-8E3C-F4571951A1DF}"/>
              </a:ext>
            </a:extLst>
          </p:cNvPr>
          <p:cNvSpPr/>
          <p:nvPr/>
        </p:nvSpPr>
        <p:spPr>
          <a:xfrm>
            <a:off x="7511053" y="3198167"/>
            <a:ext cx="978206" cy="461665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95528205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Rectangle 2"/>
          <p:cNvSpPr txBox="1">
            <a:spLocks noChangeArrowheads="1"/>
          </p:cNvSpPr>
          <p:nvPr/>
        </p:nvSpPr>
        <p:spPr bwMode="auto">
          <a:xfrm>
            <a:off x="2440744" y="90968"/>
            <a:ext cx="4262511" cy="594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54000" tIns="54000" rIns="54000" bIns="54000" anchor="ctr"/>
          <a:lstStyle/>
          <a:p>
            <a:pPr algn="ctr" rtl="1" eaLnBrk="1" hangingPunct="1">
              <a:defRPr/>
            </a:pPr>
            <a:r>
              <a:rPr lang="he-IL" sz="2400" b="1" u="sng" dirty="0">
                <a:latin typeface="Times New Roman" pitchFamily="18" charset="0"/>
              </a:rPr>
              <a:t>לוח זמנים- ביצוע מול תכנון</a:t>
            </a:r>
          </a:p>
        </p:txBody>
      </p:sp>
      <p:sp>
        <p:nvSpPr>
          <p:cNvPr id="2057" name="מציין מיקום של כותרת תחתונה 8"/>
          <p:cNvSpPr>
            <a:spLocks noGrp="1"/>
          </p:cNvSpPr>
          <p:nvPr>
            <p:ph type="ftr" sz="quarter" idx="11"/>
          </p:nvPr>
        </p:nvSpPr>
        <p:spPr>
          <a:xfrm>
            <a:off x="2832578" y="6494659"/>
            <a:ext cx="3858670" cy="342900"/>
          </a:xfrm>
          <a:noFill/>
        </p:spPr>
        <p:txBody>
          <a:bodyPr/>
          <a:lstStyle/>
          <a:p>
            <a:pPr rtl="1">
              <a:spcBef>
                <a:spcPct val="20000"/>
              </a:spcBef>
            </a:pPr>
            <a:r>
              <a:rPr lang="he-IL" b="1" dirty="0">
                <a:solidFill>
                  <a:schemeClr val="tx1"/>
                </a:solidFill>
              </a:rPr>
              <a:t>אתר אינטרנט לאימהות חדשות                     </a:t>
            </a:r>
            <a:endParaRPr lang="en-US" b="1" dirty="0">
              <a:solidFill>
                <a:schemeClr val="tx1"/>
              </a:solidFill>
            </a:endParaRPr>
          </a:p>
          <a:p>
            <a:pPr rtl="1">
              <a:spcBef>
                <a:spcPct val="20000"/>
              </a:spcBef>
            </a:pPr>
            <a:r>
              <a:rPr lang="en-US" b="1" dirty="0">
                <a:solidFill>
                  <a:schemeClr val="tx1"/>
                </a:solidFill>
              </a:rPr>
              <a:t>Navon-13-2024-sem1</a:t>
            </a:r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DEAAF544-2BD2-7996-B196-DE72227999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794" y="-50396"/>
            <a:ext cx="978206" cy="876849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1CF56178-142D-42FB-927A-F90FA1B29C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27"/>
            <a:ext cx="862087" cy="756802"/>
          </a:xfrm>
          <a:prstGeom prst="ellipse">
            <a:avLst/>
          </a:prstGeom>
          <a:ln w="19050" cap="rnd">
            <a:solidFill>
              <a:schemeClr val="accent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" name="מציין מיקום של מספר שקופית 1">
            <a:extLst>
              <a:ext uri="{FF2B5EF4-FFF2-40B4-BE49-F238E27FC236}">
                <a16:creationId xmlns:a16="http://schemas.microsoft.com/office/drawing/2014/main" id="{A18BB344-154C-548F-6C80-E0046AE1C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1897" y="6300984"/>
            <a:ext cx="2057400" cy="365125"/>
          </a:xfrm>
        </p:spPr>
        <p:txBody>
          <a:bodyPr/>
          <a:lstStyle/>
          <a:p>
            <a:pPr algn="l"/>
            <a:fld id="{F406CD6C-EFBE-497B-B02F-71827CD8C8E4}" type="slidenum">
              <a:rPr lang="he-IL" smtClean="0"/>
              <a:pPr algn="l"/>
              <a:t>12</a:t>
            </a:fld>
            <a:endParaRPr lang="he-IL"/>
          </a:p>
        </p:txBody>
      </p:sp>
      <p:pic>
        <p:nvPicPr>
          <p:cNvPr id="8" name="תמונה 7">
            <a:extLst>
              <a:ext uri="{FF2B5EF4-FFF2-40B4-BE49-F238E27FC236}">
                <a16:creationId xmlns:a16="http://schemas.microsoft.com/office/drawing/2014/main" id="{5A654CA8-B542-4D96-B8D1-1FAA22B72DCB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151" y="1046285"/>
            <a:ext cx="8623495" cy="5254699"/>
          </a:xfrm>
          <a:prstGeom prst="rect">
            <a:avLst/>
          </a:prstGeom>
        </p:spPr>
      </p:pic>
      <p:sp>
        <p:nvSpPr>
          <p:cNvPr id="4" name="חץ: שמאלה 3">
            <a:extLst>
              <a:ext uri="{FF2B5EF4-FFF2-40B4-BE49-F238E27FC236}">
                <a16:creationId xmlns:a16="http://schemas.microsoft.com/office/drawing/2014/main" id="{BBE8B65E-0340-4488-5581-AAD078DF5808}"/>
              </a:ext>
            </a:extLst>
          </p:cNvPr>
          <p:cNvSpPr/>
          <p:nvPr/>
        </p:nvSpPr>
        <p:spPr>
          <a:xfrm>
            <a:off x="8525021" y="2377440"/>
            <a:ext cx="618979" cy="386158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14855136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ערכת נושא Office">
  <a:themeElements>
    <a:clrScheme name="ערכת נושא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ערכת נושא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ערכת נושא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2648</TotalTime>
  <Words>1063</Words>
  <Application>Microsoft Office PowerPoint</Application>
  <PresentationFormat>‫הצגה על המסך (4:3)</PresentationFormat>
  <Paragraphs>246</Paragraphs>
  <Slides>12</Slides>
  <Notes>11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5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David</vt:lpstr>
      <vt:lpstr>Times New Roman</vt:lpstr>
      <vt:lpstr>ערכת נושא Office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student</dc:creator>
  <cp:lastModifiedBy>Tamar Navon</cp:lastModifiedBy>
  <cp:revision>57</cp:revision>
  <dcterms:created xsi:type="dcterms:W3CDTF">2023-12-25T08:56:48Z</dcterms:created>
  <dcterms:modified xsi:type="dcterms:W3CDTF">2024-01-20T16:19:02Z</dcterms:modified>
</cp:coreProperties>
</file>